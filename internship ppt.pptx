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48"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6116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Thank you for the opportunity to present my internship work. This project covered an eight-week engagement with NextG Apex India, focused on distributor surveys, retailer onboarding, and multi-brand expansion analysis across four localities of North Delhi. Over the next few minutes I will walk through the methodology, the two Power BI dashboards built, the key findings, and the recommendations that came out of this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scope. The internship ran for eight weeks, sponsored by NextG Apex India, an FMCG distribution and retail company based in Navi Mumbai. Fieldwork was confined to four localities in North Delhi, and the final dataset covered 27 retailers and 6 distributors. The core deliverable was two Power BI dashboards plus a retailer onboarding framework and multi-brand expansion strategy, which I will walk through shortly.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NextG Apex India is an FMCG distribution and retail company headquartered in Navi Mumbai. Its product range spans breakfast cereals, peanut butter, rice, pulses, beverages and other FMCG categories. Some organizational details - such as year of establishment and turnover - were not shared as part of the internship brief, so I've left those as explicit placeholders rather than assuming figures. For this internship, the company's primary interest was in evaluating the North Delhi micro-market.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high level, products flow from brand to distributor to retailer to consumer. Kirana stores dominate by count because of their proximity to consumers and flexible credit arrangements, while small supermarkets carry a wider assortment. Distributors sit at the center of this chain - their scale and relationships determine how easily new retailers or brands can be introduced into a territory, which is why this study centers on distributor-side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project, NextG Apex had no structured, current view of the retail and distribution landscape in these four localities. Decisions on which retailers to onboard and which brands to push were being made without an objective basis. On the right, you can see why this mattered now: markets shift quickly, onboarding without a framework is inconsistent, expansion without demand data is risky, and distributors - as the gatekeepers - needed to be understood first.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internship had six linked objectives: design and pilot a survey instrument, collect structured data from both retailers and distributors, analyze the resulting patterns, build two Power BI dashboards, and finally translate everything into a practical onboarding framework and expansion recommendations. Each of these maps directly to a chapter I'll walk through.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covered structured field surveys, mapping of outlet and distributor characteristics, and development of the onboarding workflow, expansion recommendations, and both dashboards. One thing was explicitly out of scope from the outset: distributor financial data. Distributors treated revenue, margins and ROI as confidential, and per the agreed scope, no figures were ever estimated or inferred - this is flagged consistently throughout the report.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followed five stages: design two structured questionnaires, define a purposive area-based sample, pilot the survey in one locality during week three to catch ambiguous questions, roll it out fully in week four using an in-person mobile data form, and finally clean and standardize the data for consistent aggregation. This produced a final sample of 27 retailers and 6 distributors across the four localities - a non-probability sample, so findings are read as indicative of these micro-markets rather than statistically representative of the wider city.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retail outlet visited, the survey captured store type, locality, brand and product availability, an assessed retail-potential rating, and observed customer footfall. These six fields feed directly into the Retailer Onboarding Dashboard I'll show shortly - store type and locality drive the coverage view, while potential and footfall drive prioritization.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distributor side, the questionnaire focused on operational and market-intelligence attributes: scale - retailers served, staff, vehicles, area covered - cold storage availability, category-level demand and growth, brand strength, visit frequency, and the challenges distributors face onboarding new retailers. This data forms the backbone of the Distributor Survey Dashboard.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constraints shaped the data-collection process. The most significant was distributor unwillingness to share financial information - revenue, margins, investment, ROI - which they treated as confidential. Several distributor-side fields were self-reported rather than independently verified. The pilot round also surfaced ambiguous question wording, and store-type and category labels needed standardizing afterward. Throughout, the approach was to flag these gaps explicitly rather than estimate around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Retailer Onboarding Dashboard has four pages: Executive Dashboard, Product and Brand Analysis, Retailer Analysis and Market Coverage, and Key Insights and Recommendations. On the right is where the live Executive Dashboard screenshot should be inserted from the Power BI file - it should show the headline cards for total retailers, total areas, average retail score and high-potential stores, plus the retailers-by-area and store-type-distribution charts.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insights are the intern's own reading of the retailer-side data, written directly onto the dashboard's Key Insights and Recommendations page. Retail presence spans multiple localities with Kirana stores dominant; brand and product availability varies meaningfully by category; and retailers with wider brand portfolios, along with high-footfall Kirana stores, stand out as onboarding priorities.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Distributor Survey Dashboard has three pages: Distributor Overview, Market Intelligence and Business Insights, and Operational Analysis. The screenshot placeholder on the right should be filled with the live Distributor Overview page, showing total distributors covered, total retailers served, and average employees and delivery vehicles, alongside the retailers-served-by-distributor and area-covered charts.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distributor side, four things stand out: scale varies meaningfully across the surveyed distributors; demand and growth are not always aligned for the same category, which matters for sequencing expansion; onboarding challenges reported by existing distributors give a realistic early-warning list; and cold storage and delivery capacity shape which distributors can actually absorb new retailers. These findings feed directly into the onboarding framework I'll cover next.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everything together across four themes: market-level presence, product and brand availability, retailer-side opportunities, and distributor-side scale and demand patterns. Together, these findings are the direct input into the onboarding framework and expansion strategy on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framework has four repeatable stages: screen localities and store types using the Executive Dashboard's filters; evaluate individual retailers on brand portfolio, product range and footfall; match shortlisted retailers to a distributor with spare capacity; and finally onboard and review after a set period, feeding updated data back into the dashboards. The table maps each stage to the exact dashboard view that supports it, so this is meant to be used directly, not just read once.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onboarding-side recommendations, following directly from the key findings: expand in high-activity areas, prioritize strong-portfolio retailers, and close category gaps rather than over-stocking existing ones. On the right, the multi-brand expansion strategy cross-references product availability, category demand and growth, and brand strength to flag genuine unmet demand versus saturated categories. Because distributor financial data could not be collected, this strategy is deliberately built on demand and availability signals rather than profitability projections — any financial viability check would need to be done separately using the organization's own margin data.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limitations are worth flagging honestly. The most significant is the financial data gap — distributors kept revenue and margin figures confidential, and nothing has been estimated in their place. Beyond that: the sample is confined to four localities and is non-random, several distributor fields are self-reported, the eight-week window only allowed a single data-collection round, and potential and footfall ratings are judgment-based rather than objectively measured.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deliverables, this internship built six practical skills: structured survey design and the value of piloting; ground-level exposure to how these distribution networks actually work; hands-on data cleaning; Power BI dashboarding across multiple pages and visual types; working honestly within real-world data constraints; and translating raw findings into a business-ready framework and strategy.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over eight weeks we designed, piloted and rolled out a structured survey across four North Delhi localities, and turned that into two Power BI dashboards, an onboarding framework, and a multi-brand expansion strategy. Subject to the one flagged limitation on financial data, this gives NextG Apex a repeatable, evidence-based starting point for onboarding and expansion decisions in this market — one that didn't exist in structured form before this internship.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I'm happy to take any questions — whether on the survey methodology, the dashboard design choices, the onboarding framework, or the expansion strategy.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0.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2.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6.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2.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9.png"/><Relationship Id="rId7"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4.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7863840" y="-1463040"/>
            <a:ext cx="5669280" cy="5669280"/>
          </a:xfrm>
          <a:prstGeom prst="ellipse">
            <a:avLst/>
          </a:prstGeom>
          <a:ln w="12700">
            <a:solidFill>
              <a:srgbClr val="1F3A66"/>
            </a:solidFill>
            <a:prstDash val="solid"/>
          </a:ln>
        </p:spPr>
        <p:txBody>
          <a:bodyPr/>
          <a:lstStyle/>
          <a:p>
            <a:endParaRPr lang="en-US"/>
          </a:p>
        </p:txBody>
      </p:sp>
      <p:sp>
        <p:nvSpPr>
          <p:cNvPr id="3" name="Shape 1"/>
          <p:cNvSpPr/>
          <p:nvPr/>
        </p:nvSpPr>
        <p:spPr>
          <a:xfrm>
            <a:off x="7818120" y="-1417320"/>
            <a:ext cx="6492240" cy="6492240"/>
          </a:xfrm>
          <a:prstGeom prst="ellipse">
            <a:avLst/>
          </a:prstGeom>
          <a:ln w="12700">
            <a:solidFill>
              <a:srgbClr val="1F3A66"/>
            </a:solidFill>
            <a:prstDash val="solid"/>
          </a:ln>
        </p:spPr>
        <p:txBody>
          <a:bodyPr/>
          <a:lstStyle/>
          <a:p>
            <a:endParaRPr lang="en-US"/>
          </a:p>
        </p:txBody>
      </p:sp>
      <p:sp>
        <p:nvSpPr>
          <p:cNvPr id="4" name="Shape 2"/>
          <p:cNvSpPr/>
          <p:nvPr/>
        </p:nvSpPr>
        <p:spPr>
          <a:xfrm>
            <a:off x="7772400" y="-1371600"/>
            <a:ext cx="7315200" cy="7315200"/>
          </a:xfrm>
          <a:prstGeom prst="ellipse">
            <a:avLst/>
          </a:prstGeom>
          <a:ln w="12700">
            <a:solidFill>
              <a:srgbClr val="1F3A66"/>
            </a:solidFill>
            <a:prstDash val="solid"/>
          </a:ln>
        </p:spPr>
        <p:txBody>
          <a:bodyPr/>
          <a:lstStyle/>
          <a:p>
            <a:endParaRPr lang="en-US"/>
          </a:p>
        </p:txBody>
      </p:sp>
      <p:sp>
        <p:nvSpPr>
          <p:cNvPr id="5" name="Shape 3"/>
          <p:cNvSpPr/>
          <p:nvPr/>
        </p:nvSpPr>
        <p:spPr>
          <a:xfrm>
            <a:off x="7726680" y="-1325880"/>
            <a:ext cx="8138160" cy="8138160"/>
          </a:xfrm>
          <a:prstGeom prst="ellipse">
            <a:avLst/>
          </a:prstGeom>
          <a:ln w="12700">
            <a:solidFill>
              <a:srgbClr val="1F3A66"/>
            </a:solidFill>
            <a:prstDash val="solid"/>
          </a:ln>
        </p:spPr>
        <p:txBody>
          <a:bodyPr/>
          <a:lstStyle/>
          <a:p>
            <a:endParaRPr lang="en-US"/>
          </a:p>
        </p:txBody>
      </p:sp>
      <p:sp>
        <p:nvSpPr>
          <p:cNvPr id="6" name="Shape 4"/>
          <p:cNvSpPr/>
          <p:nvPr/>
        </p:nvSpPr>
        <p:spPr>
          <a:xfrm>
            <a:off x="7680960" y="-1280160"/>
            <a:ext cx="8961120" cy="8961120"/>
          </a:xfrm>
          <a:prstGeom prst="ellipse">
            <a:avLst/>
          </a:prstGeom>
          <a:ln w="12700">
            <a:solidFill>
              <a:srgbClr val="1F3A66"/>
            </a:solidFill>
            <a:prstDash val="solid"/>
          </a:ln>
        </p:spPr>
        <p:txBody>
          <a:bodyPr/>
          <a:lstStyle/>
          <a:p>
            <a:endParaRPr lang="en-US"/>
          </a:p>
        </p:txBody>
      </p:sp>
      <p:sp>
        <p:nvSpPr>
          <p:cNvPr id="7" name="Shape 5"/>
          <p:cNvSpPr/>
          <p:nvPr/>
        </p:nvSpPr>
        <p:spPr>
          <a:xfrm>
            <a:off x="822960" y="5074920"/>
            <a:ext cx="914400" cy="502920"/>
          </a:xfrm>
          <a:prstGeom prst="line">
            <a:avLst/>
          </a:prstGeom>
          <a:noFill/>
          <a:ln w="15875">
            <a:solidFill>
              <a:srgbClr val="2C4B7C"/>
            </a:solidFill>
            <a:prstDash val="solid"/>
          </a:ln>
        </p:spPr>
        <p:txBody>
          <a:bodyPr/>
          <a:lstStyle/>
          <a:p>
            <a:endParaRPr lang="en-US"/>
          </a:p>
        </p:txBody>
      </p:sp>
      <p:sp>
        <p:nvSpPr>
          <p:cNvPr id="8" name="Shape 6"/>
          <p:cNvSpPr/>
          <p:nvPr/>
        </p:nvSpPr>
        <p:spPr>
          <a:xfrm>
            <a:off x="822960" y="5074920"/>
            <a:ext cx="411480" cy="914400"/>
          </a:xfrm>
          <a:prstGeom prst="line">
            <a:avLst/>
          </a:prstGeom>
          <a:noFill/>
          <a:ln w="15875">
            <a:solidFill>
              <a:srgbClr val="2C4B7C"/>
            </a:solidFill>
            <a:prstDash val="solid"/>
          </a:ln>
        </p:spPr>
        <p:txBody>
          <a:bodyPr/>
          <a:lstStyle/>
          <a:p>
            <a:endParaRPr lang="en-US"/>
          </a:p>
        </p:txBody>
      </p:sp>
      <p:sp>
        <p:nvSpPr>
          <p:cNvPr id="9" name="Shape 7"/>
          <p:cNvSpPr/>
          <p:nvPr/>
        </p:nvSpPr>
        <p:spPr>
          <a:xfrm flipV="1">
            <a:off x="1737360" y="5257800"/>
            <a:ext cx="731520" cy="320040"/>
          </a:xfrm>
          <a:prstGeom prst="line">
            <a:avLst/>
          </a:prstGeom>
          <a:noFill/>
          <a:ln w="15875">
            <a:solidFill>
              <a:srgbClr val="2C4B7C"/>
            </a:solidFill>
            <a:prstDash val="solid"/>
          </a:ln>
        </p:spPr>
        <p:txBody>
          <a:bodyPr/>
          <a:lstStyle/>
          <a:p>
            <a:endParaRPr lang="en-US"/>
          </a:p>
        </p:txBody>
      </p:sp>
      <p:sp>
        <p:nvSpPr>
          <p:cNvPr id="10" name="Shape 8"/>
          <p:cNvSpPr/>
          <p:nvPr/>
        </p:nvSpPr>
        <p:spPr>
          <a:xfrm>
            <a:off x="548640" y="5074920"/>
            <a:ext cx="274320" cy="731520"/>
          </a:xfrm>
          <a:prstGeom prst="line">
            <a:avLst/>
          </a:prstGeom>
          <a:noFill/>
          <a:ln w="15875">
            <a:solidFill>
              <a:srgbClr val="2C4B7C"/>
            </a:solidFill>
            <a:prstDash val="solid"/>
          </a:ln>
        </p:spPr>
        <p:txBody>
          <a:bodyPr/>
          <a:lstStyle/>
          <a:p>
            <a:endParaRPr lang="en-US"/>
          </a:p>
        </p:txBody>
      </p:sp>
      <p:sp>
        <p:nvSpPr>
          <p:cNvPr id="11" name="Shape 9"/>
          <p:cNvSpPr/>
          <p:nvPr/>
        </p:nvSpPr>
        <p:spPr>
          <a:xfrm>
            <a:off x="1737360" y="5577840"/>
            <a:ext cx="274320" cy="548640"/>
          </a:xfrm>
          <a:prstGeom prst="line">
            <a:avLst/>
          </a:prstGeom>
          <a:noFill/>
          <a:ln w="15875">
            <a:solidFill>
              <a:srgbClr val="2C4B7C"/>
            </a:solidFill>
            <a:prstDash val="solid"/>
          </a:ln>
        </p:spPr>
        <p:txBody>
          <a:bodyPr/>
          <a:lstStyle/>
          <a:p>
            <a:endParaRPr lang="en-US"/>
          </a:p>
        </p:txBody>
      </p:sp>
      <p:sp>
        <p:nvSpPr>
          <p:cNvPr id="12" name="Shape 10"/>
          <p:cNvSpPr/>
          <p:nvPr/>
        </p:nvSpPr>
        <p:spPr>
          <a:xfrm>
            <a:off x="2011680" y="5257800"/>
            <a:ext cx="457200" cy="868680"/>
          </a:xfrm>
          <a:prstGeom prst="line">
            <a:avLst/>
          </a:prstGeom>
          <a:noFill/>
          <a:ln w="15875">
            <a:solidFill>
              <a:srgbClr val="2C4B7C"/>
            </a:solidFill>
            <a:prstDash val="solid"/>
          </a:ln>
        </p:spPr>
        <p:txBody>
          <a:bodyPr/>
          <a:lstStyle/>
          <a:p>
            <a:endParaRPr lang="en-US"/>
          </a:p>
        </p:txBody>
      </p:sp>
      <p:sp>
        <p:nvSpPr>
          <p:cNvPr id="13" name="Shape 11"/>
          <p:cNvSpPr/>
          <p:nvPr/>
        </p:nvSpPr>
        <p:spPr>
          <a:xfrm>
            <a:off x="777240" y="5029200"/>
            <a:ext cx="91440" cy="91440"/>
          </a:xfrm>
          <a:prstGeom prst="ellipse">
            <a:avLst/>
          </a:prstGeom>
          <a:solidFill>
            <a:srgbClr val="10A37F"/>
          </a:solidFill>
          <a:ln/>
        </p:spPr>
        <p:txBody>
          <a:bodyPr/>
          <a:lstStyle/>
          <a:p>
            <a:endParaRPr lang="en-US"/>
          </a:p>
        </p:txBody>
      </p:sp>
      <p:sp>
        <p:nvSpPr>
          <p:cNvPr id="14" name="Shape 12"/>
          <p:cNvSpPr/>
          <p:nvPr/>
        </p:nvSpPr>
        <p:spPr>
          <a:xfrm>
            <a:off x="1691640" y="5532120"/>
            <a:ext cx="91440" cy="91440"/>
          </a:xfrm>
          <a:prstGeom prst="ellipse">
            <a:avLst/>
          </a:prstGeom>
          <a:solidFill>
            <a:srgbClr val="10A37F"/>
          </a:solidFill>
          <a:ln/>
        </p:spPr>
        <p:txBody>
          <a:bodyPr/>
          <a:lstStyle/>
          <a:p>
            <a:endParaRPr lang="en-US"/>
          </a:p>
        </p:txBody>
      </p:sp>
      <p:sp>
        <p:nvSpPr>
          <p:cNvPr id="15" name="Shape 13"/>
          <p:cNvSpPr/>
          <p:nvPr/>
        </p:nvSpPr>
        <p:spPr>
          <a:xfrm>
            <a:off x="1188720" y="5943600"/>
            <a:ext cx="91440" cy="91440"/>
          </a:xfrm>
          <a:prstGeom prst="ellipse">
            <a:avLst/>
          </a:prstGeom>
          <a:solidFill>
            <a:srgbClr val="10A37F"/>
          </a:solidFill>
          <a:ln/>
        </p:spPr>
        <p:txBody>
          <a:bodyPr/>
          <a:lstStyle/>
          <a:p>
            <a:endParaRPr lang="en-US"/>
          </a:p>
        </p:txBody>
      </p:sp>
      <p:sp>
        <p:nvSpPr>
          <p:cNvPr id="16" name="Shape 14"/>
          <p:cNvSpPr/>
          <p:nvPr/>
        </p:nvSpPr>
        <p:spPr>
          <a:xfrm>
            <a:off x="2423160" y="5212080"/>
            <a:ext cx="91440" cy="91440"/>
          </a:xfrm>
          <a:prstGeom prst="ellipse">
            <a:avLst/>
          </a:prstGeom>
          <a:solidFill>
            <a:srgbClr val="10A37F"/>
          </a:solidFill>
          <a:ln/>
        </p:spPr>
        <p:txBody>
          <a:bodyPr/>
          <a:lstStyle/>
          <a:p>
            <a:endParaRPr lang="en-US"/>
          </a:p>
        </p:txBody>
      </p:sp>
      <p:sp>
        <p:nvSpPr>
          <p:cNvPr id="17" name="Shape 15"/>
          <p:cNvSpPr/>
          <p:nvPr/>
        </p:nvSpPr>
        <p:spPr>
          <a:xfrm>
            <a:off x="502920" y="5760720"/>
            <a:ext cx="91440" cy="91440"/>
          </a:xfrm>
          <a:prstGeom prst="ellipse">
            <a:avLst/>
          </a:prstGeom>
          <a:solidFill>
            <a:srgbClr val="10A37F"/>
          </a:solidFill>
          <a:ln/>
        </p:spPr>
        <p:txBody>
          <a:bodyPr/>
          <a:lstStyle/>
          <a:p>
            <a:endParaRPr lang="en-US"/>
          </a:p>
        </p:txBody>
      </p:sp>
      <p:sp>
        <p:nvSpPr>
          <p:cNvPr id="18" name="Shape 16"/>
          <p:cNvSpPr/>
          <p:nvPr/>
        </p:nvSpPr>
        <p:spPr>
          <a:xfrm>
            <a:off x="1965960" y="6080760"/>
            <a:ext cx="91440" cy="91440"/>
          </a:xfrm>
          <a:prstGeom prst="ellipse">
            <a:avLst/>
          </a:prstGeom>
          <a:solidFill>
            <a:srgbClr val="10A37F"/>
          </a:solidFill>
          <a:ln/>
        </p:spPr>
        <p:txBody>
          <a:bodyPr/>
          <a:lstStyle/>
          <a:p>
            <a:endParaRPr lang="en-US"/>
          </a:p>
        </p:txBody>
      </p:sp>
      <p:sp>
        <p:nvSpPr>
          <p:cNvPr id="20" name="Text 18"/>
          <p:cNvSpPr/>
          <p:nvPr/>
        </p:nvSpPr>
        <p:spPr>
          <a:xfrm>
            <a:off x="640080" y="502920"/>
            <a:ext cx="1737360" cy="566928"/>
          </a:xfrm>
          <a:prstGeom prst="rect">
            <a:avLst/>
          </a:prstGeom>
          <a:noFill/>
          <a:ln/>
        </p:spPr>
        <p:txBody>
          <a:bodyPr wrap="square" lIns="0" tIns="0" rIns="0" bIns="0" rtlCol="0" anchor="ctr"/>
          <a:lstStyle/>
          <a:p>
            <a:pPr marL="0" indent="0" algn="ctr">
              <a:buNone/>
            </a:pPr>
            <a:endParaRPr lang="en-US" sz="800" dirty="0"/>
          </a:p>
        </p:txBody>
      </p:sp>
      <p:sp>
        <p:nvSpPr>
          <p:cNvPr id="22" name="Text 20"/>
          <p:cNvSpPr/>
          <p:nvPr/>
        </p:nvSpPr>
        <p:spPr>
          <a:xfrm>
            <a:off x="9814255" y="502920"/>
            <a:ext cx="1737360" cy="566928"/>
          </a:xfrm>
          <a:prstGeom prst="rect">
            <a:avLst/>
          </a:prstGeom>
          <a:noFill/>
          <a:ln/>
        </p:spPr>
        <p:txBody>
          <a:bodyPr wrap="square" lIns="0" tIns="0" rIns="0" bIns="0" rtlCol="0" anchor="ctr"/>
          <a:lstStyle/>
          <a:p>
            <a:pPr marL="0" indent="0" algn="ctr">
              <a:buNone/>
            </a:pPr>
            <a:endParaRPr lang="en-US" sz="800" dirty="0"/>
          </a:p>
        </p:txBody>
      </p:sp>
      <p:sp>
        <p:nvSpPr>
          <p:cNvPr id="23" name="Text 21"/>
          <p:cNvSpPr/>
          <p:nvPr/>
        </p:nvSpPr>
        <p:spPr>
          <a:xfrm>
            <a:off x="822960" y="1600200"/>
            <a:ext cx="9144000" cy="320040"/>
          </a:xfrm>
          <a:prstGeom prst="rect">
            <a:avLst/>
          </a:prstGeom>
          <a:noFill/>
          <a:ln/>
        </p:spPr>
        <p:txBody>
          <a:bodyPr wrap="square" lIns="0" tIns="0" rIns="0" bIns="0" rtlCol="0" anchor="ctr"/>
          <a:lstStyle/>
          <a:p>
            <a:pPr marL="0" indent="0">
              <a:buNone/>
            </a:pPr>
            <a:r>
              <a:rPr lang="en-US" sz="1150" b="1" kern="0" spc="220" dirty="0">
                <a:solidFill>
                  <a:srgbClr val="10A37F"/>
                </a:solidFill>
                <a:latin typeface="Calibri" pitchFamily="34" charset="0"/>
                <a:ea typeface="Calibri" pitchFamily="34" charset="-122"/>
                <a:cs typeface="Calibri" pitchFamily="34" charset="-120"/>
              </a:rPr>
              <a:t>INTERNSHIP EVALUATION  •  MANAGEMENT PRESENTATION  •  VIVA</a:t>
            </a:r>
            <a:endParaRPr lang="en-US" sz="1150" dirty="0"/>
          </a:p>
        </p:txBody>
      </p:sp>
      <p:sp>
        <p:nvSpPr>
          <p:cNvPr id="24" name="Text 22"/>
          <p:cNvSpPr/>
          <p:nvPr/>
        </p:nvSpPr>
        <p:spPr>
          <a:xfrm>
            <a:off x="822960" y="1965960"/>
            <a:ext cx="9692640" cy="150876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Distributor Survey, Retailer Onboarding</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&amp; Multi-Brand Analysis</a:t>
            </a:r>
            <a:endParaRPr lang="en-US" sz="4000" dirty="0"/>
          </a:p>
        </p:txBody>
      </p:sp>
      <p:sp>
        <p:nvSpPr>
          <p:cNvPr id="25" name="Text 23"/>
          <p:cNvSpPr/>
          <p:nvPr/>
        </p:nvSpPr>
        <p:spPr>
          <a:xfrm>
            <a:off x="822960" y="3429000"/>
            <a:ext cx="8686800" cy="411480"/>
          </a:xfrm>
          <a:prstGeom prst="rect">
            <a:avLst/>
          </a:prstGeom>
          <a:noFill/>
          <a:ln/>
        </p:spPr>
        <p:txBody>
          <a:bodyPr wrap="square" lIns="0" tIns="0" rIns="0" bIns="0" rtlCol="0" anchor="ctr"/>
          <a:lstStyle/>
          <a:p>
            <a:pPr marL="0" indent="0">
              <a:buNone/>
            </a:pPr>
            <a:r>
              <a:rPr lang="en-US" sz="1600" i="1" dirty="0">
                <a:solidFill>
                  <a:srgbClr val="C7D3E8"/>
                </a:solidFill>
                <a:latin typeface="Calibri" pitchFamily="34" charset="0"/>
                <a:ea typeface="Calibri" pitchFamily="34" charset="-122"/>
                <a:cs typeface="Calibri" pitchFamily="34" charset="-120"/>
              </a:rPr>
              <a:t>A Study of North Delhi Retail &amp; Distribution Networks</a:t>
            </a:r>
            <a:endParaRPr lang="en-US" sz="1600" dirty="0"/>
          </a:p>
        </p:txBody>
      </p:sp>
      <p:sp>
        <p:nvSpPr>
          <p:cNvPr id="26" name="Shape 24"/>
          <p:cNvSpPr/>
          <p:nvPr/>
        </p:nvSpPr>
        <p:spPr>
          <a:xfrm>
            <a:off x="822960" y="3977640"/>
            <a:ext cx="3840480" cy="0"/>
          </a:xfrm>
          <a:prstGeom prst="line">
            <a:avLst/>
          </a:prstGeom>
          <a:noFill/>
          <a:ln w="25400">
            <a:solidFill>
              <a:srgbClr val="10A37F"/>
            </a:solidFill>
            <a:prstDash val="solid"/>
          </a:ln>
        </p:spPr>
        <p:txBody>
          <a:bodyPr/>
          <a:lstStyle/>
          <a:p>
            <a:endParaRPr lang="en-US"/>
          </a:p>
        </p:txBody>
      </p:sp>
      <p:sp>
        <p:nvSpPr>
          <p:cNvPr id="27" name="Text 25"/>
          <p:cNvSpPr/>
          <p:nvPr/>
        </p:nvSpPr>
        <p:spPr>
          <a:xfrm>
            <a:off x="822960" y="4251960"/>
            <a:ext cx="3017520" cy="274320"/>
          </a:xfrm>
          <a:prstGeom prst="rect">
            <a:avLst/>
          </a:prstGeom>
          <a:noFill/>
          <a:ln/>
        </p:spPr>
        <p:txBody>
          <a:bodyPr wrap="square" lIns="0" tIns="0" rIns="0" bIns="0" rtlCol="0" anchor="ctr"/>
          <a:lstStyle/>
          <a:p>
            <a:pPr marL="0" indent="0">
              <a:buNone/>
            </a:pPr>
            <a:r>
              <a:rPr lang="en-US" sz="950" b="1" kern="0" spc="80" dirty="0">
                <a:solidFill>
                  <a:srgbClr val="7E93BE"/>
                </a:solidFill>
                <a:latin typeface="Calibri" pitchFamily="34" charset="0"/>
                <a:ea typeface="Calibri" pitchFamily="34" charset="-122"/>
                <a:cs typeface="Calibri" pitchFamily="34" charset="-120"/>
              </a:rPr>
              <a:t>SUBMITTED BY</a:t>
            </a:r>
            <a:endParaRPr lang="en-US" sz="950" dirty="0"/>
          </a:p>
        </p:txBody>
      </p:sp>
      <p:sp>
        <p:nvSpPr>
          <p:cNvPr id="28" name="Text 26"/>
          <p:cNvSpPr/>
          <p:nvPr/>
        </p:nvSpPr>
        <p:spPr>
          <a:xfrm>
            <a:off x="3794760" y="4251960"/>
            <a:ext cx="658368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Neeru</a:t>
            </a:r>
            <a:endParaRPr lang="en-US" sz="1150" dirty="0"/>
          </a:p>
        </p:txBody>
      </p:sp>
      <p:sp>
        <p:nvSpPr>
          <p:cNvPr id="29" name="Text 27"/>
          <p:cNvSpPr/>
          <p:nvPr/>
        </p:nvSpPr>
        <p:spPr>
          <a:xfrm>
            <a:off x="822960" y="4585716"/>
            <a:ext cx="3017520" cy="274320"/>
          </a:xfrm>
          <a:prstGeom prst="rect">
            <a:avLst/>
          </a:prstGeom>
          <a:noFill/>
          <a:ln/>
        </p:spPr>
        <p:txBody>
          <a:bodyPr wrap="square" lIns="0" tIns="0" rIns="0" bIns="0" rtlCol="0" anchor="ctr"/>
          <a:lstStyle/>
          <a:p>
            <a:pPr marL="0" indent="0">
              <a:buNone/>
            </a:pPr>
            <a:r>
              <a:rPr lang="en-US" sz="950" b="1" kern="0" spc="80" dirty="0">
                <a:solidFill>
                  <a:srgbClr val="7E93BE"/>
                </a:solidFill>
                <a:latin typeface="Calibri" pitchFamily="34" charset="0"/>
                <a:ea typeface="Calibri" pitchFamily="34" charset="-122"/>
                <a:cs typeface="Calibri" pitchFamily="34" charset="-120"/>
              </a:rPr>
              <a:t>UNIVERSITY / INSTITUTION</a:t>
            </a:r>
            <a:endParaRPr lang="en-US" sz="950" dirty="0"/>
          </a:p>
        </p:txBody>
      </p:sp>
      <p:sp>
        <p:nvSpPr>
          <p:cNvPr id="30" name="Text 28"/>
          <p:cNvSpPr/>
          <p:nvPr/>
        </p:nvSpPr>
        <p:spPr>
          <a:xfrm>
            <a:off x="3794760" y="4585716"/>
            <a:ext cx="658368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 University of Delhi</a:t>
            </a:r>
            <a:endParaRPr lang="en-US" sz="1150" dirty="0"/>
          </a:p>
        </p:txBody>
      </p:sp>
      <p:sp>
        <p:nvSpPr>
          <p:cNvPr id="31" name="Text 29"/>
          <p:cNvSpPr/>
          <p:nvPr/>
        </p:nvSpPr>
        <p:spPr>
          <a:xfrm>
            <a:off x="822960" y="4919472"/>
            <a:ext cx="3017520" cy="274320"/>
          </a:xfrm>
          <a:prstGeom prst="rect">
            <a:avLst/>
          </a:prstGeom>
          <a:noFill/>
          <a:ln/>
        </p:spPr>
        <p:txBody>
          <a:bodyPr wrap="square" lIns="0" tIns="0" rIns="0" bIns="0" rtlCol="0" anchor="ctr"/>
          <a:lstStyle/>
          <a:p>
            <a:pPr marL="0" indent="0">
              <a:buNone/>
            </a:pPr>
            <a:r>
              <a:rPr lang="en-US" sz="950" b="1" kern="0" spc="80" dirty="0">
                <a:solidFill>
                  <a:srgbClr val="7E93BE"/>
                </a:solidFill>
                <a:latin typeface="Calibri" pitchFamily="34" charset="0"/>
                <a:ea typeface="Calibri" pitchFamily="34" charset="-122"/>
                <a:cs typeface="Calibri" pitchFamily="34" charset="-120"/>
              </a:rPr>
              <a:t>DEPARTMENT</a:t>
            </a:r>
            <a:endParaRPr lang="en-US" sz="950" dirty="0"/>
          </a:p>
        </p:txBody>
      </p:sp>
      <p:sp>
        <p:nvSpPr>
          <p:cNvPr id="32" name="Text 30"/>
          <p:cNvSpPr/>
          <p:nvPr/>
        </p:nvSpPr>
        <p:spPr>
          <a:xfrm>
            <a:off x="3794760" y="4919472"/>
            <a:ext cx="6583680" cy="274320"/>
          </a:xfrm>
          <a:prstGeom prst="rect">
            <a:avLst/>
          </a:prstGeom>
          <a:noFill/>
          <a:ln/>
        </p:spPr>
        <p:txBody>
          <a:bodyPr wrap="square" lIns="0" tIns="0" rIns="0" bIns="0" rtlCol="0" anchor="ctr"/>
          <a:lstStyle/>
          <a:p>
            <a:r>
              <a:rPr lang="en-US" sz="1150" dirty="0">
                <a:solidFill>
                  <a:srgbClr val="FFFFFF"/>
                </a:solidFill>
                <a:latin typeface="Calibri" pitchFamily="34" charset="0"/>
                <a:ea typeface="Calibri" pitchFamily="34" charset="-122"/>
                <a:cs typeface="Calibri" pitchFamily="34" charset="-120"/>
              </a:rPr>
              <a:t>[Department of Operational Research, South Campus</a:t>
            </a:r>
            <a:endParaRPr lang="en-US" sz="1150" dirty="0"/>
          </a:p>
        </p:txBody>
      </p:sp>
      <p:sp>
        <p:nvSpPr>
          <p:cNvPr id="33" name="Text 31"/>
          <p:cNvSpPr/>
          <p:nvPr/>
        </p:nvSpPr>
        <p:spPr>
          <a:xfrm>
            <a:off x="822960" y="5253228"/>
            <a:ext cx="3017520" cy="274320"/>
          </a:xfrm>
          <a:prstGeom prst="rect">
            <a:avLst/>
          </a:prstGeom>
          <a:noFill/>
          <a:ln/>
        </p:spPr>
        <p:txBody>
          <a:bodyPr wrap="square" lIns="0" tIns="0" rIns="0" bIns="0" rtlCol="0" anchor="ctr"/>
          <a:lstStyle/>
          <a:p>
            <a:pPr marL="0" indent="0">
              <a:buNone/>
            </a:pPr>
            <a:r>
              <a:rPr lang="en-US" sz="950" b="1" kern="0" spc="80" dirty="0">
                <a:solidFill>
                  <a:srgbClr val="7E93BE"/>
                </a:solidFill>
                <a:latin typeface="Calibri" pitchFamily="34" charset="0"/>
                <a:ea typeface="Calibri" pitchFamily="34" charset="-122"/>
                <a:cs typeface="Calibri" pitchFamily="34" charset="-120"/>
              </a:rPr>
              <a:t>INTERNSHIP DURATION</a:t>
            </a:r>
            <a:endParaRPr lang="en-US" sz="950" dirty="0"/>
          </a:p>
        </p:txBody>
      </p:sp>
      <p:sp>
        <p:nvSpPr>
          <p:cNvPr id="34" name="Text 32"/>
          <p:cNvSpPr/>
          <p:nvPr/>
        </p:nvSpPr>
        <p:spPr>
          <a:xfrm>
            <a:off x="3794760" y="5267742"/>
            <a:ext cx="658368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8 Weeks  •  08 Jun 2026 – 02 Aug 2026</a:t>
            </a:r>
            <a:endParaRPr lang="en-US" sz="1150" dirty="0"/>
          </a:p>
        </p:txBody>
      </p:sp>
      <p:sp>
        <p:nvSpPr>
          <p:cNvPr id="35" name="Text 33"/>
          <p:cNvSpPr/>
          <p:nvPr/>
        </p:nvSpPr>
        <p:spPr>
          <a:xfrm>
            <a:off x="822960" y="5586984"/>
            <a:ext cx="3017520" cy="274320"/>
          </a:xfrm>
          <a:prstGeom prst="rect">
            <a:avLst/>
          </a:prstGeom>
          <a:noFill/>
          <a:ln/>
        </p:spPr>
        <p:txBody>
          <a:bodyPr wrap="square" lIns="0" tIns="0" rIns="0" bIns="0" rtlCol="0" anchor="ctr"/>
          <a:lstStyle/>
          <a:p>
            <a:pPr marL="0" indent="0">
              <a:buNone/>
            </a:pPr>
            <a:r>
              <a:rPr lang="en-US" sz="950" b="1" kern="0" spc="80" dirty="0">
                <a:solidFill>
                  <a:srgbClr val="7E93BE"/>
                </a:solidFill>
                <a:latin typeface="Calibri" pitchFamily="34" charset="0"/>
                <a:ea typeface="Calibri" pitchFamily="34" charset="-122"/>
                <a:cs typeface="Calibri" pitchFamily="34" charset="-120"/>
              </a:rPr>
              <a:t>SUBMITTED TO</a:t>
            </a:r>
            <a:endParaRPr lang="en-US" sz="950" dirty="0"/>
          </a:p>
        </p:txBody>
      </p:sp>
      <p:sp>
        <p:nvSpPr>
          <p:cNvPr id="36" name="Text 34"/>
          <p:cNvSpPr/>
          <p:nvPr/>
        </p:nvSpPr>
        <p:spPr>
          <a:xfrm>
            <a:off x="3794760" y="5586984"/>
            <a:ext cx="658368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NextG Apex India Pvt. Ltd., Navi Mumbai</a:t>
            </a:r>
            <a:endParaRPr lang="en-US" sz="1150" dirty="0"/>
          </a:p>
        </p:txBody>
      </p:sp>
      <p:sp>
        <p:nvSpPr>
          <p:cNvPr id="37" name="Text 35"/>
          <p:cNvSpPr/>
          <p:nvPr/>
        </p:nvSpPr>
        <p:spPr>
          <a:xfrm>
            <a:off x="822960" y="5920740"/>
            <a:ext cx="3017520" cy="274320"/>
          </a:xfrm>
          <a:prstGeom prst="rect">
            <a:avLst/>
          </a:prstGeom>
          <a:noFill/>
          <a:ln/>
        </p:spPr>
        <p:txBody>
          <a:bodyPr wrap="square" lIns="0" tIns="0" rIns="0" bIns="0" rtlCol="0" anchor="ctr"/>
          <a:lstStyle/>
          <a:p>
            <a:pPr marL="0" indent="0">
              <a:buNone/>
            </a:pPr>
            <a:endParaRPr lang="en-US" sz="950" dirty="0"/>
          </a:p>
        </p:txBody>
      </p:sp>
      <p:sp>
        <p:nvSpPr>
          <p:cNvPr id="39" name="Text 37"/>
          <p:cNvSpPr/>
          <p:nvPr/>
        </p:nvSpPr>
        <p:spPr>
          <a:xfrm>
            <a:off x="822960" y="6254496"/>
            <a:ext cx="3017520" cy="274320"/>
          </a:xfrm>
          <a:prstGeom prst="rect">
            <a:avLst/>
          </a:prstGeom>
          <a:noFill/>
          <a:ln/>
        </p:spPr>
        <p:txBody>
          <a:bodyPr wrap="square" lIns="0" tIns="0" rIns="0" bIns="0" rtlCol="0" anchor="ctr"/>
          <a:lstStyle/>
          <a:p>
            <a:pPr marL="0" indent="0">
              <a:buNone/>
            </a:pPr>
            <a:endParaRPr lang="en-US" sz="950" dirty="0"/>
          </a:p>
        </p:txBody>
      </p:sp>
      <p:sp>
        <p:nvSpPr>
          <p:cNvPr id="41" name="Text 39"/>
          <p:cNvSpPr/>
          <p:nvPr/>
        </p:nvSpPr>
        <p:spPr>
          <a:xfrm>
            <a:off x="822960" y="6355080"/>
            <a:ext cx="9601200" cy="274320"/>
          </a:xfrm>
          <a:prstGeom prst="rect">
            <a:avLst/>
          </a:prstGeom>
          <a:noFill/>
          <a:ln/>
        </p:spPr>
        <p:txBody>
          <a:bodyPr wrap="square" lIns="0" tIns="0" rIns="0" bIns="0" rtlCol="0" anchor="ctr"/>
          <a:lstStyle/>
          <a:p>
            <a:pPr marL="0" indent="0">
              <a:buNone/>
            </a:pPr>
            <a:endParaRPr lang="en-US" sz="900" dirty="0"/>
          </a:p>
        </p:txBody>
      </p:sp>
      <p:pic>
        <p:nvPicPr>
          <p:cNvPr id="42" name="Picture 41">
            <a:extLst>
              <a:ext uri="{FF2B5EF4-FFF2-40B4-BE49-F238E27FC236}">
                <a16:creationId xmlns:a16="http://schemas.microsoft.com/office/drawing/2014/main" id="{C888C0E9-10B2-DE1C-86FA-6A79B7AD1A67}"/>
              </a:ext>
            </a:extLst>
          </p:cNvPr>
          <p:cNvPicPr>
            <a:picLocks noChangeAspect="1"/>
          </p:cNvPicPr>
          <p:nvPr/>
        </p:nvPicPr>
        <p:blipFill>
          <a:blip r:embed="rId3"/>
          <a:stretch>
            <a:fillRect/>
          </a:stretch>
        </p:blipFill>
        <p:spPr>
          <a:xfrm>
            <a:off x="-116205" y="-31334"/>
            <a:ext cx="1969770" cy="16315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INTERNSHIP OVERVIEW</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Programme at a Glance</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01 – INTRODUCTION</a:t>
            </a:r>
            <a:endParaRPr lang="en-US" sz="1050" dirty="0"/>
          </a:p>
        </p:txBody>
      </p:sp>
      <p:sp>
        <p:nvSpPr>
          <p:cNvPr id="5" name="Shape 3"/>
          <p:cNvSpPr/>
          <p:nvPr/>
        </p:nvSpPr>
        <p:spPr>
          <a:xfrm>
            <a:off x="640080" y="1600200"/>
            <a:ext cx="2555748"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6" name="Shape 4"/>
          <p:cNvSpPr/>
          <p:nvPr/>
        </p:nvSpPr>
        <p:spPr>
          <a:xfrm>
            <a:off x="1634490" y="1874520"/>
            <a:ext cx="566928" cy="566928"/>
          </a:xfrm>
          <a:prstGeom prst="ellipse">
            <a:avLst/>
          </a:prstGeom>
          <a:solidFill>
            <a:srgbClr val="0F1F3D"/>
          </a:solidFill>
          <a:ln/>
        </p:spPr>
        <p:txBody>
          <a:bodyPr/>
          <a:lstStyle/>
          <a:p>
            <a:endParaRPr lang="en-US"/>
          </a:p>
        </p:txBody>
      </p:sp>
      <p:pic>
        <p:nvPicPr>
          <p:cNvPr id="7" name="Image 0" descr="/home/claude/assets/calendar.png"/>
          <p:cNvPicPr>
            <a:picLocks noChangeAspect="1"/>
          </p:cNvPicPr>
          <p:nvPr/>
        </p:nvPicPr>
        <p:blipFill>
          <a:blip r:embed="rId3"/>
          <a:stretch>
            <a:fillRect/>
          </a:stretch>
        </p:blipFill>
        <p:spPr>
          <a:xfrm>
            <a:off x="1770553" y="2010583"/>
            <a:ext cx="294803" cy="294803"/>
          </a:xfrm>
          <a:prstGeom prst="rect">
            <a:avLst/>
          </a:prstGeom>
        </p:spPr>
      </p:pic>
      <p:sp>
        <p:nvSpPr>
          <p:cNvPr id="8" name="Text 5"/>
          <p:cNvSpPr/>
          <p:nvPr/>
        </p:nvSpPr>
        <p:spPr>
          <a:xfrm>
            <a:off x="749808" y="2560320"/>
            <a:ext cx="2336292" cy="274320"/>
          </a:xfrm>
          <a:prstGeom prst="rect">
            <a:avLst/>
          </a:prstGeom>
          <a:noFill/>
          <a:ln/>
        </p:spPr>
        <p:txBody>
          <a:bodyPr wrap="square" lIns="0" tIns="0" rIns="0" bIns="0" rtlCol="0" anchor="ctr"/>
          <a:lstStyle/>
          <a:p>
            <a:pPr marL="0" indent="0" algn="ctr">
              <a:buNone/>
            </a:pPr>
            <a:r>
              <a:rPr lang="en-US" sz="1000" b="1" kern="0" spc="40" dirty="0">
                <a:solidFill>
                  <a:srgbClr val="0F1F3D"/>
                </a:solidFill>
                <a:latin typeface="Calibri" pitchFamily="34" charset="0"/>
                <a:ea typeface="Calibri" pitchFamily="34" charset="-122"/>
                <a:cs typeface="Calibri" pitchFamily="34" charset="-120"/>
              </a:rPr>
              <a:t>DURATION</a:t>
            </a:r>
            <a:endParaRPr lang="en-US" sz="1000" dirty="0"/>
          </a:p>
        </p:txBody>
      </p:sp>
      <p:sp>
        <p:nvSpPr>
          <p:cNvPr id="9" name="Text 6"/>
          <p:cNvSpPr/>
          <p:nvPr/>
        </p:nvSpPr>
        <p:spPr>
          <a:xfrm>
            <a:off x="749808" y="2880360"/>
            <a:ext cx="2336292" cy="594360"/>
          </a:xfrm>
          <a:prstGeom prst="rect">
            <a:avLst/>
          </a:prstGeom>
          <a:noFill/>
          <a:ln/>
        </p:spPr>
        <p:txBody>
          <a:bodyPr wrap="square" lIns="0" tIns="0" rIns="0" bIns="0" rtlCol="0" anchor="ctr"/>
          <a:lstStyle/>
          <a:p>
            <a:pPr marL="0" indent="0" algn="ctr">
              <a:lnSpc>
                <a:spcPct val="105000"/>
              </a:lnSpc>
              <a:buNone/>
            </a:pPr>
            <a:r>
              <a:rPr lang="en-US" sz="1100" dirty="0">
                <a:solidFill>
                  <a:srgbClr val="6B7280"/>
                </a:solidFill>
                <a:latin typeface="Calibri" pitchFamily="34" charset="0"/>
                <a:ea typeface="Calibri" pitchFamily="34" charset="-122"/>
                <a:cs typeface="Calibri" pitchFamily="34" charset="-120"/>
              </a:rPr>
              <a:t>8 weeks</a:t>
            </a:r>
            <a:endParaRPr lang="en-US" sz="1100" dirty="0"/>
          </a:p>
          <a:p>
            <a:pPr marL="0" indent="0" algn="ctr">
              <a:lnSpc>
                <a:spcPct val="105000"/>
              </a:lnSpc>
              <a:buNone/>
            </a:pPr>
            <a:r>
              <a:rPr lang="en-US" sz="1100" dirty="0">
                <a:solidFill>
                  <a:srgbClr val="6B7280"/>
                </a:solidFill>
                <a:latin typeface="Calibri" pitchFamily="34" charset="0"/>
                <a:ea typeface="Calibri" pitchFamily="34" charset="-122"/>
                <a:cs typeface="Calibri" pitchFamily="34" charset="-120"/>
              </a:rPr>
              <a:t>08 Jun – 02 Aug 2026</a:t>
            </a:r>
            <a:endParaRPr lang="en-US" sz="1100" dirty="0"/>
          </a:p>
        </p:txBody>
      </p:sp>
      <p:sp>
        <p:nvSpPr>
          <p:cNvPr id="10" name="Shape 7"/>
          <p:cNvSpPr/>
          <p:nvPr/>
        </p:nvSpPr>
        <p:spPr>
          <a:xfrm>
            <a:off x="3424428" y="1600200"/>
            <a:ext cx="2555748"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1" name="Shape 8"/>
          <p:cNvSpPr/>
          <p:nvPr/>
        </p:nvSpPr>
        <p:spPr>
          <a:xfrm>
            <a:off x="4418838" y="1874520"/>
            <a:ext cx="566928" cy="566928"/>
          </a:xfrm>
          <a:prstGeom prst="ellipse">
            <a:avLst/>
          </a:prstGeom>
          <a:solidFill>
            <a:srgbClr val="0F1F3D"/>
          </a:solidFill>
          <a:ln/>
        </p:spPr>
        <p:txBody>
          <a:bodyPr/>
          <a:lstStyle/>
          <a:p>
            <a:endParaRPr lang="en-US"/>
          </a:p>
        </p:txBody>
      </p:sp>
      <p:pic>
        <p:nvPicPr>
          <p:cNvPr id="12" name="Image 1" descr="/home/claude/assets/building.png"/>
          <p:cNvPicPr>
            <a:picLocks noChangeAspect="1"/>
          </p:cNvPicPr>
          <p:nvPr/>
        </p:nvPicPr>
        <p:blipFill>
          <a:blip r:embed="rId4"/>
          <a:stretch>
            <a:fillRect/>
          </a:stretch>
        </p:blipFill>
        <p:spPr>
          <a:xfrm>
            <a:off x="4554901" y="2010583"/>
            <a:ext cx="294803" cy="294803"/>
          </a:xfrm>
          <a:prstGeom prst="rect">
            <a:avLst/>
          </a:prstGeom>
        </p:spPr>
      </p:pic>
      <p:sp>
        <p:nvSpPr>
          <p:cNvPr id="13" name="Text 9"/>
          <p:cNvSpPr/>
          <p:nvPr/>
        </p:nvSpPr>
        <p:spPr>
          <a:xfrm>
            <a:off x="3534156" y="2560320"/>
            <a:ext cx="2336292" cy="274320"/>
          </a:xfrm>
          <a:prstGeom prst="rect">
            <a:avLst/>
          </a:prstGeom>
          <a:noFill/>
          <a:ln/>
        </p:spPr>
        <p:txBody>
          <a:bodyPr wrap="square" lIns="0" tIns="0" rIns="0" bIns="0" rtlCol="0" anchor="ctr"/>
          <a:lstStyle/>
          <a:p>
            <a:pPr marL="0" indent="0" algn="ctr">
              <a:buNone/>
            </a:pPr>
            <a:r>
              <a:rPr lang="en-US" sz="1000" b="1" kern="0" spc="40" dirty="0">
                <a:solidFill>
                  <a:srgbClr val="0F1F3D"/>
                </a:solidFill>
                <a:latin typeface="Calibri" pitchFamily="34" charset="0"/>
                <a:ea typeface="Calibri" pitchFamily="34" charset="-122"/>
                <a:cs typeface="Calibri" pitchFamily="34" charset="-120"/>
              </a:rPr>
              <a:t>SPONSORING ORGANIZATION</a:t>
            </a:r>
            <a:endParaRPr lang="en-US" sz="1000" dirty="0"/>
          </a:p>
        </p:txBody>
      </p:sp>
      <p:sp>
        <p:nvSpPr>
          <p:cNvPr id="14" name="Text 10"/>
          <p:cNvSpPr/>
          <p:nvPr/>
        </p:nvSpPr>
        <p:spPr>
          <a:xfrm>
            <a:off x="3534156" y="2880360"/>
            <a:ext cx="2336292" cy="594360"/>
          </a:xfrm>
          <a:prstGeom prst="rect">
            <a:avLst/>
          </a:prstGeom>
          <a:noFill/>
          <a:ln/>
        </p:spPr>
        <p:txBody>
          <a:bodyPr wrap="square" lIns="0" tIns="0" rIns="0" bIns="0" rtlCol="0" anchor="ctr"/>
          <a:lstStyle/>
          <a:p>
            <a:pPr marL="0" indent="0" algn="ctr">
              <a:lnSpc>
                <a:spcPct val="105000"/>
              </a:lnSpc>
              <a:buNone/>
            </a:pPr>
            <a:r>
              <a:rPr lang="en-US" sz="1100" dirty="0">
                <a:solidFill>
                  <a:srgbClr val="6B7280"/>
                </a:solidFill>
                <a:latin typeface="Calibri" pitchFamily="34" charset="0"/>
                <a:ea typeface="Calibri" pitchFamily="34" charset="-122"/>
                <a:cs typeface="Calibri" pitchFamily="34" charset="-120"/>
              </a:rPr>
              <a:t>NextG Apex India Pvt. Ltd., Navi Mumbai</a:t>
            </a:r>
            <a:endParaRPr lang="en-US" sz="1100" dirty="0"/>
          </a:p>
        </p:txBody>
      </p:sp>
      <p:sp>
        <p:nvSpPr>
          <p:cNvPr id="15" name="Shape 11"/>
          <p:cNvSpPr/>
          <p:nvPr/>
        </p:nvSpPr>
        <p:spPr>
          <a:xfrm>
            <a:off x="6208776" y="1600200"/>
            <a:ext cx="2555748"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6" name="Shape 12"/>
          <p:cNvSpPr/>
          <p:nvPr/>
        </p:nvSpPr>
        <p:spPr>
          <a:xfrm>
            <a:off x="7203186" y="1874520"/>
            <a:ext cx="566928" cy="566928"/>
          </a:xfrm>
          <a:prstGeom prst="ellipse">
            <a:avLst/>
          </a:prstGeom>
          <a:solidFill>
            <a:srgbClr val="0F1F3D"/>
          </a:solidFill>
          <a:ln/>
        </p:spPr>
        <p:txBody>
          <a:bodyPr/>
          <a:lstStyle/>
          <a:p>
            <a:endParaRPr lang="en-US"/>
          </a:p>
        </p:txBody>
      </p:sp>
      <p:pic>
        <p:nvPicPr>
          <p:cNvPr id="17" name="Image 2" descr="/home/claude/assets/location.png"/>
          <p:cNvPicPr>
            <a:picLocks noChangeAspect="1"/>
          </p:cNvPicPr>
          <p:nvPr/>
        </p:nvPicPr>
        <p:blipFill>
          <a:blip r:embed="rId5"/>
          <a:stretch>
            <a:fillRect/>
          </a:stretch>
        </p:blipFill>
        <p:spPr>
          <a:xfrm>
            <a:off x="7339249" y="2010583"/>
            <a:ext cx="294803" cy="294803"/>
          </a:xfrm>
          <a:prstGeom prst="rect">
            <a:avLst/>
          </a:prstGeom>
        </p:spPr>
      </p:pic>
      <p:sp>
        <p:nvSpPr>
          <p:cNvPr id="18" name="Text 13"/>
          <p:cNvSpPr/>
          <p:nvPr/>
        </p:nvSpPr>
        <p:spPr>
          <a:xfrm>
            <a:off x="6318504" y="2560320"/>
            <a:ext cx="2336292" cy="274320"/>
          </a:xfrm>
          <a:prstGeom prst="rect">
            <a:avLst/>
          </a:prstGeom>
          <a:noFill/>
          <a:ln/>
        </p:spPr>
        <p:txBody>
          <a:bodyPr wrap="square" lIns="0" tIns="0" rIns="0" bIns="0" rtlCol="0" anchor="ctr"/>
          <a:lstStyle/>
          <a:p>
            <a:pPr marL="0" indent="0" algn="ctr">
              <a:buNone/>
            </a:pPr>
            <a:r>
              <a:rPr lang="en-US" sz="1000" b="1" kern="0" spc="40" dirty="0">
                <a:solidFill>
                  <a:srgbClr val="0F1F3D"/>
                </a:solidFill>
                <a:latin typeface="Calibri" pitchFamily="34" charset="0"/>
                <a:ea typeface="Calibri" pitchFamily="34" charset="-122"/>
                <a:cs typeface="Calibri" pitchFamily="34" charset="-120"/>
              </a:rPr>
              <a:t>FIELD GEOGRAPHY</a:t>
            </a:r>
            <a:endParaRPr lang="en-US" sz="1000" dirty="0"/>
          </a:p>
        </p:txBody>
      </p:sp>
      <p:sp>
        <p:nvSpPr>
          <p:cNvPr id="19" name="Text 14"/>
          <p:cNvSpPr/>
          <p:nvPr/>
        </p:nvSpPr>
        <p:spPr>
          <a:xfrm>
            <a:off x="6318504" y="2880360"/>
            <a:ext cx="2336292" cy="594360"/>
          </a:xfrm>
          <a:prstGeom prst="rect">
            <a:avLst/>
          </a:prstGeom>
          <a:noFill/>
          <a:ln/>
        </p:spPr>
        <p:txBody>
          <a:bodyPr wrap="square" lIns="0" tIns="0" rIns="0" bIns="0" rtlCol="0" anchor="ctr"/>
          <a:lstStyle/>
          <a:p>
            <a:pPr marL="0" indent="0" algn="ctr">
              <a:lnSpc>
                <a:spcPct val="105000"/>
              </a:lnSpc>
              <a:buNone/>
            </a:pPr>
            <a:r>
              <a:rPr lang="en-US" sz="1100" dirty="0">
                <a:solidFill>
                  <a:srgbClr val="6B7280"/>
                </a:solidFill>
                <a:latin typeface="Calibri" pitchFamily="34" charset="0"/>
                <a:ea typeface="Calibri" pitchFamily="34" charset="-122"/>
                <a:cs typeface="Calibri" pitchFamily="34" charset="-120"/>
              </a:rPr>
              <a:t>4 localities,</a:t>
            </a:r>
            <a:endParaRPr lang="en-US" sz="1100" dirty="0"/>
          </a:p>
          <a:p>
            <a:pPr marL="0" indent="0" algn="ctr">
              <a:lnSpc>
                <a:spcPct val="105000"/>
              </a:lnSpc>
              <a:buNone/>
            </a:pPr>
            <a:r>
              <a:rPr lang="en-US" sz="1100" dirty="0">
                <a:solidFill>
                  <a:srgbClr val="6B7280"/>
                </a:solidFill>
                <a:latin typeface="Calibri" pitchFamily="34" charset="0"/>
                <a:ea typeface="Calibri" pitchFamily="34" charset="-122"/>
                <a:cs typeface="Calibri" pitchFamily="34" charset="-120"/>
              </a:rPr>
              <a:t>North Delhi</a:t>
            </a:r>
            <a:endParaRPr lang="en-US" sz="1100" dirty="0"/>
          </a:p>
        </p:txBody>
      </p:sp>
      <p:sp>
        <p:nvSpPr>
          <p:cNvPr id="20" name="Shape 15"/>
          <p:cNvSpPr/>
          <p:nvPr/>
        </p:nvSpPr>
        <p:spPr>
          <a:xfrm>
            <a:off x="8993124" y="1600200"/>
            <a:ext cx="2555748"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1" name="Shape 16"/>
          <p:cNvSpPr/>
          <p:nvPr/>
        </p:nvSpPr>
        <p:spPr>
          <a:xfrm>
            <a:off x="9987534" y="1874520"/>
            <a:ext cx="566928" cy="566928"/>
          </a:xfrm>
          <a:prstGeom prst="ellipse">
            <a:avLst/>
          </a:prstGeom>
          <a:solidFill>
            <a:srgbClr val="0F1F3D"/>
          </a:solidFill>
          <a:ln/>
        </p:spPr>
        <p:txBody>
          <a:bodyPr/>
          <a:lstStyle/>
          <a:p>
            <a:endParaRPr lang="en-US"/>
          </a:p>
        </p:txBody>
      </p:sp>
      <p:pic>
        <p:nvPicPr>
          <p:cNvPr id="22" name="Image 3" descr="/home/claude/assets/users.png"/>
          <p:cNvPicPr>
            <a:picLocks noChangeAspect="1"/>
          </p:cNvPicPr>
          <p:nvPr/>
        </p:nvPicPr>
        <p:blipFill>
          <a:blip r:embed="rId6"/>
          <a:stretch>
            <a:fillRect/>
          </a:stretch>
        </p:blipFill>
        <p:spPr>
          <a:xfrm>
            <a:off x="10123597" y="2010583"/>
            <a:ext cx="294803" cy="294803"/>
          </a:xfrm>
          <a:prstGeom prst="rect">
            <a:avLst/>
          </a:prstGeom>
        </p:spPr>
      </p:pic>
      <p:sp>
        <p:nvSpPr>
          <p:cNvPr id="23" name="Text 17"/>
          <p:cNvSpPr/>
          <p:nvPr/>
        </p:nvSpPr>
        <p:spPr>
          <a:xfrm>
            <a:off x="9102852" y="2560320"/>
            <a:ext cx="2336292" cy="274320"/>
          </a:xfrm>
          <a:prstGeom prst="rect">
            <a:avLst/>
          </a:prstGeom>
          <a:noFill/>
          <a:ln/>
        </p:spPr>
        <p:txBody>
          <a:bodyPr wrap="square" lIns="0" tIns="0" rIns="0" bIns="0" rtlCol="0" anchor="ctr"/>
          <a:lstStyle/>
          <a:p>
            <a:pPr marL="0" indent="0" algn="ctr">
              <a:buNone/>
            </a:pPr>
            <a:r>
              <a:rPr lang="en-US" sz="1000" b="1" kern="0" spc="40" dirty="0">
                <a:solidFill>
                  <a:srgbClr val="0F1F3D"/>
                </a:solidFill>
                <a:latin typeface="Calibri" pitchFamily="34" charset="0"/>
                <a:ea typeface="Calibri" pitchFamily="34" charset="-122"/>
                <a:cs typeface="Calibri" pitchFamily="34" charset="-120"/>
              </a:rPr>
              <a:t>FIELD SAMPLE</a:t>
            </a:r>
            <a:endParaRPr lang="en-US" sz="1000" dirty="0"/>
          </a:p>
        </p:txBody>
      </p:sp>
      <p:sp>
        <p:nvSpPr>
          <p:cNvPr id="24" name="Text 18"/>
          <p:cNvSpPr/>
          <p:nvPr/>
        </p:nvSpPr>
        <p:spPr>
          <a:xfrm>
            <a:off x="9102852" y="2880360"/>
            <a:ext cx="2336292" cy="594360"/>
          </a:xfrm>
          <a:prstGeom prst="rect">
            <a:avLst/>
          </a:prstGeom>
          <a:noFill/>
          <a:ln/>
        </p:spPr>
        <p:txBody>
          <a:bodyPr wrap="square" lIns="0" tIns="0" rIns="0" bIns="0" rtlCol="0" anchor="ctr"/>
          <a:lstStyle/>
          <a:p>
            <a:pPr marL="0" indent="0" algn="ctr">
              <a:lnSpc>
                <a:spcPct val="105000"/>
              </a:lnSpc>
              <a:buNone/>
            </a:pPr>
            <a:r>
              <a:rPr lang="en-US" sz="1100" dirty="0">
                <a:solidFill>
                  <a:srgbClr val="6B7280"/>
                </a:solidFill>
                <a:latin typeface="Calibri" pitchFamily="34" charset="0"/>
                <a:ea typeface="Calibri" pitchFamily="34" charset="-122"/>
                <a:cs typeface="Calibri" pitchFamily="34" charset="-120"/>
              </a:rPr>
              <a:t>27 retailers</a:t>
            </a:r>
            <a:endParaRPr lang="en-US" sz="1100" dirty="0"/>
          </a:p>
          <a:p>
            <a:pPr marL="0" indent="0" algn="ctr">
              <a:lnSpc>
                <a:spcPct val="105000"/>
              </a:lnSpc>
              <a:buNone/>
            </a:pPr>
            <a:r>
              <a:rPr lang="en-US" sz="1100" dirty="0">
                <a:solidFill>
                  <a:srgbClr val="6B7280"/>
                </a:solidFill>
                <a:latin typeface="Calibri" pitchFamily="34" charset="0"/>
                <a:ea typeface="Calibri" pitchFamily="34" charset="-122"/>
                <a:cs typeface="Calibri" pitchFamily="34" charset="-120"/>
              </a:rPr>
              <a:t>6 distributors</a:t>
            </a:r>
            <a:endParaRPr lang="en-US" sz="1100" dirty="0"/>
          </a:p>
        </p:txBody>
      </p:sp>
      <p:sp>
        <p:nvSpPr>
          <p:cNvPr id="25" name="Shape 19"/>
          <p:cNvSpPr/>
          <p:nvPr/>
        </p:nvSpPr>
        <p:spPr>
          <a:xfrm>
            <a:off x="640080" y="3886200"/>
            <a:ext cx="10908792" cy="2148840"/>
          </a:xfrm>
          <a:prstGeom prst="roundRect">
            <a:avLst>
              <a:gd name="adj" fmla="val 3404"/>
            </a:avLst>
          </a:prstGeom>
          <a:solidFill>
            <a:srgbClr val="0F1F3D"/>
          </a:solidFill>
          <a:ln/>
          <a:effectLst>
            <a:outerShdw blurRad="88900" dist="38100" dir="5400000" algn="bl" rotWithShape="0">
              <a:srgbClr val="5B6472">
                <a:alpha val="20000"/>
              </a:srgbClr>
            </a:outerShdw>
          </a:effectLst>
        </p:spPr>
        <p:txBody>
          <a:bodyPr/>
          <a:lstStyle/>
          <a:p>
            <a:endParaRPr lang="en-US"/>
          </a:p>
        </p:txBody>
      </p:sp>
      <p:sp>
        <p:nvSpPr>
          <p:cNvPr id="26" name="Text 20"/>
          <p:cNvSpPr/>
          <p:nvPr/>
        </p:nvSpPr>
        <p:spPr>
          <a:xfrm>
            <a:off x="1005840" y="4160520"/>
            <a:ext cx="4572000" cy="274320"/>
          </a:xfrm>
          <a:prstGeom prst="rect">
            <a:avLst/>
          </a:prstGeom>
          <a:noFill/>
          <a:ln/>
        </p:spPr>
        <p:txBody>
          <a:bodyPr wrap="square" lIns="0" tIns="0" rIns="0" bIns="0" rtlCol="0" anchor="ctr"/>
          <a:lstStyle/>
          <a:p>
            <a:pPr marL="0" indent="0">
              <a:buNone/>
            </a:pPr>
            <a:r>
              <a:rPr lang="en-US" sz="1050" b="1" kern="0" spc="100" dirty="0">
                <a:solidFill>
                  <a:srgbClr val="10A37F"/>
                </a:solidFill>
                <a:latin typeface="Calibri" pitchFamily="34" charset="0"/>
                <a:ea typeface="Calibri" pitchFamily="34" charset="-122"/>
                <a:cs typeface="Calibri" pitchFamily="34" charset="-120"/>
              </a:rPr>
              <a:t>PROJECT TRACK</a:t>
            </a:r>
            <a:endParaRPr lang="en-US" sz="1050" dirty="0"/>
          </a:p>
        </p:txBody>
      </p:sp>
      <p:sp>
        <p:nvSpPr>
          <p:cNvPr id="27" name="Text 21"/>
          <p:cNvSpPr/>
          <p:nvPr/>
        </p:nvSpPr>
        <p:spPr>
          <a:xfrm>
            <a:off x="1005840" y="4434840"/>
            <a:ext cx="9966960" cy="45720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Distributor Survey, Retailer Onboarding &amp; Multi-Brand Analysis</a:t>
            </a:r>
            <a:endParaRPr lang="en-US" sz="1700" dirty="0"/>
          </a:p>
        </p:txBody>
      </p:sp>
      <p:sp>
        <p:nvSpPr>
          <p:cNvPr id="28" name="Text 22"/>
          <p:cNvSpPr/>
          <p:nvPr/>
        </p:nvSpPr>
        <p:spPr>
          <a:xfrm>
            <a:off x="1005840" y="4956048"/>
            <a:ext cx="9966960" cy="320040"/>
          </a:xfrm>
          <a:prstGeom prst="rect">
            <a:avLst/>
          </a:prstGeom>
          <a:noFill/>
          <a:ln/>
        </p:spPr>
        <p:txBody>
          <a:bodyPr wrap="square" lIns="0" tIns="0" rIns="0" bIns="0" rtlCol="0" anchor="ctr"/>
          <a:lstStyle/>
          <a:p>
            <a:pPr marL="0" indent="0">
              <a:buNone/>
            </a:pPr>
            <a:r>
              <a:rPr lang="en-US" sz="1250" dirty="0">
                <a:solidFill>
                  <a:srgbClr val="C7D3E8"/>
                </a:solidFill>
                <a:latin typeface="Calibri" pitchFamily="34" charset="0"/>
                <a:ea typeface="Calibri" pitchFamily="34" charset="-122"/>
                <a:cs typeface="Calibri" pitchFamily="34" charset="-120"/>
              </a:rPr>
              <a:t>Areas Covered: Mukherjee Nagar  •  GTB Nagar  •  Gandhi Vihar  •  Indra Vihar</a:t>
            </a:r>
            <a:endParaRPr lang="en-US" sz="1250" dirty="0"/>
          </a:p>
        </p:txBody>
      </p:sp>
      <p:sp>
        <p:nvSpPr>
          <p:cNvPr id="29" name="Text 23"/>
          <p:cNvSpPr/>
          <p:nvPr/>
        </p:nvSpPr>
        <p:spPr>
          <a:xfrm>
            <a:off x="1005840" y="5349240"/>
            <a:ext cx="9966960" cy="548640"/>
          </a:xfrm>
          <a:prstGeom prst="rect">
            <a:avLst/>
          </a:prstGeom>
          <a:noFill/>
          <a:ln/>
        </p:spPr>
        <p:txBody>
          <a:bodyPr wrap="square" lIns="0" tIns="0" rIns="0" bIns="0" rtlCol="0" anchor="ctr"/>
          <a:lstStyle/>
          <a:p>
            <a:pPr marL="0" indent="0">
              <a:lnSpc>
                <a:spcPct val="115000"/>
              </a:lnSpc>
              <a:buNone/>
            </a:pPr>
            <a:r>
              <a:rPr lang="en-US" sz="1100" dirty="0">
                <a:solidFill>
                  <a:srgbClr val="C7D3E8"/>
                </a:solidFill>
                <a:latin typeface="Calibri" pitchFamily="34" charset="0"/>
                <a:ea typeface="Calibri" pitchFamily="34" charset="-122"/>
                <a:cs typeface="Calibri" pitchFamily="34" charset="-120"/>
              </a:rPr>
              <a:t>The internship combined primary field research across retailers and distributors with dashboard-based analysis in Microsoft Power BI, producing a repeatable framework for retailer onboarding and multi-brand expansion.</a:t>
            </a:r>
            <a:endParaRPr lang="en-US" sz="1100" dirty="0"/>
          </a:p>
        </p:txBody>
      </p:sp>
      <p:sp>
        <p:nvSpPr>
          <p:cNvPr id="30" name="Text 24"/>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31" name="Text 25"/>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COMPANY PROFILE</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About the Sponsoring Organization</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01 – INTRODUCTION</a:t>
            </a:r>
            <a:endParaRPr lang="en-US" sz="1050" dirty="0"/>
          </a:p>
        </p:txBody>
      </p:sp>
      <p:sp>
        <p:nvSpPr>
          <p:cNvPr id="5" name="Shape 3"/>
          <p:cNvSpPr/>
          <p:nvPr/>
        </p:nvSpPr>
        <p:spPr>
          <a:xfrm>
            <a:off x="640080" y="1600200"/>
            <a:ext cx="822960" cy="822960"/>
          </a:xfrm>
          <a:prstGeom prst="ellipse">
            <a:avLst/>
          </a:prstGeom>
          <a:solidFill>
            <a:srgbClr val="0F1F3D"/>
          </a:solidFill>
          <a:ln/>
        </p:spPr>
        <p:txBody>
          <a:bodyPr/>
          <a:lstStyle/>
          <a:p>
            <a:endParaRPr lang="en-US"/>
          </a:p>
        </p:txBody>
      </p:sp>
      <p:pic>
        <p:nvPicPr>
          <p:cNvPr id="6" name="Image 0" descr="/home/claude/assets/building.png"/>
          <p:cNvPicPr>
            <a:picLocks noChangeAspect="1"/>
          </p:cNvPicPr>
          <p:nvPr/>
        </p:nvPicPr>
        <p:blipFill>
          <a:blip r:embed="rId3"/>
          <a:stretch>
            <a:fillRect/>
          </a:stretch>
        </p:blipFill>
        <p:spPr>
          <a:xfrm>
            <a:off x="837590" y="1797710"/>
            <a:ext cx="427939" cy="427939"/>
          </a:xfrm>
          <a:prstGeom prst="rect">
            <a:avLst/>
          </a:prstGeom>
        </p:spPr>
      </p:pic>
      <p:sp>
        <p:nvSpPr>
          <p:cNvPr id="7" name="Text 4"/>
          <p:cNvSpPr/>
          <p:nvPr/>
        </p:nvSpPr>
        <p:spPr>
          <a:xfrm>
            <a:off x="1691640" y="1627632"/>
            <a:ext cx="8229600" cy="365760"/>
          </a:xfrm>
          <a:prstGeom prst="rect">
            <a:avLst/>
          </a:prstGeom>
          <a:noFill/>
          <a:ln/>
        </p:spPr>
        <p:txBody>
          <a:bodyPr wrap="square" lIns="0" tIns="0" rIns="0" bIns="0" rtlCol="0" anchor="ctr"/>
          <a:lstStyle/>
          <a:p>
            <a:pPr marL="0" indent="0">
              <a:buNone/>
            </a:pPr>
            <a:r>
              <a:rPr lang="en-US" sz="1900" b="1" dirty="0">
                <a:solidFill>
                  <a:srgbClr val="0F1F3D"/>
                </a:solidFill>
                <a:latin typeface="Cambria" pitchFamily="34" charset="0"/>
                <a:ea typeface="Cambria" pitchFamily="34" charset="-122"/>
                <a:cs typeface="Cambria" pitchFamily="34" charset="-120"/>
              </a:rPr>
              <a:t>NextG Apex India Pvt. Ltd.</a:t>
            </a:r>
            <a:endParaRPr lang="en-US" sz="1900" dirty="0"/>
          </a:p>
        </p:txBody>
      </p:sp>
      <p:sp>
        <p:nvSpPr>
          <p:cNvPr id="8" name="Text 5"/>
          <p:cNvSpPr/>
          <p:nvPr/>
        </p:nvSpPr>
        <p:spPr>
          <a:xfrm>
            <a:off x="1691640" y="2011680"/>
            <a:ext cx="8229600" cy="32004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Navi Mumbai, Maharashtra  —  FMCG Distribution &amp; Retail</a:t>
            </a:r>
            <a:endParaRPr lang="en-US" sz="1250" dirty="0"/>
          </a:p>
        </p:txBody>
      </p:sp>
      <p:sp>
        <p:nvSpPr>
          <p:cNvPr id="9" name="Text 6"/>
          <p:cNvSpPr/>
          <p:nvPr/>
        </p:nvSpPr>
        <p:spPr>
          <a:xfrm>
            <a:off x="640080" y="2606040"/>
            <a:ext cx="10881360" cy="777240"/>
          </a:xfrm>
          <a:prstGeom prst="rect">
            <a:avLst/>
          </a:prstGeom>
          <a:noFill/>
          <a:ln/>
        </p:spPr>
        <p:txBody>
          <a:bodyPr wrap="square" lIns="0" tIns="0" rIns="0" bIns="0" rtlCol="0" anchor="ctr"/>
          <a:lstStyle/>
          <a:p>
            <a:pPr marL="0" indent="0">
              <a:lnSpc>
                <a:spcPct val="120000"/>
              </a:lnSpc>
              <a:buNone/>
            </a:pPr>
            <a:r>
              <a:rPr lang="en-US" sz="1250" dirty="0">
                <a:solidFill>
                  <a:srgbClr val="2B2E33"/>
                </a:solidFill>
                <a:latin typeface="Calibri" pitchFamily="34" charset="0"/>
                <a:ea typeface="Calibri" pitchFamily="34" charset="-122"/>
                <a:cs typeface="Calibri" pitchFamily="34" charset="-120"/>
              </a:rPr>
              <a:t>NextG Apex works with a network of distributors and retailers to reach end consumers across urban markets. The organization sponsored this internship to gain a ground-level understanding of how its products and competing brands move through local distribution and retail channels in North Delhi.</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3520440"/>
          <a:ext cx="10908792" cy="2560320"/>
        </p:xfrm>
        <a:graphic>
          <a:graphicData uri="http://schemas.openxmlformats.org/drawingml/2006/table">
            <a:tbl>
              <a:tblPr/>
              <a:tblGrid>
                <a:gridCol w="3291840">
                  <a:extLst>
                    <a:ext uri="{9D8B030D-6E8A-4147-A177-3AD203B41FA5}">
                      <a16:colId xmlns:a16="http://schemas.microsoft.com/office/drawing/2014/main" val="20000"/>
                    </a:ext>
                  </a:extLst>
                </a:gridCol>
                <a:gridCol w="7616952">
                  <a:extLst>
                    <a:ext uri="{9D8B030D-6E8A-4147-A177-3AD203B41FA5}">
                      <a16:colId xmlns:a16="http://schemas.microsoft.com/office/drawing/2014/main" val="20001"/>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Particular</a:t>
                      </a:r>
                      <a:endParaRPr lang="en-US" sz="115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0F1F3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Detail</a:t>
                      </a:r>
                      <a:endParaRPr lang="en-US" sz="115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0F1F3D"/>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Nature of Business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FMCG – Distribution &amp; Retail</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Year of Establishment</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Not available</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Head Office</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Navi Mumbai, Maharashtra</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Product Categories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Breakfast Cereals, Peanut Butter, Rice, Pulses, Beverages &amp; FMCG Products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Market Presence</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Maharashtra and other distribution markets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Internship Focus Market</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North Delhi micro-market</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6"/>
                  </a:ext>
                </a:extLst>
              </a:tr>
            </a:tbl>
          </a:graphicData>
        </a:graphic>
      </p:graphicFrame>
      <p:sp>
        <p:nvSpPr>
          <p:cNvPr id="11" name="Text 7"/>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12" name="Text 8"/>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INDUSTRY OVERVIEW</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The FMCG Distribution Landscape</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01 – INTRODUCTION</a:t>
            </a:r>
            <a:endParaRPr lang="en-US" sz="1050" dirty="0"/>
          </a:p>
        </p:txBody>
      </p:sp>
      <p:sp>
        <p:nvSpPr>
          <p:cNvPr id="5" name="Text 3"/>
          <p:cNvSpPr/>
          <p:nvPr/>
        </p:nvSpPr>
        <p:spPr>
          <a:xfrm>
            <a:off x="640080" y="1508760"/>
            <a:ext cx="10881360" cy="594360"/>
          </a:xfrm>
          <a:prstGeom prst="rect">
            <a:avLst/>
          </a:prstGeom>
          <a:noFill/>
          <a:ln/>
        </p:spPr>
        <p:txBody>
          <a:bodyPr wrap="square" lIns="0" tIns="0" rIns="0" bIns="0" rtlCol="0" anchor="ctr"/>
          <a:lstStyle/>
          <a:p>
            <a:pPr marL="0" indent="0">
              <a:lnSpc>
                <a:spcPct val="120000"/>
              </a:lnSpc>
              <a:buNone/>
            </a:pPr>
            <a:r>
              <a:rPr lang="en-US" sz="1250" dirty="0">
                <a:solidFill>
                  <a:srgbClr val="2B2E33"/>
                </a:solidFill>
                <a:latin typeface="Calibri" pitchFamily="34" charset="0"/>
                <a:ea typeface="Calibri" pitchFamily="34" charset="-122"/>
                <a:cs typeface="Calibri" pitchFamily="34" charset="-120"/>
              </a:rPr>
              <a:t>Indian FMCG products reach consumers through a layered structure. In dense urban markets such as North Delhi, this structure is highly fragmented — a single locality can be served by multiple distributors.</a:t>
            </a:r>
            <a:endParaRPr lang="en-US" sz="1250" dirty="0"/>
          </a:p>
        </p:txBody>
      </p:sp>
      <p:sp>
        <p:nvSpPr>
          <p:cNvPr id="6" name="Shape 4"/>
          <p:cNvSpPr/>
          <p:nvPr/>
        </p:nvSpPr>
        <p:spPr>
          <a:xfrm>
            <a:off x="640080" y="2331720"/>
            <a:ext cx="2286000" cy="960120"/>
          </a:xfrm>
          <a:prstGeom prst="roundRect">
            <a:avLst>
              <a:gd name="adj" fmla="val 7619"/>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7" name="Shape 5"/>
          <p:cNvSpPr/>
          <p:nvPr/>
        </p:nvSpPr>
        <p:spPr>
          <a:xfrm>
            <a:off x="804672" y="2496312"/>
            <a:ext cx="457200" cy="457200"/>
          </a:xfrm>
          <a:prstGeom prst="ellipse">
            <a:avLst/>
          </a:prstGeom>
          <a:solidFill>
            <a:srgbClr val="0F1F3D"/>
          </a:solidFill>
          <a:ln/>
        </p:spPr>
        <p:txBody>
          <a:bodyPr/>
          <a:lstStyle/>
          <a:p>
            <a:endParaRPr lang="en-US"/>
          </a:p>
        </p:txBody>
      </p:sp>
      <p:pic>
        <p:nvPicPr>
          <p:cNvPr id="8" name="Image 0" descr="/home/claude/assets/building_w.png"/>
          <p:cNvPicPr>
            <a:picLocks noChangeAspect="1"/>
          </p:cNvPicPr>
          <p:nvPr/>
        </p:nvPicPr>
        <p:blipFill>
          <a:blip r:embed="rId3"/>
          <a:stretch>
            <a:fillRect/>
          </a:stretch>
        </p:blipFill>
        <p:spPr>
          <a:xfrm>
            <a:off x="905256" y="2596896"/>
            <a:ext cx="256032" cy="256032"/>
          </a:xfrm>
          <a:prstGeom prst="rect">
            <a:avLst/>
          </a:prstGeom>
        </p:spPr>
      </p:pic>
      <p:sp>
        <p:nvSpPr>
          <p:cNvPr id="9" name="Text 6"/>
          <p:cNvSpPr/>
          <p:nvPr/>
        </p:nvSpPr>
        <p:spPr>
          <a:xfrm>
            <a:off x="777240" y="2971800"/>
            <a:ext cx="2011680" cy="274320"/>
          </a:xfrm>
          <a:prstGeom prst="rect">
            <a:avLst/>
          </a:prstGeom>
          <a:noFill/>
          <a:ln/>
        </p:spPr>
        <p:txBody>
          <a:bodyPr wrap="square" lIns="0" tIns="0" rIns="0" bIns="0" rtlCol="0" anchor="ctr"/>
          <a:lstStyle/>
          <a:p>
            <a:pPr marL="0" indent="0">
              <a:buNone/>
            </a:pPr>
            <a:r>
              <a:rPr lang="en-US" sz="1200" b="1" dirty="0">
                <a:solidFill>
                  <a:srgbClr val="0F1F3D"/>
                </a:solidFill>
                <a:latin typeface="Calibri" pitchFamily="34" charset="0"/>
                <a:ea typeface="Calibri" pitchFamily="34" charset="-122"/>
                <a:cs typeface="Calibri" pitchFamily="34" charset="-120"/>
              </a:rPr>
              <a:t>Brand / Company</a:t>
            </a:r>
            <a:endParaRPr lang="en-US" sz="1200" dirty="0"/>
          </a:p>
        </p:txBody>
      </p:sp>
      <p:pic>
        <p:nvPicPr>
          <p:cNvPr id="10" name="Image 1" descr="/home/claude/assets/arrow_n.png"/>
          <p:cNvPicPr>
            <a:picLocks noChangeAspect="1"/>
          </p:cNvPicPr>
          <p:nvPr/>
        </p:nvPicPr>
        <p:blipFill>
          <a:blip r:embed="rId4"/>
          <a:stretch>
            <a:fillRect/>
          </a:stretch>
        </p:blipFill>
        <p:spPr>
          <a:xfrm>
            <a:off x="2980944" y="2702052"/>
            <a:ext cx="219456" cy="219456"/>
          </a:xfrm>
          <a:prstGeom prst="rect">
            <a:avLst/>
          </a:prstGeom>
        </p:spPr>
      </p:pic>
      <p:sp>
        <p:nvSpPr>
          <p:cNvPr id="11" name="Shape 7"/>
          <p:cNvSpPr/>
          <p:nvPr/>
        </p:nvSpPr>
        <p:spPr>
          <a:xfrm>
            <a:off x="3429000" y="2331720"/>
            <a:ext cx="2286000" cy="960120"/>
          </a:xfrm>
          <a:prstGeom prst="roundRect">
            <a:avLst>
              <a:gd name="adj" fmla="val 7619"/>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2" name="Shape 8"/>
          <p:cNvSpPr/>
          <p:nvPr/>
        </p:nvSpPr>
        <p:spPr>
          <a:xfrm>
            <a:off x="3593592" y="2496312"/>
            <a:ext cx="457200" cy="457200"/>
          </a:xfrm>
          <a:prstGeom prst="ellipse">
            <a:avLst/>
          </a:prstGeom>
          <a:solidFill>
            <a:srgbClr val="0F1F3D"/>
          </a:solidFill>
          <a:ln/>
        </p:spPr>
        <p:txBody>
          <a:bodyPr/>
          <a:lstStyle/>
          <a:p>
            <a:endParaRPr lang="en-US"/>
          </a:p>
        </p:txBody>
      </p:sp>
      <p:pic>
        <p:nvPicPr>
          <p:cNvPr id="13" name="Image 2" descr="/home/claude/assets/truck_w.png"/>
          <p:cNvPicPr>
            <a:picLocks noChangeAspect="1"/>
          </p:cNvPicPr>
          <p:nvPr/>
        </p:nvPicPr>
        <p:blipFill>
          <a:blip r:embed="rId5"/>
          <a:stretch>
            <a:fillRect/>
          </a:stretch>
        </p:blipFill>
        <p:spPr>
          <a:xfrm>
            <a:off x="3694176" y="2596896"/>
            <a:ext cx="256032" cy="256032"/>
          </a:xfrm>
          <a:prstGeom prst="rect">
            <a:avLst/>
          </a:prstGeom>
        </p:spPr>
      </p:pic>
      <p:sp>
        <p:nvSpPr>
          <p:cNvPr id="14" name="Text 9"/>
          <p:cNvSpPr/>
          <p:nvPr/>
        </p:nvSpPr>
        <p:spPr>
          <a:xfrm>
            <a:off x="3566160" y="2971800"/>
            <a:ext cx="2011680" cy="274320"/>
          </a:xfrm>
          <a:prstGeom prst="rect">
            <a:avLst/>
          </a:prstGeom>
          <a:noFill/>
          <a:ln/>
        </p:spPr>
        <p:txBody>
          <a:bodyPr wrap="square" lIns="0" tIns="0" rIns="0" bIns="0" rtlCol="0" anchor="ctr"/>
          <a:lstStyle/>
          <a:p>
            <a:pPr marL="0" indent="0">
              <a:buNone/>
            </a:pPr>
            <a:r>
              <a:rPr lang="en-US" sz="1200" b="1" dirty="0">
                <a:solidFill>
                  <a:srgbClr val="0F1F3D"/>
                </a:solidFill>
                <a:latin typeface="Calibri" pitchFamily="34" charset="0"/>
                <a:ea typeface="Calibri" pitchFamily="34" charset="-122"/>
                <a:cs typeface="Calibri" pitchFamily="34" charset="-120"/>
              </a:rPr>
              <a:t>Distributor</a:t>
            </a:r>
            <a:endParaRPr lang="en-US" sz="1200" dirty="0"/>
          </a:p>
        </p:txBody>
      </p:sp>
      <p:pic>
        <p:nvPicPr>
          <p:cNvPr id="15" name="Image 3" descr="/home/claude/assets/arrow_n.png"/>
          <p:cNvPicPr>
            <a:picLocks noChangeAspect="1"/>
          </p:cNvPicPr>
          <p:nvPr/>
        </p:nvPicPr>
        <p:blipFill>
          <a:blip r:embed="rId4"/>
          <a:stretch>
            <a:fillRect/>
          </a:stretch>
        </p:blipFill>
        <p:spPr>
          <a:xfrm>
            <a:off x="5769864" y="2702052"/>
            <a:ext cx="219456" cy="219456"/>
          </a:xfrm>
          <a:prstGeom prst="rect">
            <a:avLst/>
          </a:prstGeom>
        </p:spPr>
      </p:pic>
      <p:sp>
        <p:nvSpPr>
          <p:cNvPr id="16" name="Shape 10"/>
          <p:cNvSpPr/>
          <p:nvPr/>
        </p:nvSpPr>
        <p:spPr>
          <a:xfrm>
            <a:off x="6217920" y="2331720"/>
            <a:ext cx="2286000" cy="960120"/>
          </a:xfrm>
          <a:prstGeom prst="roundRect">
            <a:avLst>
              <a:gd name="adj" fmla="val 7619"/>
            </a:avLst>
          </a:prstGeom>
          <a:solidFill>
            <a:srgbClr val="10A37F"/>
          </a:solidFill>
          <a:ln/>
          <a:effectLst>
            <a:outerShdw blurRad="88900" dist="38100" dir="5400000" algn="bl" rotWithShape="0">
              <a:srgbClr val="5B6472">
                <a:alpha val="20000"/>
              </a:srgbClr>
            </a:outerShdw>
          </a:effectLst>
        </p:spPr>
        <p:txBody>
          <a:bodyPr/>
          <a:lstStyle/>
          <a:p>
            <a:endParaRPr lang="en-US"/>
          </a:p>
        </p:txBody>
      </p:sp>
      <p:sp>
        <p:nvSpPr>
          <p:cNvPr id="17" name="Shape 11"/>
          <p:cNvSpPr/>
          <p:nvPr/>
        </p:nvSpPr>
        <p:spPr>
          <a:xfrm>
            <a:off x="6382512" y="2496312"/>
            <a:ext cx="457200" cy="457200"/>
          </a:xfrm>
          <a:prstGeom prst="ellipse">
            <a:avLst/>
          </a:prstGeom>
          <a:solidFill>
            <a:srgbClr val="FFFFFF"/>
          </a:solidFill>
          <a:ln/>
        </p:spPr>
        <p:txBody>
          <a:bodyPr/>
          <a:lstStyle/>
          <a:p>
            <a:endParaRPr lang="en-US"/>
          </a:p>
        </p:txBody>
      </p:sp>
      <p:pic>
        <p:nvPicPr>
          <p:cNvPr id="18" name="Image 4" descr="/home/claude/assets/store_n.png"/>
          <p:cNvPicPr>
            <a:picLocks noChangeAspect="1"/>
          </p:cNvPicPr>
          <p:nvPr/>
        </p:nvPicPr>
        <p:blipFill>
          <a:blip r:embed="rId6"/>
          <a:stretch>
            <a:fillRect/>
          </a:stretch>
        </p:blipFill>
        <p:spPr>
          <a:xfrm>
            <a:off x="6483096" y="2596896"/>
            <a:ext cx="256032" cy="256032"/>
          </a:xfrm>
          <a:prstGeom prst="rect">
            <a:avLst/>
          </a:prstGeom>
        </p:spPr>
      </p:pic>
      <p:sp>
        <p:nvSpPr>
          <p:cNvPr id="19" name="Text 12"/>
          <p:cNvSpPr/>
          <p:nvPr/>
        </p:nvSpPr>
        <p:spPr>
          <a:xfrm>
            <a:off x="6355080" y="2971800"/>
            <a:ext cx="20116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Retailer</a:t>
            </a:r>
            <a:endParaRPr lang="en-US" sz="1200" dirty="0"/>
          </a:p>
        </p:txBody>
      </p:sp>
      <p:pic>
        <p:nvPicPr>
          <p:cNvPr id="20" name="Image 5" descr="/home/claude/assets/arrow_n.png"/>
          <p:cNvPicPr>
            <a:picLocks noChangeAspect="1"/>
          </p:cNvPicPr>
          <p:nvPr/>
        </p:nvPicPr>
        <p:blipFill>
          <a:blip r:embed="rId4"/>
          <a:stretch>
            <a:fillRect/>
          </a:stretch>
        </p:blipFill>
        <p:spPr>
          <a:xfrm>
            <a:off x="8558784" y="2702052"/>
            <a:ext cx="219456" cy="219456"/>
          </a:xfrm>
          <a:prstGeom prst="rect">
            <a:avLst/>
          </a:prstGeom>
        </p:spPr>
      </p:pic>
      <p:sp>
        <p:nvSpPr>
          <p:cNvPr id="21" name="Shape 13"/>
          <p:cNvSpPr/>
          <p:nvPr/>
        </p:nvSpPr>
        <p:spPr>
          <a:xfrm>
            <a:off x="9006840" y="2331720"/>
            <a:ext cx="2286000" cy="960120"/>
          </a:xfrm>
          <a:prstGeom prst="roundRect">
            <a:avLst>
              <a:gd name="adj" fmla="val 7619"/>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2" name="Shape 14"/>
          <p:cNvSpPr/>
          <p:nvPr/>
        </p:nvSpPr>
        <p:spPr>
          <a:xfrm>
            <a:off x="9171432" y="2496312"/>
            <a:ext cx="457200" cy="457200"/>
          </a:xfrm>
          <a:prstGeom prst="ellipse">
            <a:avLst/>
          </a:prstGeom>
          <a:solidFill>
            <a:srgbClr val="0F1F3D"/>
          </a:solidFill>
          <a:ln/>
        </p:spPr>
        <p:txBody>
          <a:bodyPr/>
          <a:lstStyle/>
          <a:p>
            <a:endParaRPr lang="en-US"/>
          </a:p>
        </p:txBody>
      </p:sp>
      <p:pic>
        <p:nvPicPr>
          <p:cNvPr id="23" name="Image 6" descr="/home/claude/assets/users_w.png"/>
          <p:cNvPicPr>
            <a:picLocks noChangeAspect="1"/>
          </p:cNvPicPr>
          <p:nvPr/>
        </p:nvPicPr>
        <p:blipFill>
          <a:blip r:embed="rId7"/>
          <a:stretch>
            <a:fillRect/>
          </a:stretch>
        </p:blipFill>
        <p:spPr>
          <a:xfrm>
            <a:off x="9272016" y="2596896"/>
            <a:ext cx="256032" cy="256032"/>
          </a:xfrm>
          <a:prstGeom prst="rect">
            <a:avLst/>
          </a:prstGeom>
        </p:spPr>
      </p:pic>
      <p:sp>
        <p:nvSpPr>
          <p:cNvPr id="24" name="Text 15"/>
          <p:cNvSpPr/>
          <p:nvPr/>
        </p:nvSpPr>
        <p:spPr>
          <a:xfrm>
            <a:off x="9144000" y="2971800"/>
            <a:ext cx="2011680" cy="274320"/>
          </a:xfrm>
          <a:prstGeom prst="rect">
            <a:avLst/>
          </a:prstGeom>
          <a:noFill/>
          <a:ln/>
        </p:spPr>
        <p:txBody>
          <a:bodyPr wrap="square" lIns="0" tIns="0" rIns="0" bIns="0" rtlCol="0" anchor="ctr"/>
          <a:lstStyle/>
          <a:p>
            <a:pPr marL="0" indent="0">
              <a:buNone/>
            </a:pPr>
            <a:r>
              <a:rPr lang="en-US" sz="1200" b="1" dirty="0">
                <a:solidFill>
                  <a:srgbClr val="0F1F3D"/>
                </a:solidFill>
                <a:latin typeface="Calibri" pitchFamily="34" charset="0"/>
                <a:ea typeface="Calibri" pitchFamily="34" charset="-122"/>
                <a:cs typeface="Calibri" pitchFamily="34" charset="-120"/>
              </a:rPr>
              <a:t>Consumer</a:t>
            </a:r>
            <a:endParaRPr lang="en-US" sz="1200" dirty="0"/>
          </a:p>
        </p:txBody>
      </p:sp>
      <p:sp>
        <p:nvSpPr>
          <p:cNvPr id="25" name="Shape 16"/>
          <p:cNvSpPr/>
          <p:nvPr/>
        </p:nvSpPr>
        <p:spPr>
          <a:xfrm>
            <a:off x="640080" y="3611880"/>
            <a:ext cx="3502152" cy="2377440"/>
          </a:xfrm>
          <a:prstGeom prst="roundRect">
            <a:avLst>
              <a:gd name="adj" fmla="val 3077"/>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6" name="Shape 17"/>
          <p:cNvSpPr/>
          <p:nvPr/>
        </p:nvSpPr>
        <p:spPr>
          <a:xfrm>
            <a:off x="896112" y="3886200"/>
            <a:ext cx="82296" cy="82296"/>
          </a:xfrm>
          <a:prstGeom prst="roundRect">
            <a:avLst>
              <a:gd name="adj" fmla="val 22222"/>
            </a:avLst>
          </a:prstGeom>
          <a:solidFill>
            <a:srgbClr val="10A37F"/>
          </a:solidFill>
          <a:ln/>
        </p:spPr>
        <p:txBody>
          <a:bodyPr/>
          <a:lstStyle/>
          <a:p>
            <a:endParaRPr lang="en-US"/>
          </a:p>
        </p:txBody>
      </p:sp>
      <p:sp>
        <p:nvSpPr>
          <p:cNvPr id="27" name="Text 18"/>
          <p:cNvSpPr/>
          <p:nvPr/>
        </p:nvSpPr>
        <p:spPr>
          <a:xfrm>
            <a:off x="1097280" y="3794760"/>
            <a:ext cx="2862072" cy="320040"/>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Kirana Stores</a:t>
            </a:r>
            <a:endParaRPr lang="en-US" sz="1300" dirty="0"/>
          </a:p>
        </p:txBody>
      </p:sp>
      <p:sp>
        <p:nvSpPr>
          <p:cNvPr id="28" name="Text 19"/>
          <p:cNvSpPr/>
          <p:nvPr/>
        </p:nvSpPr>
        <p:spPr>
          <a:xfrm>
            <a:off x="896112" y="4206240"/>
            <a:ext cx="2999232" cy="1645920"/>
          </a:xfrm>
          <a:prstGeom prst="rect">
            <a:avLst/>
          </a:prstGeom>
          <a:noFill/>
          <a:ln/>
        </p:spPr>
        <p:txBody>
          <a:bodyPr wrap="square" lIns="0" tIns="0" rIns="0" bIns="0" rtlCol="0" anchor="ctr"/>
          <a:lstStyle/>
          <a:p>
            <a:pPr marL="0" indent="0">
              <a:lnSpc>
                <a:spcPct val="125000"/>
              </a:lnSpc>
              <a:buNone/>
            </a:pPr>
            <a:r>
              <a:rPr lang="en-US" sz="1100" dirty="0">
                <a:solidFill>
                  <a:srgbClr val="2B2E33"/>
                </a:solidFill>
                <a:latin typeface="Calibri" pitchFamily="34" charset="0"/>
                <a:ea typeface="Calibri" pitchFamily="34" charset="-122"/>
                <a:cs typeface="Calibri" pitchFamily="34" charset="-120"/>
              </a:rPr>
              <a:t>Dominant by count — proximity to consumers, flexible credit terms, and fast-moving small-quantity stock.</a:t>
            </a:r>
            <a:endParaRPr lang="en-US" sz="1100" dirty="0"/>
          </a:p>
        </p:txBody>
      </p:sp>
      <p:sp>
        <p:nvSpPr>
          <p:cNvPr id="29" name="Shape 20"/>
          <p:cNvSpPr/>
          <p:nvPr/>
        </p:nvSpPr>
        <p:spPr>
          <a:xfrm>
            <a:off x="4343400" y="3611880"/>
            <a:ext cx="3502152" cy="2377440"/>
          </a:xfrm>
          <a:prstGeom prst="roundRect">
            <a:avLst>
              <a:gd name="adj" fmla="val 3077"/>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30" name="Shape 21"/>
          <p:cNvSpPr/>
          <p:nvPr/>
        </p:nvSpPr>
        <p:spPr>
          <a:xfrm>
            <a:off x="4599432" y="3886200"/>
            <a:ext cx="82296" cy="82296"/>
          </a:xfrm>
          <a:prstGeom prst="roundRect">
            <a:avLst>
              <a:gd name="adj" fmla="val 22222"/>
            </a:avLst>
          </a:prstGeom>
          <a:solidFill>
            <a:srgbClr val="10A37F"/>
          </a:solidFill>
          <a:ln/>
        </p:spPr>
        <p:txBody>
          <a:bodyPr/>
          <a:lstStyle/>
          <a:p>
            <a:endParaRPr lang="en-US"/>
          </a:p>
        </p:txBody>
      </p:sp>
      <p:sp>
        <p:nvSpPr>
          <p:cNvPr id="31" name="Text 22"/>
          <p:cNvSpPr/>
          <p:nvPr/>
        </p:nvSpPr>
        <p:spPr>
          <a:xfrm>
            <a:off x="4800600" y="3794760"/>
            <a:ext cx="2862072" cy="320040"/>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Small Supermarkets</a:t>
            </a:r>
            <a:endParaRPr lang="en-US" sz="1300" dirty="0"/>
          </a:p>
        </p:txBody>
      </p:sp>
      <p:sp>
        <p:nvSpPr>
          <p:cNvPr id="32" name="Text 23"/>
          <p:cNvSpPr/>
          <p:nvPr/>
        </p:nvSpPr>
        <p:spPr>
          <a:xfrm>
            <a:off x="4599432" y="4206240"/>
            <a:ext cx="2999232" cy="1645920"/>
          </a:xfrm>
          <a:prstGeom prst="rect">
            <a:avLst/>
          </a:prstGeom>
          <a:noFill/>
          <a:ln/>
        </p:spPr>
        <p:txBody>
          <a:bodyPr wrap="square" lIns="0" tIns="0" rIns="0" bIns="0" rtlCol="0" anchor="ctr"/>
          <a:lstStyle/>
          <a:p>
            <a:pPr marL="0" indent="0">
              <a:lnSpc>
                <a:spcPct val="125000"/>
              </a:lnSpc>
              <a:buNone/>
            </a:pPr>
            <a:r>
              <a:rPr lang="en-US" sz="1100" dirty="0">
                <a:solidFill>
                  <a:srgbClr val="2B2E33"/>
                </a:solidFill>
                <a:latin typeface="Calibri" pitchFamily="34" charset="0"/>
                <a:ea typeface="Calibri" pitchFamily="34" charset="-122"/>
                <a:cs typeface="Calibri" pitchFamily="34" charset="-120"/>
              </a:rPr>
              <a:t>Fewer in number, but a wider assortment and more organized shelf space.</a:t>
            </a:r>
            <a:endParaRPr lang="en-US" sz="1100" dirty="0"/>
          </a:p>
        </p:txBody>
      </p:sp>
      <p:sp>
        <p:nvSpPr>
          <p:cNvPr id="33" name="Shape 24"/>
          <p:cNvSpPr/>
          <p:nvPr/>
        </p:nvSpPr>
        <p:spPr>
          <a:xfrm>
            <a:off x="8046720" y="3611880"/>
            <a:ext cx="3502152" cy="2377440"/>
          </a:xfrm>
          <a:prstGeom prst="roundRect">
            <a:avLst>
              <a:gd name="adj" fmla="val 3077"/>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34" name="Shape 25"/>
          <p:cNvSpPr/>
          <p:nvPr/>
        </p:nvSpPr>
        <p:spPr>
          <a:xfrm>
            <a:off x="8302752" y="3886200"/>
            <a:ext cx="82296" cy="82296"/>
          </a:xfrm>
          <a:prstGeom prst="roundRect">
            <a:avLst>
              <a:gd name="adj" fmla="val 22222"/>
            </a:avLst>
          </a:prstGeom>
          <a:solidFill>
            <a:srgbClr val="10A37F"/>
          </a:solidFill>
          <a:ln/>
        </p:spPr>
        <p:txBody>
          <a:bodyPr/>
          <a:lstStyle/>
          <a:p>
            <a:endParaRPr lang="en-US"/>
          </a:p>
        </p:txBody>
      </p:sp>
      <p:sp>
        <p:nvSpPr>
          <p:cNvPr id="35" name="Text 26"/>
          <p:cNvSpPr/>
          <p:nvPr/>
        </p:nvSpPr>
        <p:spPr>
          <a:xfrm>
            <a:off x="8503920" y="3794760"/>
            <a:ext cx="2862072" cy="320040"/>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Distributors</a:t>
            </a:r>
            <a:endParaRPr lang="en-US" sz="1300" dirty="0"/>
          </a:p>
        </p:txBody>
      </p:sp>
      <p:sp>
        <p:nvSpPr>
          <p:cNvPr id="36" name="Text 27"/>
          <p:cNvSpPr/>
          <p:nvPr/>
        </p:nvSpPr>
        <p:spPr>
          <a:xfrm>
            <a:off x="8302752" y="4206240"/>
            <a:ext cx="2999232" cy="1645920"/>
          </a:xfrm>
          <a:prstGeom prst="rect">
            <a:avLst/>
          </a:prstGeom>
          <a:noFill/>
          <a:ln/>
        </p:spPr>
        <p:txBody>
          <a:bodyPr wrap="square" lIns="0" tIns="0" rIns="0" bIns="0" rtlCol="0" anchor="ctr"/>
          <a:lstStyle/>
          <a:p>
            <a:pPr marL="0" indent="0">
              <a:lnSpc>
                <a:spcPct val="125000"/>
              </a:lnSpc>
              <a:buNone/>
            </a:pPr>
            <a:r>
              <a:rPr lang="en-US" sz="1100" dirty="0">
                <a:solidFill>
                  <a:srgbClr val="2B2E33"/>
                </a:solidFill>
                <a:latin typeface="Calibri" pitchFamily="34" charset="0"/>
                <a:ea typeface="Calibri" pitchFamily="34" charset="-122"/>
                <a:cs typeface="Calibri" pitchFamily="34" charset="-120"/>
              </a:rPr>
              <a:t>Profitability driven by retailers served, delivery reach, category mix and retailer relationships — and the primary gatekeepers for onboarding.</a:t>
            </a:r>
            <a:endParaRPr lang="en-US" sz="1100" dirty="0"/>
          </a:p>
        </p:txBody>
      </p:sp>
      <p:sp>
        <p:nvSpPr>
          <p:cNvPr id="37" name="Text 28"/>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38" name="Text 29"/>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Why This Study Was Needed</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02 – FOUNDATION</a:t>
            </a:r>
            <a:endParaRPr lang="en-US" sz="1050" dirty="0"/>
          </a:p>
        </p:txBody>
      </p:sp>
      <p:sp>
        <p:nvSpPr>
          <p:cNvPr id="5" name="Shape 3"/>
          <p:cNvSpPr/>
          <p:nvPr/>
        </p:nvSpPr>
        <p:spPr>
          <a:xfrm>
            <a:off x="640080" y="1554480"/>
            <a:ext cx="5257800" cy="4480560"/>
          </a:xfrm>
          <a:prstGeom prst="roundRect">
            <a:avLst>
              <a:gd name="adj" fmla="val 1633"/>
            </a:avLst>
          </a:prstGeom>
          <a:solidFill>
            <a:srgbClr val="0F1F3D"/>
          </a:solidFill>
          <a:ln/>
          <a:effectLst>
            <a:outerShdw blurRad="88900" dist="38100" dir="5400000" algn="bl" rotWithShape="0">
              <a:srgbClr val="5B6472">
                <a:alpha val="20000"/>
              </a:srgbClr>
            </a:outerShdw>
          </a:effectLst>
        </p:spPr>
        <p:txBody>
          <a:bodyPr/>
          <a:lstStyle/>
          <a:p>
            <a:endParaRPr lang="en-US"/>
          </a:p>
        </p:txBody>
      </p:sp>
      <p:sp>
        <p:nvSpPr>
          <p:cNvPr id="6" name="Text 4"/>
          <p:cNvSpPr/>
          <p:nvPr/>
        </p:nvSpPr>
        <p:spPr>
          <a:xfrm>
            <a:off x="960120" y="1783080"/>
            <a:ext cx="3657600" cy="274320"/>
          </a:xfrm>
          <a:prstGeom prst="rect">
            <a:avLst/>
          </a:prstGeom>
          <a:noFill/>
          <a:ln/>
        </p:spPr>
        <p:txBody>
          <a:bodyPr wrap="square" lIns="0" tIns="0" rIns="0" bIns="0" rtlCol="0" anchor="ctr"/>
          <a:lstStyle/>
          <a:p>
            <a:pPr marL="0" indent="0">
              <a:buNone/>
            </a:pPr>
            <a:r>
              <a:rPr lang="en-US" sz="1050" b="1" kern="0" spc="100" dirty="0">
                <a:solidFill>
                  <a:srgbClr val="10A37F"/>
                </a:solidFill>
                <a:latin typeface="Calibri" pitchFamily="34" charset="0"/>
                <a:ea typeface="Calibri" pitchFamily="34" charset="-122"/>
                <a:cs typeface="Calibri" pitchFamily="34" charset="-120"/>
              </a:rPr>
              <a:t>THE GAP</a:t>
            </a:r>
            <a:endParaRPr lang="en-US" sz="1050" dirty="0"/>
          </a:p>
        </p:txBody>
      </p:sp>
      <p:sp>
        <p:nvSpPr>
          <p:cNvPr id="7" name="Text 5"/>
          <p:cNvSpPr/>
          <p:nvPr/>
        </p:nvSpPr>
        <p:spPr>
          <a:xfrm>
            <a:off x="960120" y="2084832"/>
            <a:ext cx="4663440" cy="640080"/>
          </a:xfrm>
          <a:prstGeom prst="rect">
            <a:avLst/>
          </a:prstGeom>
          <a:noFill/>
          <a:ln/>
        </p:spPr>
        <p:txBody>
          <a:bodyPr wrap="square" lIns="0" tIns="0" rIns="0" bIns="0" rtlCol="0" anchor="ctr"/>
          <a:lstStyle/>
          <a:p>
            <a:pPr marL="0" indent="0">
              <a:lnSpc>
                <a:spcPct val="120000"/>
              </a:lnSpc>
              <a:buNone/>
            </a:pPr>
            <a:r>
              <a:rPr lang="en-US" sz="1200" dirty="0">
                <a:solidFill>
                  <a:srgbClr val="DCE4F2"/>
                </a:solidFill>
                <a:latin typeface="Calibri" pitchFamily="34" charset="0"/>
                <a:ea typeface="Calibri" pitchFamily="34" charset="-122"/>
                <a:cs typeface="Calibri" pitchFamily="34" charset="-120"/>
              </a:rPr>
              <a:t>Before this project, the organization lacked a structured, up-to-date view of retailers and distributors across the four target localities.</a:t>
            </a:r>
            <a:endParaRPr lang="en-US" sz="1200" dirty="0"/>
          </a:p>
        </p:txBody>
      </p:sp>
      <p:sp>
        <p:nvSpPr>
          <p:cNvPr id="8" name="Shape 6"/>
          <p:cNvSpPr/>
          <p:nvPr/>
        </p:nvSpPr>
        <p:spPr>
          <a:xfrm>
            <a:off x="960120" y="2862072"/>
            <a:ext cx="128016" cy="128016"/>
          </a:xfrm>
          <a:prstGeom prst="ellipse">
            <a:avLst/>
          </a:prstGeom>
          <a:solidFill>
            <a:srgbClr val="10A37F"/>
          </a:solidFill>
          <a:ln/>
        </p:spPr>
        <p:txBody>
          <a:bodyPr/>
          <a:lstStyle/>
          <a:p>
            <a:endParaRPr lang="en-US"/>
          </a:p>
        </p:txBody>
      </p:sp>
      <p:sp>
        <p:nvSpPr>
          <p:cNvPr id="9" name="Text 7"/>
          <p:cNvSpPr/>
          <p:nvPr/>
        </p:nvSpPr>
        <p:spPr>
          <a:xfrm>
            <a:off x="1234440" y="2752344"/>
            <a:ext cx="4434840" cy="603504"/>
          </a:xfrm>
          <a:prstGeom prst="rect">
            <a:avLst/>
          </a:prstGeom>
          <a:noFill/>
          <a:ln/>
        </p:spPr>
        <p:txBody>
          <a:bodyPr wrap="square" lIns="0" tIns="0" rIns="0" bIns="0" rtlCol="0" anchor="ctr"/>
          <a:lstStyle/>
          <a:p>
            <a:pPr marL="0" indent="0">
              <a:lnSpc>
                <a:spcPct val="115000"/>
              </a:lnSpc>
              <a:buNone/>
            </a:pPr>
            <a:r>
              <a:rPr lang="en-US" sz="1100" dirty="0">
                <a:solidFill>
                  <a:srgbClr val="DCE4F2"/>
                </a:solidFill>
                <a:latin typeface="Calibri" pitchFamily="34" charset="0"/>
                <a:ea typeface="Calibri" pitchFamily="34" charset="-122"/>
                <a:cs typeface="Calibri" pitchFamily="34" charset="-120"/>
              </a:rPr>
              <a:t>Which store types &amp; localities have the greatest retailer concentration?</a:t>
            </a:r>
            <a:endParaRPr lang="en-US" sz="1100" dirty="0"/>
          </a:p>
        </p:txBody>
      </p:sp>
      <p:sp>
        <p:nvSpPr>
          <p:cNvPr id="10" name="Shape 8"/>
          <p:cNvSpPr/>
          <p:nvPr/>
        </p:nvSpPr>
        <p:spPr>
          <a:xfrm>
            <a:off x="960120" y="3547872"/>
            <a:ext cx="128016" cy="128016"/>
          </a:xfrm>
          <a:prstGeom prst="ellipse">
            <a:avLst/>
          </a:prstGeom>
          <a:solidFill>
            <a:srgbClr val="10A37F"/>
          </a:solidFill>
          <a:ln/>
        </p:spPr>
        <p:txBody>
          <a:bodyPr/>
          <a:lstStyle/>
          <a:p>
            <a:endParaRPr lang="en-US"/>
          </a:p>
        </p:txBody>
      </p:sp>
      <p:sp>
        <p:nvSpPr>
          <p:cNvPr id="11" name="Text 9"/>
          <p:cNvSpPr/>
          <p:nvPr/>
        </p:nvSpPr>
        <p:spPr>
          <a:xfrm>
            <a:off x="1234440" y="3438144"/>
            <a:ext cx="4434840" cy="603504"/>
          </a:xfrm>
          <a:prstGeom prst="rect">
            <a:avLst/>
          </a:prstGeom>
          <a:noFill/>
          <a:ln/>
        </p:spPr>
        <p:txBody>
          <a:bodyPr wrap="square" lIns="0" tIns="0" rIns="0" bIns="0" rtlCol="0" anchor="ctr"/>
          <a:lstStyle/>
          <a:p>
            <a:pPr marL="0" indent="0">
              <a:lnSpc>
                <a:spcPct val="115000"/>
              </a:lnSpc>
              <a:buNone/>
            </a:pPr>
            <a:r>
              <a:rPr lang="en-US" sz="1100" dirty="0">
                <a:solidFill>
                  <a:srgbClr val="DCE4F2"/>
                </a:solidFill>
                <a:latin typeface="Calibri" pitchFamily="34" charset="0"/>
                <a:ea typeface="Calibri" pitchFamily="34" charset="-122"/>
                <a:cs typeface="Calibri" pitchFamily="34" charset="-120"/>
              </a:rPr>
              <a:t>Which brands / categories already have strong shelf presence — and which are under-represented?</a:t>
            </a:r>
            <a:endParaRPr lang="en-US" sz="1100" dirty="0"/>
          </a:p>
        </p:txBody>
      </p:sp>
      <p:sp>
        <p:nvSpPr>
          <p:cNvPr id="12" name="Shape 10"/>
          <p:cNvSpPr/>
          <p:nvPr/>
        </p:nvSpPr>
        <p:spPr>
          <a:xfrm>
            <a:off x="960120" y="4233672"/>
            <a:ext cx="128016" cy="128016"/>
          </a:xfrm>
          <a:prstGeom prst="ellipse">
            <a:avLst/>
          </a:prstGeom>
          <a:solidFill>
            <a:srgbClr val="10A37F"/>
          </a:solidFill>
          <a:ln/>
        </p:spPr>
        <p:txBody>
          <a:bodyPr/>
          <a:lstStyle/>
          <a:p>
            <a:endParaRPr lang="en-US"/>
          </a:p>
        </p:txBody>
      </p:sp>
      <p:sp>
        <p:nvSpPr>
          <p:cNvPr id="13" name="Text 11"/>
          <p:cNvSpPr/>
          <p:nvPr/>
        </p:nvSpPr>
        <p:spPr>
          <a:xfrm>
            <a:off x="1234440" y="4123944"/>
            <a:ext cx="4434840" cy="603504"/>
          </a:xfrm>
          <a:prstGeom prst="rect">
            <a:avLst/>
          </a:prstGeom>
          <a:noFill/>
          <a:ln/>
        </p:spPr>
        <p:txBody>
          <a:bodyPr wrap="square" lIns="0" tIns="0" rIns="0" bIns="0" rtlCol="0" anchor="ctr"/>
          <a:lstStyle/>
          <a:p>
            <a:pPr marL="0" indent="0">
              <a:lnSpc>
                <a:spcPct val="115000"/>
              </a:lnSpc>
              <a:buNone/>
            </a:pPr>
            <a:r>
              <a:rPr lang="en-US" sz="1100" dirty="0">
                <a:solidFill>
                  <a:srgbClr val="DCE4F2"/>
                </a:solidFill>
                <a:latin typeface="Calibri" pitchFamily="34" charset="0"/>
                <a:ea typeface="Calibri" pitchFamily="34" charset="-122"/>
                <a:cs typeface="Calibri" pitchFamily="34" charset="-120"/>
              </a:rPr>
              <a:t>Which distributors have the scale to support new onboarding or brand lines?</a:t>
            </a:r>
            <a:endParaRPr lang="en-US" sz="1100" dirty="0"/>
          </a:p>
        </p:txBody>
      </p:sp>
      <p:sp>
        <p:nvSpPr>
          <p:cNvPr id="14" name="Shape 12"/>
          <p:cNvSpPr/>
          <p:nvPr/>
        </p:nvSpPr>
        <p:spPr>
          <a:xfrm>
            <a:off x="960120" y="4919472"/>
            <a:ext cx="128016" cy="128016"/>
          </a:xfrm>
          <a:prstGeom prst="ellipse">
            <a:avLst/>
          </a:prstGeom>
          <a:solidFill>
            <a:srgbClr val="10A37F"/>
          </a:solidFill>
          <a:ln/>
        </p:spPr>
        <p:txBody>
          <a:bodyPr/>
          <a:lstStyle/>
          <a:p>
            <a:endParaRPr lang="en-US"/>
          </a:p>
        </p:txBody>
      </p:sp>
      <p:sp>
        <p:nvSpPr>
          <p:cNvPr id="15" name="Text 13"/>
          <p:cNvSpPr/>
          <p:nvPr/>
        </p:nvSpPr>
        <p:spPr>
          <a:xfrm>
            <a:off x="1234440" y="4809744"/>
            <a:ext cx="4434840" cy="603504"/>
          </a:xfrm>
          <a:prstGeom prst="rect">
            <a:avLst/>
          </a:prstGeom>
          <a:noFill/>
          <a:ln/>
        </p:spPr>
        <p:txBody>
          <a:bodyPr wrap="square" lIns="0" tIns="0" rIns="0" bIns="0" rtlCol="0" anchor="ctr"/>
          <a:lstStyle/>
          <a:p>
            <a:pPr marL="0" indent="0">
              <a:lnSpc>
                <a:spcPct val="115000"/>
              </a:lnSpc>
              <a:buNone/>
            </a:pPr>
            <a:r>
              <a:rPr lang="en-US" sz="1100" dirty="0">
                <a:solidFill>
                  <a:srgbClr val="DCE4F2"/>
                </a:solidFill>
                <a:latin typeface="Calibri" pitchFamily="34" charset="0"/>
                <a:ea typeface="Calibri" pitchFamily="34" charset="-122"/>
                <a:cs typeface="Calibri" pitchFamily="34" charset="-120"/>
              </a:rPr>
              <a:t>What operational challenges do distributors face when onboarding retailers?</a:t>
            </a:r>
            <a:endParaRPr lang="en-US" sz="1100" dirty="0"/>
          </a:p>
        </p:txBody>
      </p:sp>
      <p:sp>
        <p:nvSpPr>
          <p:cNvPr id="16" name="Text 14"/>
          <p:cNvSpPr/>
          <p:nvPr/>
        </p:nvSpPr>
        <p:spPr>
          <a:xfrm>
            <a:off x="6172200" y="1691640"/>
            <a:ext cx="5029200" cy="274320"/>
          </a:xfrm>
          <a:prstGeom prst="rect">
            <a:avLst/>
          </a:prstGeom>
          <a:noFill/>
          <a:ln/>
        </p:spPr>
        <p:txBody>
          <a:bodyPr wrap="square" lIns="0" tIns="0" rIns="0" bIns="0" rtlCol="0" anchor="ctr"/>
          <a:lstStyle/>
          <a:p>
            <a:pPr marL="0" indent="0">
              <a:buNone/>
            </a:pPr>
            <a:r>
              <a:rPr lang="en-US" sz="1050" b="1" kern="0" spc="100" dirty="0">
                <a:solidFill>
                  <a:srgbClr val="0B7A5F"/>
                </a:solidFill>
                <a:latin typeface="Calibri" pitchFamily="34" charset="0"/>
                <a:ea typeface="Calibri" pitchFamily="34" charset="-122"/>
                <a:cs typeface="Calibri" pitchFamily="34" charset="-120"/>
              </a:rPr>
              <a:t>NEED FOR THE STUDY</a:t>
            </a:r>
            <a:endParaRPr lang="en-US" sz="1050" dirty="0"/>
          </a:p>
        </p:txBody>
      </p:sp>
      <p:sp>
        <p:nvSpPr>
          <p:cNvPr id="17" name="Shape 15"/>
          <p:cNvSpPr/>
          <p:nvPr/>
        </p:nvSpPr>
        <p:spPr>
          <a:xfrm>
            <a:off x="6172200" y="2103120"/>
            <a:ext cx="438912" cy="438912"/>
          </a:xfrm>
          <a:prstGeom prst="ellipse">
            <a:avLst/>
          </a:prstGeom>
          <a:solidFill>
            <a:srgbClr val="0F1F3D"/>
          </a:solidFill>
          <a:ln/>
        </p:spPr>
        <p:txBody>
          <a:bodyPr/>
          <a:lstStyle/>
          <a:p>
            <a:endParaRPr lang="en-US"/>
          </a:p>
        </p:txBody>
      </p:sp>
      <p:pic>
        <p:nvPicPr>
          <p:cNvPr id="18" name="Image 0" descr="/home/claude/assets/growth.png"/>
          <p:cNvPicPr>
            <a:picLocks noChangeAspect="1"/>
          </p:cNvPicPr>
          <p:nvPr/>
        </p:nvPicPr>
        <p:blipFill>
          <a:blip r:embed="rId3"/>
          <a:stretch>
            <a:fillRect/>
          </a:stretch>
        </p:blipFill>
        <p:spPr>
          <a:xfrm>
            <a:off x="6277539" y="2208459"/>
            <a:ext cx="228234" cy="228234"/>
          </a:xfrm>
          <a:prstGeom prst="rect">
            <a:avLst/>
          </a:prstGeom>
        </p:spPr>
      </p:pic>
      <p:sp>
        <p:nvSpPr>
          <p:cNvPr id="19" name="Text 16"/>
          <p:cNvSpPr/>
          <p:nvPr/>
        </p:nvSpPr>
        <p:spPr>
          <a:xfrm>
            <a:off x="6766560" y="2075688"/>
            <a:ext cx="4800600" cy="292608"/>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Markets Shift Fast</a:t>
            </a:r>
            <a:endParaRPr lang="en-US" sz="1300" dirty="0"/>
          </a:p>
        </p:txBody>
      </p:sp>
      <p:sp>
        <p:nvSpPr>
          <p:cNvPr id="20" name="Text 17"/>
          <p:cNvSpPr/>
          <p:nvPr/>
        </p:nvSpPr>
        <p:spPr>
          <a:xfrm>
            <a:off x="6766560" y="2350008"/>
            <a:ext cx="4800600" cy="667512"/>
          </a:xfrm>
          <a:prstGeom prst="rect">
            <a:avLst/>
          </a:prstGeom>
          <a:noFill/>
          <a:ln/>
        </p:spPr>
        <p:txBody>
          <a:bodyPr wrap="square" lIns="0" tIns="0" rIns="0" bIns="0" rtlCol="0" anchor="ctr"/>
          <a:lstStyle/>
          <a:p>
            <a:pPr marL="0" indent="0">
              <a:lnSpc>
                <a:spcPct val="110000"/>
              </a:lnSpc>
              <a:buNone/>
            </a:pPr>
            <a:r>
              <a:rPr lang="en-US" sz="1080" dirty="0">
                <a:solidFill>
                  <a:srgbClr val="2B2E33"/>
                </a:solidFill>
                <a:latin typeface="Calibri" pitchFamily="34" charset="0"/>
                <a:ea typeface="Calibri" pitchFamily="34" charset="-122"/>
                <a:cs typeface="Calibri" pitchFamily="34" charset="-120"/>
              </a:rPr>
              <a:t>Outlets, brand mix, and distributor capacity change frequently — stale data is unreliable for onboarding.</a:t>
            </a:r>
            <a:endParaRPr lang="en-US" sz="1080" dirty="0"/>
          </a:p>
        </p:txBody>
      </p:sp>
      <p:sp>
        <p:nvSpPr>
          <p:cNvPr id="21" name="Shape 18"/>
          <p:cNvSpPr/>
          <p:nvPr/>
        </p:nvSpPr>
        <p:spPr>
          <a:xfrm>
            <a:off x="6172200" y="3063240"/>
            <a:ext cx="438912" cy="438912"/>
          </a:xfrm>
          <a:prstGeom prst="ellipse">
            <a:avLst/>
          </a:prstGeom>
          <a:solidFill>
            <a:srgbClr val="0F1F3D"/>
          </a:solidFill>
          <a:ln/>
        </p:spPr>
        <p:txBody>
          <a:bodyPr/>
          <a:lstStyle/>
          <a:p>
            <a:endParaRPr lang="en-US"/>
          </a:p>
        </p:txBody>
      </p:sp>
      <p:pic>
        <p:nvPicPr>
          <p:cNvPr id="22" name="Image 1" descr="/home/claude/assets/target.png"/>
          <p:cNvPicPr>
            <a:picLocks noChangeAspect="1"/>
          </p:cNvPicPr>
          <p:nvPr/>
        </p:nvPicPr>
        <p:blipFill>
          <a:blip r:embed="rId4"/>
          <a:stretch>
            <a:fillRect/>
          </a:stretch>
        </p:blipFill>
        <p:spPr>
          <a:xfrm>
            <a:off x="6277539" y="3168579"/>
            <a:ext cx="228234" cy="228234"/>
          </a:xfrm>
          <a:prstGeom prst="rect">
            <a:avLst/>
          </a:prstGeom>
        </p:spPr>
      </p:pic>
      <p:sp>
        <p:nvSpPr>
          <p:cNvPr id="23" name="Text 19"/>
          <p:cNvSpPr/>
          <p:nvPr/>
        </p:nvSpPr>
        <p:spPr>
          <a:xfrm>
            <a:off x="6766560" y="3035808"/>
            <a:ext cx="4800600" cy="292608"/>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Consistency in Onboarding</a:t>
            </a:r>
            <a:endParaRPr lang="en-US" sz="1300" dirty="0"/>
          </a:p>
        </p:txBody>
      </p:sp>
      <p:sp>
        <p:nvSpPr>
          <p:cNvPr id="24" name="Text 20"/>
          <p:cNvSpPr/>
          <p:nvPr/>
        </p:nvSpPr>
        <p:spPr>
          <a:xfrm>
            <a:off x="6766560" y="3310128"/>
            <a:ext cx="4800600" cy="667512"/>
          </a:xfrm>
          <a:prstGeom prst="rect">
            <a:avLst/>
          </a:prstGeom>
          <a:noFill/>
          <a:ln/>
        </p:spPr>
        <p:txBody>
          <a:bodyPr wrap="square" lIns="0" tIns="0" rIns="0" bIns="0" rtlCol="0" anchor="ctr"/>
          <a:lstStyle/>
          <a:p>
            <a:pPr marL="0" indent="0">
              <a:lnSpc>
                <a:spcPct val="110000"/>
              </a:lnSpc>
              <a:buNone/>
            </a:pPr>
            <a:r>
              <a:rPr lang="en-US" sz="1080" dirty="0">
                <a:solidFill>
                  <a:srgbClr val="2B2E33"/>
                </a:solidFill>
                <a:latin typeface="Calibri" pitchFamily="34" charset="0"/>
                <a:ea typeface="Calibri" pitchFamily="34" charset="-122"/>
                <a:cs typeface="Calibri" pitchFamily="34" charset="-120"/>
              </a:rPr>
              <a:t>Without a framework, high-potential outlets get overlooked while poor-fit ones get onboarded.</a:t>
            </a:r>
            <a:endParaRPr lang="en-US" sz="1080" dirty="0"/>
          </a:p>
        </p:txBody>
      </p:sp>
      <p:sp>
        <p:nvSpPr>
          <p:cNvPr id="25" name="Shape 21"/>
          <p:cNvSpPr/>
          <p:nvPr/>
        </p:nvSpPr>
        <p:spPr>
          <a:xfrm>
            <a:off x="6172200" y="4023360"/>
            <a:ext cx="438912" cy="438912"/>
          </a:xfrm>
          <a:prstGeom prst="ellipse">
            <a:avLst/>
          </a:prstGeom>
          <a:solidFill>
            <a:srgbClr val="0F1F3D"/>
          </a:solidFill>
          <a:ln/>
        </p:spPr>
        <p:txBody>
          <a:bodyPr/>
          <a:lstStyle/>
          <a:p>
            <a:endParaRPr lang="en-US"/>
          </a:p>
        </p:txBody>
      </p:sp>
      <p:pic>
        <p:nvPicPr>
          <p:cNvPr id="26" name="Image 2" descr="/home/claude/assets/chart.png"/>
          <p:cNvPicPr>
            <a:picLocks noChangeAspect="1"/>
          </p:cNvPicPr>
          <p:nvPr/>
        </p:nvPicPr>
        <p:blipFill>
          <a:blip r:embed="rId5"/>
          <a:stretch>
            <a:fillRect/>
          </a:stretch>
        </p:blipFill>
        <p:spPr>
          <a:xfrm>
            <a:off x="6277539" y="4128699"/>
            <a:ext cx="228234" cy="228234"/>
          </a:xfrm>
          <a:prstGeom prst="rect">
            <a:avLst/>
          </a:prstGeom>
        </p:spPr>
      </p:pic>
      <p:sp>
        <p:nvSpPr>
          <p:cNvPr id="27" name="Text 22"/>
          <p:cNvSpPr/>
          <p:nvPr/>
        </p:nvSpPr>
        <p:spPr>
          <a:xfrm>
            <a:off x="6766560" y="3995928"/>
            <a:ext cx="4800600" cy="292608"/>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Demand-Led Expansion</a:t>
            </a:r>
            <a:endParaRPr lang="en-US" sz="1300" dirty="0"/>
          </a:p>
        </p:txBody>
      </p:sp>
      <p:sp>
        <p:nvSpPr>
          <p:cNvPr id="28" name="Text 23"/>
          <p:cNvSpPr/>
          <p:nvPr/>
        </p:nvSpPr>
        <p:spPr>
          <a:xfrm>
            <a:off x="6766560" y="4270248"/>
            <a:ext cx="4800600" cy="667512"/>
          </a:xfrm>
          <a:prstGeom prst="rect">
            <a:avLst/>
          </a:prstGeom>
          <a:noFill/>
          <a:ln/>
        </p:spPr>
        <p:txBody>
          <a:bodyPr wrap="square" lIns="0" tIns="0" rIns="0" bIns="0" rtlCol="0" anchor="ctr"/>
          <a:lstStyle/>
          <a:p>
            <a:pPr marL="0" indent="0">
              <a:lnSpc>
                <a:spcPct val="110000"/>
              </a:lnSpc>
              <a:buNone/>
            </a:pPr>
            <a:r>
              <a:rPr lang="en-US" sz="1080" dirty="0">
                <a:solidFill>
                  <a:srgbClr val="2B2E33"/>
                </a:solidFill>
                <a:latin typeface="Calibri" pitchFamily="34" charset="0"/>
                <a:ea typeface="Calibri" pitchFamily="34" charset="-122"/>
                <a:cs typeface="Calibri" pitchFamily="34" charset="-120"/>
              </a:rPr>
              <a:t>Expansion without category-level demand data risks saturated categories or missed opportunity.</a:t>
            </a:r>
            <a:endParaRPr lang="en-US" sz="1080" dirty="0"/>
          </a:p>
        </p:txBody>
      </p:sp>
      <p:sp>
        <p:nvSpPr>
          <p:cNvPr id="29" name="Shape 24"/>
          <p:cNvSpPr/>
          <p:nvPr/>
        </p:nvSpPr>
        <p:spPr>
          <a:xfrm>
            <a:off x="6172200" y="4983480"/>
            <a:ext cx="438912" cy="438912"/>
          </a:xfrm>
          <a:prstGeom prst="ellipse">
            <a:avLst/>
          </a:prstGeom>
          <a:solidFill>
            <a:srgbClr val="0F1F3D"/>
          </a:solidFill>
          <a:ln/>
        </p:spPr>
        <p:txBody>
          <a:bodyPr/>
          <a:lstStyle/>
          <a:p>
            <a:endParaRPr lang="en-US"/>
          </a:p>
        </p:txBody>
      </p:sp>
      <p:pic>
        <p:nvPicPr>
          <p:cNvPr id="30" name="Image 3" descr="/home/claude/assets/truck.png"/>
          <p:cNvPicPr>
            <a:picLocks noChangeAspect="1"/>
          </p:cNvPicPr>
          <p:nvPr/>
        </p:nvPicPr>
        <p:blipFill>
          <a:blip r:embed="rId6"/>
          <a:stretch>
            <a:fillRect/>
          </a:stretch>
        </p:blipFill>
        <p:spPr>
          <a:xfrm>
            <a:off x="6277539" y="5088819"/>
            <a:ext cx="228234" cy="228234"/>
          </a:xfrm>
          <a:prstGeom prst="rect">
            <a:avLst/>
          </a:prstGeom>
        </p:spPr>
      </p:pic>
      <p:sp>
        <p:nvSpPr>
          <p:cNvPr id="31" name="Text 25"/>
          <p:cNvSpPr/>
          <p:nvPr/>
        </p:nvSpPr>
        <p:spPr>
          <a:xfrm>
            <a:off x="6766560" y="4956048"/>
            <a:ext cx="4800600" cy="292608"/>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Distributor Capacity First</a:t>
            </a:r>
            <a:endParaRPr lang="en-US" sz="1300" dirty="0"/>
          </a:p>
        </p:txBody>
      </p:sp>
      <p:sp>
        <p:nvSpPr>
          <p:cNvPr id="32" name="Text 26"/>
          <p:cNvSpPr/>
          <p:nvPr/>
        </p:nvSpPr>
        <p:spPr>
          <a:xfrm>
            <a:off x="6766560" y="5230368"/>
            <a:ext cx="4800600" cy="667512"/>
          </a:xfrm>
          <a:prstGeom prst="rect">
            <a:avLst/>
          </a:prstGeom>
          <a:noFill/>
          <a:ln/>
        </p:spPr>
        <p:txBody>
          <a:bodyPr wrap="square" lIns="0" tIns="0" rIns="0" bIns="0" rtlCol="0" anchor="ctr"/>
          <a:lstStyle/>
          <a:p>
            <a:pPr marL="0" indent="0">
              <a:lnSpc>
                <a:spcPct val="110000"/>
              </a:lnSpc>
              <a:buNone/>
            </a:pPr>
            <a:r>
              <a:rPr lang="en-US" sz="1080" dirty="0">
                <a:solidFill>
                  <a:srgbClr val="2B2E33"/>
                </a:solidFill>
                <a:latin typeface="Calibri" pitchFamily="34" charset="0"/>
                <a:ea typeface="Calibri" pitchFamily="34" charset="-122"/>
                <a:cs typeface="Calibri" pitchFamily="34" charset="-120"/>
              </a:rPr>
              <a:t>Distributors are the primary channel partner — their operational capacity must be understood first.</a:t>
            </a:r>
            <a:endParaRPr lang="en-US" sz="1080" dirty="0"/>
          </a:p>
        </p:txBody>
      </p:sp>
      <p:sp>
        <p:nvSpPr>
          <p:cNvPr id="33" name="Text 27"/>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34" name="Text 28"/>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PROJECT OBJECTIVES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What the Internship Set Out to Achieve</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02 – FOUNDATION</a:t>
            </a:r>
            <a:endParaRPr lang="en-US" sz="1050" dirty="0"/>
          </a:p>
        </p:txBody>
      </p:sp>
      <p:sp>
        <p:nvSpPr>
          <p:cNvPr id="5" name="Shape 3"/>
          <p:cNvSpPr/>
          <p:nvPr/>
        </p:nvSpPr>
        <p:spPr>
          <a:xfrm>
            <a:off x="640080" y="1691640"/>
            <a:ext cx="3502152"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6" name="Text 4"/>
          <p:cNvSpPr/>
          <p:nvPr/>
        </p:nvSpPr>
        <p:spPr>
          <a:xfrm>
            <a:off x="822960" y="1828800"/>
            <a:ext cx="914400" cy="365760"/>
          </a:xfrm>
          <a:prstGeom prst="rect">
            <a:avLst/>
          </a:prstGeom>
          <a:noFill/>
          <a:ln/>
        </p:spPr>
        <p:txBody>
          <a:bodyPr wrap="square" lIns="0" tIns="0" rIns="0" bIns="0" rtlCol="0" anchor="ctr"/>
          <a:lstStyle/>
          <a:p>
            <a:pPr marL="0" indent="0">
              <a:buNone/>
            </a:pPr>
            <a:r>
              <a:rPr lang="en-US" sz="2000" b="1" dirty="0">
                <a:solidFill>
                  <a:srgbClr val="C7CDD6"/>
                </a:solidFill>
                <a:latin typeface="Cambria" pitchFamily="34" charset="0"/>
                <a:ea typeface="Cambria" pitchFamily="34" charset="-122"/>
                <a:cs typeface="Cambria" pitchFamily="34" charset="-120"/>
              </a:rPr>
              <a:t>01</a:t>
            </a:r>
            <a:endParaRPr lang="en-US" sz="2000" dirty="0"/>
          </a:p>
        </p:txBody>
      </p:sp>
      <p:sp>
        <p:nvSpPr>
          <p:cNvPr id="7" name="Shape 5"/>
          <p:cNvSpPr/>
          <p:nvPr/>
        </p:nvSpPr>
        <p:spPr>
          <a:xfrm>
            <a:off x="3483864" y="1856232"/>
            <a:ext cx="457200" cy="457200"/>
          </a:xfrm>
          <a:prstGeom prst="ellipse">
            <a:avLst/>
          </a:prstGeom>
          <a:solidFill>
            <a:srgbClr val="0F1F3D"/>
          </a:solidFill>
          <a:ln/>
        </p:spPr>
        <p:txBody>
          <a:bodyPr/>
          <a:lstStyle/>
          <a:p>
            <a:endParaRPr lang="en-US"/>
          </a:p>
        </p:txBody>
      </p:sp>
      <p:pic>
        <p:nvPicPr>
          <p:cNvPr id="8" name="Image 0" descr="/home/claude/assets/clipboard.png"/>
          <p:cNvPicPr>
            <a:picLocks noChangeAspect="1"/>
          </p:cNvPicPr>
          <p:nvPr/>
        </p:nvPicPr>
        <p:blipFill>
          <a:blip r:embed="rId3"/>
          <a:stretch>
            <a:fillRect/>
          </a:stretch>
        </p:blipFill>
        <p:spPr>
          <a:xfrm>
            <a:off x="3593592" y="1965960"/>
            <a:ext cx="237744" cy="237744"/>
          </a:xfrm>
          <a:prstGeom prst="rect">
            <a:avLst/>
          </a:prstGeom>
        </p:spPr>
      </p:pic>
      <p:sp>
        <p:nvSpPr>
          <p:cNvPr id="9" name="Text 6"/>
          <p:cNvSpPr/>
          <p:nvPr/>
        </p:nvSpPr>
        <p:spPr>
          <a:xfrm>
            <a:off x="841248" y="2404872"/>
            <a:ext cx="3099816" cy="320040"/>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Design &amp; pilot</a:t>
            </a:r>
            <a:endParaRPr lang="en-US" sz="1300" dirty="0"/>
          </a:p>
        </p:txBody>
      </p:sp>
      <p:sp>
        <p:nvSpPr>
          <p:cNvPr id="10" name="Text 7"/>
          <p:cNvSpPr/>
          <p:nvPr/>
        </p:nvSpPr>
        <p:spPr>
          <a:xfrm>
            <a:off x="841248" y="2715768"/>
            <a:ext cx="3099816" cy="868680"/>
          </a:xfrm>
          <a:prstGeom prst="rect">
            <a:avLst/>
          </a:prstGeom>
          <a:noFill/>
          <a:ln/>
        </p:spPr>
        <p:txBody>
          <a:bodyPr wrap="square" lIns="0" tIns="0" rIns="0" bIns="0" rtlCol="0" anchor="ctr"/>
          <a:lstStyle/>
          <a:p>
            <a:pPr marL="0" indent="0">
              <a:lnSpc>
                <a:spcPct val="115000"/>
              </a:lnSpc>
              <a:buNone/>
            </a:pPr>
            <a:r>
              <a:rPr lang="en-US" sz="1050" dirty="0">
                <a:solidFill>
                  <a:srgbClr val="2B2E33"/>
                </a:solidFill>
                <a:latin typeface="Calibri" pitchFamily="34" charset="0"/>
                <a:ea typeface="Calibri" pitchFamily="34" charset="-122"/>
                <a:cs typeface="Calibri" pitchFamily="34" charset="-120"/>
              </a:rPr>
              <a:t>A structured survey instrument for both retailers and distributors in the target localities.</a:t>
            </a:r>
            <a:endParaRPr lang="en-US" sz="1050" dirty="0"/>
          </a:p>
        </p:txBody>
      </p:sp>
      <p:sp>
        <p:nvSpPr>
          <p:cNvPr id="11" name="Shape 8"/>
          <p:cNvSpPr/>
          <p:nvPr/>
        </p:nvSpPr>
        <p:spPr>
          <a:xfrm>
            <a:off x="4343400" y="1691640"/>
            <a:ext cx="3502152"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2" name="Text 9"/>
          <p:cNvSpPr/>
          <p:nvPr/>
        </p:nvSpPr>
        <p:spPr>
          <a:xfrm>
            <a:off x="4526280" y="1828800"/>
            <a:ext cx="914400" cy="365760"/>
          </a:xfrm>
          <a:prstGeom prst="rect">
            <a:avLst/>
          </a:prstGeom>
          <a:noFill/>
          <a:ln/>
        </p:spPr>
        <p:txBody>
          <a:bodyPr wrap="square" lIns="0" tIns="0" rIns="0" bIns="0" rtlCol="0" anchor="ctr"/>
          <a:lstStyle/>
          <a:p>
            <a:pPr marL="0" indent="0">
              <a:buNone/>
            </a:pPr>
            <a:r>
              <a:rPr lang="en-US" sz="2000" b="1" dirty="0">
                <a:solidFill>
                  <a:srgbClr val="C7CDD6"/>
                </a:solidFill>
                <a:latin typeface="Cambria" pitchFamily="34" charset="0"/>
                <a:ea typeface="Cambria" pitchFamily="34" charset="-122"/>
                <a:cs typeface="Cambria" pitchFamily="34" charset="-120"/>
              </a:rPr>
              <a:t>02</a:t>
            </a:r>
            <a:endParaRPr lang="en-US" sz="2000" dirty="0"/>
          </a:p>
        </p:txBody>
      </p:sp>
      <p:sp>
        <p:nvSpPr>
          <p:cNvPr id="13" name="Shape 10"/>
          <p:cNvSpPr/>
          <p:nvPr/>
        </p:nvSpPr>
        <p:spPr>
          <a:xfrm>
            <a:off x="7187184" y="1856232"/>
            <a:ext cx="457200" cy="457200"/>
          </a:xfrm>
          <a:prstGeom prst="ellipse">
            <a:avLst/>
          </a:prstGeom>
          <a:solidFill>
            <a:srgbClr val="0F1F3D"/>
          </a:solidFill>
          <a:ln/>
        </p:spPr>
        <p:txBody>
          <a:bodyPr/>
          <a:lstStyle/>
          <a:p>
            <a:endParaRPr lang="en-US"/>
          </a:p>
        </p:txBody>
      </p:sp>
      <p:pic>
        <p:nvPicPr>
          <p:cNvPr id="14" name="Image 1" descr="/home/claude/assets/store.png"/>
          <p:cNvPicPr>
            <a:picLocks noChangeAspect="1"/>
          </p:cNvPicPr>
          <p:nvPr/>
        </p:nvPicPr>
        <p:blipFill>
          <a:blip r:embed="rId4"/>
          <a:stretch>
            <a:fillRect/>
          </a:stretch>
        </p:blipFill>
        <p:spPr>
          <a:xfrm>
            <a:off x="7296912" y="1965960"/>
            <a:ext cx="237744" cy="237744"/>
          </a:xfrm>
          <a:prstGeom prst="rect">
            <a:avLst/>
          </a:prstGeom>
        </p:spPr>
      </p:pic>
      <p:sp>
        <p:nvSpPr>
          <p:cNvPr id="15" name="Text 11"/>
          <p:cNvSpPr/>
          <p:nvPr/>
        </p:nvSpPr>
        <p:spPr>
          <a:xfrm>
            <a:off x="4544568" y="2404872"/>
            <a:ext cx="3099816" cy="320040"/>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Collect retailer data</a:t>
            </a:r>
            <a:endParaRPr lang="en-US" sz="1300" dirty="0"/>
          </a:p>
        </p:txBody>
      </p:sp>
      <p:sp>
        <p:nvSpPr>
          <p:cNvPr id="16" name="Text 12"/>
          <p:cNvSpPr/>
          <p:nvPr/>
        </p:nvSpPr>
        <p:spPr>
          <a:xfrm>
            <a:off x="4544568" y="2715768"/>
            <a:ext cx="3099816" cy="868680"/>
          </a:xfrm>
          <a:prstGeom prst="rect">
            <a:avLst/>
          </a:prstGeom>
          <a:noFill/>
          <a:ln/>
        </p:spPr>
        <p:txBody>
          <a:bodyPr wrap="square" lIns="0" tIns="0" rIns="0" bIns="0" rtlCol="0" anchor="ctr"/>
          <a:lstStyle/>
          <a:p>
            <a:pPr marL="0" indent="0">
              <a:lnSpc>
                <a:spcPct val="115000"/>
              </a:lnSpc>
              <a:buNone/>
            </a:pPr>
            <a:r>
              <a:rPr lang="en-US" sz="1050" dirty="0">
                <a:solidFill>
                  <a:srgbClr val="2B2E33"/>
                </a:solidFill>
                <a:latin typeface="Calibri" pitchFamily="34" charset="0"/>
                <a:ea typeface="Calibri" pitchFamily="34" charset="-122"/>
                <a:cs typeface="Calibri" pitchFamily="34" charset="-120"/>
              </a:rPr>
              <a:t>Outlet categories, store type, brand &amp; product availability, retail potential, footfall.</a:t>
            </a:r>
            <a:endParaRPr lang="en-US" sz="1050" dirty="0"/>
          </a:p>
        </p:txBody>
      </p:sp>
      <p:sp>
        <p:nvSpPr>
          <p:cNvPr id="17" name="Shape 13"/>
          <p:cNvSpPr/>
          <p:nvPr/>
        </p:nvSpPr>
        <p:spPr>
          <a:xfrm>
            <a:off x="8046720" y="1691640"/>
            <a:ext cx="3502152"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8" name="Text 14"/>
          <p:cNvSpPr/>
          <p:nvPr/>
        </p:nvSpPr>
        <p:spPr>
          <a:xfrm>
            <a:off x="8229600" y="1828800"/>
            <a:ext cx="914400" cy="365760"/>
          </a:xfrm>
          <a:prstGeom prst="rect">
            <a:avLst/>
          </a:prstGeom>
          <a:noFill/>
          <a:ln/>
        </p:spPr>
        <p:txBody>
          <a:bodyPr wrap="square" lIns="0" tIns="0" rIns="0" bIns="0" rtlCol="0" anchor="ctr"/>
          <a:lstStyle/>
          <a:p>
            <a:pPr marL="0" indent="0">
              <a:buNone/>
            </a:pPr>
            <a:r>
              <a:rPr lang="en-US" sz="2000" b="1" dirty="0">
                <a:solidFill>
                  <a:srgbClr val="C7CDD6"/>
                </a:solidFill>
                <a:latin typeface="Cambria" pitchFamily="34" charset="0"/>
                <a:ea typeface="Cambria" pitchFamily="34" charset="-122"/>
                <a:cs typeface="Cambria" pitchFamily="34" charset="-120"/>
              </a:rPr>
              <a:t>03</a:t>
            </a:r>
            <a:endParaRPr lang="en-US" sz="2000" dirty="0"/>
          </a:p>
        </p:txBody>
      </p:sp>
      <p:sp>
        <p:nvSpPr>
          <p:cNvPr id="19" name="Shape 15"/>
          <p:cNvSpPr/>
          <p:nvPr/>
        </p:nvSpPr>
        <p:spPr>
          <a:xfrm>
            <a:off x="10890504" y="1856232"/>
            <a:ext cx="457200" cy="457200"/>
          </a:xfrm>
          <a:prstGeom prst="ellipse">
            <a:avLst/>
          </a:prstGeom>
          <a:solidFill>
            <a:srgbClr val="0F1F3D"/>
          </a:solidFill>
          <a:ln/>
        </p:spPr>
        <p:txBody>
          <a:bodyPr/>
          <a:lstStyle/>
          <a:p>
            <a:endParaRPr lang="en-US"/>
          </a:p>
        </p:txBody>
      </p:sp>
      <p:pic>
        <p:nvPicPr>
          <p:cNvPr id="20" name="Image 2" descr="/home/claude/assets/truck.png"/>
          <p:cNvPicPr>
            <a:picLocks noChangeAspect="1"/>
          </p:cNvPicPr>
          <p:nvPr/>
        </p:nvPicPr>
        <p:blipFill>
          <a:blip r:embed="rId5"/>
          <a:stretch>
            <a:fillRect/>
          </a:stretch>
        </p:blipFill>
        <p:spPr>
          <a:xfrm>
            <a:off x="11000232" y="1965960"/>
            <a:ext cx="237744" cy="237744"/>
          </a:xfrm>
          <a:prstGeom prst="rect">
            <a:avLst/>
          </a:prstGeom>
        </p:spPr>
      </p:pic>
      <p:sp>
        <p:nvSpPr>
          <p:cNvPr id="21" name="Text 16"/>
          <p:cNvSpPr/>
          <p:nvPr/>
        </p:nvSpPr>
        <p:spPr>
          <a:xfrm>
            <a:off x="8247888" y="2404872"/>
            <a:ext cx="3099816" cy="320040"/>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Collect distributor data</a:t>
            </a:r>
            <a:endParaRPr lang="en-US" sz="1300" dirty="0"/>
          </a:p>
        </p:txBody>
      </p:sp>
      <p:sp>
        <p:nvSpPr>
          <p:cNvPr id="22" name="Text 17"/>
          <p:cNvSpPr/>
          <p:nvPr/>
        </p:nvSpPr>
        <p:spPr>
          <a:xfrm>
            <a:off x="8247888" y="2715768"/>
            <a:ext cx="3099816" cy="868680"/>
          </a:xfrm>
          <a:prstGeom prst="rect">
            <a:avLst/>
          </a:prstGeom>
          <a:noFill/>
          <a:ln/>
        </p:spPr>
        <p:txBody>
          <a:bodyPr wrap="square" lIns="0" tIns="0" rIns="0" bIns="0" rtlCol="0" anchor="ctr"/>
          <a:lstStyle/>
          <a:p>
            <a:pPr marL="0" indent="0">
              <a:lnSpc>
                <a:spcPct val="115000"/>
              </a:lnSpc>
              <a:buNone/>
            </a:pPr>
            <a:r>
              <a:rPr lang="en-US" sz="1050" dirty="0">
                <a:solidFill>
                  <a:srgbClr val="2B2E33"/>
                </a:solidFill>
                <a:latin typeface="Calibri" pitchFamily="34" charset="0"/>
                <a:ea typeface="Calibri" pitchFamily="34" charset="-122"/>
                <a:cs typeface="Calibri" pitchFamily="34" charset="-120"/>
              </a:rPr>
              <a:t>Scale, operational capacity, category demand &amp; growth, brand strength, onboarding challenges.</a:t>
            </a:r>
            <a:endParaRPr lang="en-US" sz="1050" dirty="0"/>
          </a:p>
        </p:txBody>
      </p:sp>
      <p:sp>
        <p:nvSpPr>
          <p:cNvPr id="23" name="Shape 18"/>
          <p:cNvSpPr/>
          <p:nvPr/>
        </p:nvSpPr>
        <p:spPr>
          <a:xfrm>
            <a:off x="640080" y="3931920"/>
            <a:ext cx="3502152"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4" name="Text 19"/>
          <p:cNvSpPr/>
          <p:nvPr/>
        </p:nvSpPr>
        <p:spPr>
          <a:xfrm>
            <a:off x="822960" y="4069080"/>
            <a:ext cx="914400" cy="365760"/>
          </a:xfrm>
          <a:prstGeom prst="rect">
            <a:avLst/>
          </a:prstGeom>
          <a:noFill/>
          <a:ln/>
        </p:spPr>
        <p:txBody>
          <a:bodyPr wrap="square" lIns="0" tIns="0" rIns="0" bIns="0" rtlCol="0" anchor="ctr"/>
          <a:lstStyle/>
          <a:p>
            <a:pPr marL="0" indent="0">
              <a:buNone/>
            </a:pPr>
            <a:r>
              <a:rPr lang="en-US" sz="2000" b="1" dirty="0">
                <a:solidFill>
                  <a:srgbClr val="C7CDD6"/>
                </a:solidFill>
                <a:latin typeface="Cambria" pitchFamily="34" charset="0"/>
                <a:ea typeface="Cambria" pitchFamily="34" charset="-122"/>
                <a:cs typeface="Cambria" pitchFamily="34" charset="-120"/>
              </a:rPr>
              <a:t>04</a:t>
            </a:r>
            <a:endParaRPr lang="en-US" sz="2000" dirty="0"/>
          </a:p>
        </p:txBody>
      </p:sp>
      <p:sp>
        <p:nvSpPr>
          <p:cNvPr id="25" name="Shape 20"/>
          <p:cNvSpPr/>
          <p:nvPr/>
        </p:nvSpPr>
        <p:spPr>
          <a:xfrm>
            <a:off x="3483864" y="4096512"/>
            <a:ext cx="457200" cy="457200"/>
          </a:xfrm>
          <a:prstGeom prst="ellipse">
            <a:avLst/>
          </a:prstGeom>
          <a:solidFill>
            <a:srgbClr val="0F1F3D"/>
          </a:solidFill>
          <a:ln/>
        </p:spPr>
        <p:txBody>
          <a:bodyPr/>
          <a:lstStyle/>
          <a:p>
            <a:endParaRPr lang="en-US"/>
          </a:p>
        </p:txBody>
      </p:sp>
      <p:pic>
        <p:nvPicPr>
          <p:cNvPr id="26" name="Image 3" descr="/home/claude/assets/chart.png"/>
          <p:cNvPicPr>
            <a:picLocks noChangeAspect="1"/>
          </p:cNvPicPr>
          <p:nvPr/>
        </p:nvPicPr>
        <p:blipFill>
          <a:blip r:embed="rId6"/>
          <a:stretch>
            <a:fillRect/>
          </a:stretch>
        </p:blipFill>
        <p:spPr>
          <a:xfrm>
            <a:off x="3593592" y="4206240"/>
            <a:ext cx="237744" cy="237744"/>
          </a:xfrm>
          <a:prstGeom prst="rect">
            <a:avLst/>
          </a:prstGeom>
        </p:spPr>
      </p:pic>
      <p:sp>
        <p:nvSpPr>
          <p:cNvPr id="27" name="Text 21"/>
          <p:cNvSpPr/>
          <p:nvPr/>
        </p:nvSpPr>
        <p:spPr>
          <a:xfrm>
            <a:off x="841248" y="4645152"/>
            <a:ext cx="3099816" cy="320040"/>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Analyze patterns</a:t>
            </a:r>
            <a:endParaRPr lang="en-US" sz="1300" dirty="0"/>
          </a:p>
        </p:txBody>
      </p:sp>
      <p:sp>
        <p:nvSpPr>
          <p:cNvPr id="28" name="Text 22"/>
          <p:cNvSpPr/>
          <p:nvPr/>
        </p:nvSpPr>
        <p:spPr>
          <a:xfrm>
            <a:off x="841248" y="4956048"/>
            <a:ext cx="3099816" cy="868680"/>
          </a:xfrm>
          <a:prstGeom prst="rect">
            <a:avLst/>
          </a:prstGeom>
          <a:noFill/>
          <a:ln/>
        </p:spPr>
        <p:txBody>
          <a:bodyPr wrap="square" lIns="0" tIns="0" rIns="0" bIns="0" rtlCol="0" anchor="ctr"/>
          <a:lstStyle/>
          <a:p>
            <a:pPr marL="0" indent="0">
              <a:lnSpc>
                <a:spcPct val="115000"/>
              </a:lnSpc>
              <a:buNone/>
            </a:pPr>
            <a:r>
              <a:rPr lang="en-US" sz="1050" dirty="0">
                <a:solidFill>
                  <a:srgbClr val="2B2E33"/>
                </a:solidFill>
                <a:latin typeface="Calibri" pitchFamily="34" charset="0"/>
                <a:ea typeface="Calibri" pitchFamily="34" charset="-122"/>
                <a:cs typeface="Calibri" pitchFamily="34" charset="-120"/>
              </a:rPr>
              <a:t>Clean, structure and analyze the data to identify patterns across localities, store types &amp; categories.</a:t>
            </a:r>
            <a:endParaRPr lang="en-US" sz="1050" dirty="0"/>
          </a:p>
        </p:txBody>
      </p:sp>
      <p:sp>
        <p:nvSpPr>
          <p:cNvPr id="29" name="Shape 23"/>
          <p:cNvSpPr/>
          <p:nvPr/>
        </p:nvSpPr>
        <p:spPr>
          <a:xfrm>
            <a:off x="4343400" y="3931920"/>
            <a:ext cx="3502152"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30" name="Text 24"/>
          <p:cNvSpPr/>
          <p:nvPr/>
        </p:nvSpPr>
        <p:spPr>
          <a:xfrm>
            <a:off x="4526280" y="4069080"/>
            <a:ext cx="914400" cy="365760"/>
          </a:xfrm>
          <a:prstGeom prst="rect">
            <a:avLst/>
          </a:prstGeom>
          <a:noFill/>
          <a:ln/>
        </p:spPr>
        <p:txBody>
          <a:bodyPr wrap="square" lIns="0" tIns="0" rIns="0" bIns="0" rtlCol="0" anchor="ctr"/>
          <a:lstStyle/>
          <a:p>
            <a:pPr marL="0" indent="0">
              <a:buNone/>
            </a:pPr>
            <a:r>
              <a:rPr lang="en-US" sz="2000" b="1" dirty="0">
                <a:solidFill>
                  <a:srgbClr val="C7CDD6"/>
                </a:solidFill>
                <a:latin typeface="Cambria" pitchFamily="34" charset="0"/>
                <a:ea typeface="Cambria" pitchFamily="34" charset="-122"/>
                <a:cs typeface="Cambria" pitchFamily="34" charset="-120"/>
              </a:rPr>
              <a:t>05</a:t>
            </a:r>
            <a:endParaRPr lang="en-US" sz="2000" dirty="0"/>
          </a:p>
        </p:txBody>
      </p:sp>
      <p:sp>
        <p:nvSpPr>
          <p:cNvPr id="31" name="Shape 25"/>
          <p:cNvSpPr/>
          <p:nvPr/>
        </p:nvSpPr>
        <p:spPr>
          <a:xfrm>
            <a:off x="7187184" y="4096512"/>
            <a:ext cx="457200" cy="457200"/>
          </a:xfrm>
          <a:prstGeom prst="ellipse">
            <a:avLst/>
          </a:prstGeom>
          <a:solidFill>
            <a:srgbClr val="0F1F3D"/>
          </a:solidFill>
          <a:ln/>
        </p:spPr>
        <p:txBody>
          <a:bodyPr/>
          <a:lstStyle/>
          <a:p>
            <a:endParaRPr lang="en-US"/>
          </a:p>
        </p:txBody>
      </p:sp>
      <p:pic>
        <p:nvPicPr>
          <p:cNvPr id="32" name="Image 4" descr="/home/claude/assets/dashboard.png"/>
          <p:cNvPicPr>
            <a:picLocks noChangeAspect="1"/>
          </p:cNvPicPr>
          <p:nvPr/>
        </p:nvPicPr>
        <p:blipFill>
          <a:blip r:embed="rId7"/>
          <a:stretch>
            <a:fillRect/>
          </a:stretch>
        </p:blipFill>
        <p:spPr>
          <a:xfrm>
            <a:off x="7296912" y="4206240"/>
            <a:ext cx="237744" cy="237744"/>
          </a:xfrm>
          <a:prstGeom prst="rect">
            <a:avLst/>
          </a:prstGeom>
        </p:spPr>
      </p:pic>
      <p:sp>
        <p:nvSpPr>
          <p:cNvPr id="33" name="Text 26"/>
          <p:cNvSpPr/>
          <p:nvPr/>
        </p:nvSpPr>
        <p:spPr>
          <a:xfrm>
            <a:off x="4544568" y="4645152"/>
            <a:ext cx="3099816" cy="320040"/>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Build dashboards</a:t>
            </a:r>
            <a:endParaRPr lang="en-US" sz="1300" dirty="0"/>
          </a:p>
        </p:txBody>
      </p:sp>
      <p:sp>
        <p:nvSpPr>
          <p:cNvPr id="34" name="Text 27"/>
          <p:cNvSpPr/>
          <p:nvPr/>
        </p:nvSpPr>
        <p:spPr>
          <a:xfrm>
            <a:off x="4544568" y="4956048"/>
            <a:ext cx="3099816" cy="868680"/>
          </a:xfrm>
          <a:prstGeom prst="rect">
            <a:avLst/>
          </a:prstGeom>
          <a:noFill/>
          <a:ln/>
        </p:spPr>
        <p:txBody>
          <a:bodyPr wrap="square" lIns="0" tIns="0" rIns="0" bIns="0" rtlCol="0" anchor="ctr"/>
          <a:lstStyle/>
          <a:p>
            <a:pPr marL="0" indent="0">
              <a:lnSpc>
                <a:spcPct val="115000"/>
              </a:lnSpc>
              <a:buNone/>
            </a:pPr>
            <a:r>
              <a:rPr lang="en-US" sz="1050" dirty="0">
                <a:solidFill>
                  <a:srgbClr val="2B2E33"/>
                </a:solidFill>
                <a:latin typeface="Calibri" pitchFamily="34" charset="0"/>
                <a:ea typeface="Calibri" pitchFamily="34" charset="-122"/>
                <a:cs typeface="Calibri" pitchFamily="34" charset="-120"/>
              </a:rPr>
              <a:t>Two interactive Power BI dashboards — Retailer Onboarding and Distributor Survey.</a:t>
            </a:r>
            <a:endParaRPr lang="en-US" sz="1050" dirty="0"/>
          </a:p>
        </p:txBody>
      </p:sp>
      <p:sp>
        <p:nvSpPr>
          <p:cNvPr id="35" name="Shape 28"/>
          <p:cNvSpPr/>
          <p:nvPr/>
        </p:nvSpPr>
        <p:spPr>
          <a:xfrm>
            <a:off x="8046720" y="3931920"/>
            <a:ext cx="3502152"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36" name="Text 29"/>
          <p:cNvSpPr/>
          <p:nvPr/>
        </p:nvSpPr>
        <p:spPr>
          <a:xfrm>
            <a:off x="8229600" y="4069080"/>
            <a:ext cx="914400" cy="365760"/>
          </a:xfrm>
          <a:prstGeom prst="rect">
            <a:avLst/>
          </a:prstGeom>
          <a:noFill/>
          <a:ln/>
        </p:spPr>
        <p:txBody>
          <a:bodyPr wrap="square" lIns="0" tIns="0" rIns="0" bIns="0" rtlCol="0" anchor="ctr"/>
          <a:lstStyle/>
          <a:p>
            <a:pPr marL="0" indent="0">
              <a:buNone/>
            </a:pPr>
            <a:r>
              <a:rPr lang="en-US" sz="2000" b="1" dirty="0">
                <a:solidFill>
                  <a:srgbClr val="C7CDD6"/>
                </a:solidFill>
                <a:latin typeface="Cambria" pitchFamily="34" charset="0"/>
                <a:ea typeface="Cambria" pitchFamily="34" charset="-122"/>
                <a:cs typeface="Cambria" pitchFamily="34" charset="-120"/>
              </a:rPr>
              <a:t>06</a:t>
            </a:r>
            <a:endParaRPr lang="en-US" sz="2000" dirty="0"/>
          </a:p>
        </p:txBody>
      </p:sp>
      <p:sp>
        <p:nvSpPr>
          <p:cNvPr id="37" name="Shape 30"/>
          <p:cNvSpPr/>
          <p:nvPr/>
        </p:nvSpPr>
        <p:spPr>
          <a:xfrm>
            <a:off x="10890504" y="4096512"/>
            <a:ext cx="457200" cy="457200"/>
          </a:xfrm>
          <a:prstGeom prst="ellipse">
            <a:avLst/>
          </a:prstGeom>
          <a:solidFill>
            <a:srgbClr val="0F1F3D"/>
          </a:solidFill>
          <a:ln/>
        </p:spPr>
        <p:txBody>
          <a:bodyPr/>
          <a:lstStyle/>
          <a:p>
            <a:endParaRPr lang="en-US"/>
          </a:p>
        </p:txBody>
      </p:sp>
      <p:pic>
        <p:nvPicPr>
          <p:cNvPr id="38" name="Image 5" descr="/home/claude/assets/strategy.png"/>
          <p:cNvPicPr>
            <a:picLocks noChangeAspect="1"/>
          </p:cNvPicPr>
          <p:nvPr/>
        </p:nvPicPr>
        <p:blipFill>
          <a:blip r:embed="rId8"/>
          <a:stretch>
            <a:fillRect/>
          </a:stretch>
        </p:blipFill>
        <p:spPr>
          <a:xfrm>
            <a:off x="11000232" y="4206240"/>
            <a:ext cx="237744" cy="237744"/>
          </a:xfrm>
          <a:prstGeom prst="rect">
            <a:avLst/>
          </a:prstGeom>
        </p:spPr>
      </p:pic>
      <p:sp>
        <p:nvSpPr>
          <p:cNvPr id="39" name="Text 31"/>
          <p:cNvSpPr/>
          <p:nvPr/>
        </p:nvSpPr>
        <p:spPr>
          <a:xfrm>
            <a:off x="8247888" y="4645152"/>
            <a:ext cx="3099816" cy="320040"/>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Translate to action</a:t>
            </a:r>
            <a:endParaRPr lang="en-US" sz="1300" dirty="0"/>
          </a:p>
        </p:txBody>
      </p:sp>
      <p:sp>
        <p:nvSpPr>
          <p:cNvPr id="40" name="Text 32"/>
          <p:cNvSpPr/>
          <p:nvPr/>
        </p:nvSpPr>
        <p:spPr>
          <a:xfrm>
            <a:off x="8247888" y="4956048"/>
            <a:ext cx="3099816" cy="868680"/>
          </a:xfrm>
          <a:prstGeom prst="rect">
            <a:avLst/>
          </a:prstGeom>
          <a:noFill/>
          <a:ln/>
        </p:spPr>
        <p:txBody>
          <a:bodyPr wrap="square" lIns="0" tIns="0" rIns="0" bIns="0" rtlCol="0" anchor="ctr"/>
          <a:lstStyle/>
          <a:p>
            <a:pPr marL="0" indent="0">
              <a:lnSpc>
                <a:spcPct val="115000"/>
              </a:lnSpc>
              <a:buNone/>
            </a:pPr>
            <a:r>
              <a:rPr lang="en-US" sz="1050" dirty="0">
                <a:solidFill>
                  <a:srgbClr val="2B2E33"/>
                </a:solidFill>
                <a:latin typeface="Calibri" pitchFamily="34" charset="0"/>
                <a:ea typeface="Calibri" pitchFamily="34" charset="-122"/>
                <a:cs typeface="Calibri" pitchFamily="34" charset="-120"/>
              </a:rPr>
              <a:t>Convert findings into a retailer onboarding framework and multi-brand expansion recommendations.</a:t>
            </a:r>
            <a:endParaRPr lang="en-US" sz="1050" dirty="0"/>
          </a:p>
        </p:txBody>
      </p:sp>
      <p:sp>
        <p:nvSpPr>
          <p:cNvPr id="41" name="Text 33"/>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42" name="Text 34"/>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SCOPE OF WORK</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In Scope vs. Out of Scope</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02 – FOUNDATION</a:t>
            </a:r>
            <a:endParaRPr lang="en-US" sz="1050" dirty="0"/>
          </a:p>
        </p:txBody>
      </p:sp>
      <p:sp>
        <p:nvSpPr>
          <p:cNvPr id="5" name="Shape 3"/>
          <p:cNvSpPr/>
          <p:nvPr/>
        </p:nvSpPr>
        <p:spPr>
          <a:xfrm>
            <a:off x="640080" y="1600200"/>
            <a:ext cx="6400800" cy="4434840"/>
          </a:xfrm>
          <a:prstGeom prst="roundRect">
            <a:avLst>
              <a:gd name="adj" fmla="val 1649"/>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6" name="Text 4"/>
          <p:cNvSpPr/>
          <p:nvPr/>
        </p:nvSpPr>
        <p:spPr>
          <a:xfrm>
            <a:off x="914400" y="1828800"/>
            <a:ext cx="3657600" cy="292608"/>
          </a:xfrm>
          <a:prstGeom prst="rect">
            <a:avLst/>
          </a:prstGeom>
          <a:noFill/>
          <a:ln/>
        </p:spPr>
        <p:txBody>
          <a:bodyPr wrap="square" lIns="0" tIns="0" rIns="0" bIns="0" rtlCol="0" anchor="ctr"/>
          <a:lstStyle/>
          <a:p>
            <a:pPr marL="0" indent="0">
              <a:buNone/>
            </a:pPr>
            <a:r>
              <a:rPr lang="en-US" sz="1100" b="1" kern="0" spc="100" dirty="0">
                <a:solidFill>
                  <a:srgbClr val="0B7A5F"/>
                </a:solidFill>
                <a:latin typeface="Calibri" pitchFamily="34" charset="0"/>
                <a:ea typeface="Calibri" pitchFamily="34" charset="-122"/>
                <a:cs typeface="Calibri" pitchFamily="34" charset="-120"/>
              </a:rPr>
              <a:t>IN SCOPE</a:t>
            </a:r>
            <a:endParaRPr lang="en-US" sz="1100" dirty="0"/>
          </a:p>
        </p:txBody>
      </p:sp>
      <p:pic>
        <p:nvPicPr>
          <p:cNvPr id="7" name="Image 0" descr="/home/claude/assets/check.png"/>
          <p:cNvPicPr>
            <a:picLocks noChangeAspect="1"/>
          </p:cNvPicPr>
          <p:nvPr/>
        </p:nvPicPr>
        <p:blipFill>
          <a:blip r:embed="rId3"/>
          <a:stretch>
            <a:fillRect/>
          </a:stretch>
        </p:blipFill>
        <p:spPr>
          <a:xfrm>
            <a:off x="914400" y="2240280"/>
            <a:ext cx="237744" cy="237744"/>
          </a:xfrm>
          <a:prstGeom prst="rect">
            <a:avLst/>
          </a:prstGeom>
        </p:spPr>
      </p:pic>
      <p:sp>
        <p:nvSpPr>
          <p:cNvPr id="8" name="Text 5"/>
          <p:cNvSpPr/>
          <p:nvPr/>
        </p:nvSpPr>
        <p:spPr>
          <a:xfrm>
            <a:off x="1261872" y="2185416"/>
            <a:ext cx="5394960" cy="502920"/>
          </a:xfrm>
          <a:prstGeom prst="rect">
            <a:avLst/>
          </a:prstGeom>
          <a:noFill/>
          <a:ln/>
        </p:spPr>
        <p:txBody>
          <a:bodyPr wrap="square" lIns="0" tIns="0" rIns="0" bIns="0" rtlCol="0" anchor="ctr"/>
          <a:lstStyle/>
          <a:p>
            <a:pPr marL="0" indent="0">
              <a:lnSpc>
                <a:spcPct val="110000"/>
              </a:lnSpc>
              <a:buNone/>
            </a:pPr>
            <a:r>
              <a:rPr lang="en-US" sz="1100" dirty="0">
                <a:solidFill>
                  <a:srgbClr val="2B2E33"/>
                </a:solidFill>
                <a:latin typeface="Calibri" pitchFamily="34" charset="0"/>
                <a:ea typeface="Calibri" pitchFamily="34" charset="-122"/>
                <a:cs typeface="Calibri" pitchFamily="34" charset="-120"/>
              </a:rPr>
              <a:t>Structured, in-person surveys of retailers &amp; distributors across all 4 localities</a:t>
            </a:r>
            <a:endParaRPr lang="en-US" sz="1100" dirty="0"/>
          </a:p>
        </p:txBody>
      </p:sp>
      <p:pic>
        <p:nvPicPr>
          <p:cNvPr id="9" name="Image 1" descr="/home/claude/assets/check.png"/>
          <p:cNvPicPr>
            <a:picLocks noChangeAspect="1"/>
          </p:cNvPicPr>
          <p:nvPr/>
        </p:nvPicPr>
        <p:blipFill>
          <a:blip r:embed="rId3"/>
          <a:stretch>
            <a:fillRect/>
          </a:stretch>
        </p:blipFill>
        <p:spPr>
          <a:xfrm>
            <a:off x="914400" y="2843784"/>
            <a:ext cx="237744" cy="237744"/>
          </a:xfrm>
          <a:prstGeom prst="rect">
            <a:avLst/>
          </a:prstGeom>
        </p:spPr>
      </p:pic>
      <p:sp>
        <p:nvSpPr>
          <p:cNvPr id="10" name="Text 6"/>
          <p:cNvSpPr/>
          <p:nvPr/>
        </p:nvSpPr>
        <p:spPr>
          <a:xfrm>
            <a:off x="1261872" y="2788920"/>
            <a:ext cx="5394960" cy="502920"/>
          </a:xfrm>
          <a:prstGeom prst="rect">
            <a:avLst/>
          </a:prstGeom>
          <a:noFill/>
          <a:ln/>
        </p:spPr>
        <p:txBody>
          <a:bodyPr wrap="square" lIns="0" tIns="0" rIns="0" bIns="0" rtlCol="0" anchor="ctr"/>
          <a:lstStyle/>
          <a:p>
            <a:pPr marL="0" indent="0">
              <a:lnSpc>
                <a:spcPct val="110000"/>
              </a:lnSpc>
              <a:buNone/>
            </a:pPr>
            <a:r>
              <a:rPr lang="en-US" sz="1100" dirty="0">
                <a:solidFill>
                  <a:srgbClr val="2B2E33"/>
                </a:solidFill>
                <a:latin typeface="Calibri" pitchFamily="34" charset="0"/>
                <a:ea typeface="Calibri" pitchFamily="34" charset="-122"/>
                <a:cs typeface="Calibri" pitchFamily="34" charset="-120"/>
              </a:rPr>
              <a:t>Mapping outlet categories, store type, brand &amp; product availability, competitor presence</a:t>
            </a:r>
            <a:endParaRPr lang="en-US" sz="1100" dirty="0"/>
          </a:p>
        </p:txBody>
      </p:sp>
      <p:pic>
        <p:nvPicPr>
          <p:cNvPr id="11" name="Image 2" descr="/home/claude/assets/check.png"/>
          <p:cNvPicPr>
            <a:picLocks noChangeAspect="1"/>
          </p:cNvPicPr>
          <p:nvPr/>
        </p:nvPicPr>
        <p:blipFill>
          <a:blip r:embed="rId3"/>
          <a:stretch>
            <a:fillRect/>
          </a:stretch>
        </p:blipFill>
        <p:spPr>
          <a:xfrm>
            <a:off x="914400" y="3447288"/>
            <a:ext cx="237744" cy="237744"/>
          </a:xfrm>
          <a:prstGeom prst="rect">
            <a:avLst/>
          </a:prstGeom>
        </p:spPr>
      </p:pic>
      <p:sp>
        <p:nvSpPr>
          <p:cNvPr id="12" name="Text 7"/>
          <p:cNvSpPr/>
          <p:nvPr/>
        </p:nvSpPr>
        <p:spPr>
          <a:xfrm>
            <a:off x="1261872" y="3392424"/>
            <a:ext cx="5394960" cy="502920"/>
          </a:xfrm>
          <a:prstGeom prst="rect">
            <a:avLst/>
          </a:prstGeom>
          <a:noFill/>
          <a:ln/>
        </p:spPr>
        <p:txBody>
          <a:bodyPr wrap="square" lIns="0" tIns="0" rIns="0" bIns="0" rtlCol="0" anchor="ctr"/>
          <a:lstStyle/>
          <a:p>
            <a:pPr marL="0" indent="0">
              <a:lnSpc>
                <a:spcPct val="110000"/>
              </a:lnSpc>
              <a:buNone/>
            </a:pPr>
            <a:r>
              <a:rPr lang="en-US" sz="1100" dirty="0">
                <a:solidFill>
                  <a:srgbClr val="2B2E33"/>
                </a:solidFill>
                <a:latin typeface="Calibri" pitchFamily="34" charset="0"/>
                <a:ea typeface="Calibri" pitchFamily="34" charset="-122"/>
                <a:cs typeface="Calibri" pitchFamily="34" charset="-120"/>
              </a:rPr>
              <a:t>Mapping distributor scale, delivery capacity, category-level demand &amp; market intelligence</a:t>
            </a:r>
            <a:endParaRPr lang="en-US" sz="1100" dirty="0"/>
          </a:p>
        </p:txBody>
      </p:sp>
      <p:pic>
        <p:nvPicPr>
          <p:cNvPr id="13" name="Image 3" descr="/home/claude/assets/check.png"/>
          <p:cNvPicPr>
            <a:picLocks noChangeAspect="1"/>
          </p:cNvPicPr>
          <p:nvPr/>
        </p:nvPicPr>
        <p:blipFill>
          <a:blip r:embed="rId3"/>
          <a:stretch>
            <a:fillRect/>
          </a:stretch>
        </p:blipFill>
        <p:spPr>
          <a:xfrm>
            <a:off x="914400" y="4050792"/>
            <a:ext cx="237744" cy="237744"/>
          </a:xfrm>
          <a:prstGeom prst="rect">
            <a:avLst/>
          </a:prstGeom>
        </p:spPr>
      </p:pic>
      <p:sp>
        <p:nvSpPr>
          <p:cNvPr id="14" name="Text 8"/>
          <p:cNvSpPr/>
          <p:nvPr/>
        </p:nvSpPr>
        <p:spPr>
          <a:xfrm>
            <a:off x="1261872" y="3995928"/>
            <a:ext cx="5394960" cy="502920"/>
          </a:xfrm>
          <a:prstGeom prst="rect">
            <a:avLst/>
          </a:prstGeom>
          <a:noFill/>
          <a:ln/>
        </p:spPr>
        <p:txBody>
          <a:bodyPr wrap="square" lIns="0" tIns="0" rIns="0" bIns="0" rtlCol="0" anchor="ctr"/>
          <a:lstStyle/>
          <a:p>
            <a:pPr marL="0" indent="0">
              <a:lnSpc>
                <a:spcPct val="110000"/>
              </a:lnSpc>
              <a:buNone/>
            </a:pPr>
            <a:r>
              <a:rPr lang="en-US" sz="1100" dirty="0">
                <a:solidFill>
                  <a:srgbClr val="2B2E33"/>
                </a:solidFill>
                <a:latin typeface="Calibri" pitchFamily="34" charset="0"/>
                <a:ea typeface="Calibri" pitchFamily="34" charset="-122"/>
                <a:cs typeface="Calibri" pitchFamily="34" charset="-120"/>
              </a:rPr>
              <a:t>Design of a retailer onboarding workflow based on survey findings</a:t>
            </a:r>
            <a:endParaRPr lang="en-US" sz="1100" dirty="0"/>
          </a:p>
        </p:txBody>
      </p:sp>
      <p:pic>
        <p:nvPicPr>
          <p:cNvPr id="15" name="Image 4" descr="/home/claude/assets/check.png"/>
          <p:cNvPicPr>
            <a:picLocks noChangeAspect="1"/>
          </p:cNvPicPr>
          <p:nvPr/>
        </p:nvPicPr>
        <p:blipFill>
          <a:blip r:embed="rId3"/>
          <a:stretch>
            <a:fillRect/>
          </a:stretch>
        </p:blipFill>
        <p:spPr>
          <a:xfrm>
            <a:off x="914400" y="4654296"/>
            <a:ext cx="237744" cy="237744"/>
          </a:xfrm>
          <a:prstGeom prst="rect">
            <a:avLst/>
          </a:prstGeom>
        </p:spPr>
      </p:pic>
      <p:sp>
        <p:nvSpPr>
          <p:cNvPr id="16" name="Text 9"/>
          <p:cNvSpPr/>
          <p:nvPr/>
        </p:nvSpPr>
        <p:spPr>
          <a:xfrm>
            <a:off x="1261872" y="4599432"/>
            <a:ext cx="5394960" cy="502920"/>
          </a:xfrm>
          <a:prstGeom prst="rect">
            <a:avLst/>
          </a:prstGeom>
          <a:noFill/>
          <a:ln/>
        </p:spPr>
        <p:txBody>
          <a:bodyPr wrap="square" lIns="0" tIns="0" rIns="0" bIns="0" rtlCol="0" anchor="ctr"/>
          <a:lstStyle/>
          <a:p>
            <a:pPr marL="0" indent="0">
              <a:lnSpc>
                <a:spcPct val="110000"/>
              </a:lnSpc>
              <a:buNone/>
            </a:pPr>
            <a:r>
              <a:rPr lang="en-US" sz="1100" dirty="0">
                <a:solidFill>
                  <a:srgbClr val="2B2E33"/>
                </a:solidFill>
                <a:latin typeface="Calibri" pitchFamily="34" charset="0"/>
                <a:ea typeface="Calibri" pitchFamily="34" charset="-122"/>
                <a:cs typeface="Calibri" pitchFamily="34" charset="-120"/>
              </a:rPr>
              <a:t>Multi-brand expansion recommendations based on demand &amp; brand-presence data</a:t>
            </a:r>
            <a:endParaRPr lang="en-US" sz="1100" dirty="0"/>
          </a:p>
        </p:txBody>
      </p:sp>
      <p:pic>
        <p:nvPicPr>
          <p:cNvPr id="17" name="Image 5" descr="/home/claude/assets/check.png"/>
          <p:cNvPicPr>
            <a:picLocks noChangeAspect="1"/>
          </p:cNvPicPr>
          <p:nvPr/>
        </p:nvPicPr>
        <p:blipFill>
          <a:blip r:embed="rId3"/>
          <a:stretch>
            <a:fillRect/>
          </a:stretch>
        </p:blipFill>
        <p:spPr>
          <a:xfrm>
            <a:off x="914400" y="5257800"/>
            <a:ext cx="237744" cy="237744"/>
          </a:xfrm>
          <a:prstGeom prst="rect">
            <a:avLst/>
          </a:prstGeom>
        </p:spPr>
      </p:pic>
      <p:sp>
        <p:nvSpPr>
          <p:cNvPr id="18" name="Text 10"/>
          <p:cNvSpPr/>
          <p:nvPr/>
        </p:nvSpPr>
        <p:spPr>
          <a:xfrm>
            <a:off x="1261872" y="5202936"/>
            <a:ext cx="5394960" cy="502920"/>
          </a:xfrm>
          <a:prstGeom prst="rect">
            <a:avLst/>
          </a:prstGeom>
          <a:noFill/>
          <a:ln/>
        </p:spPr>
        <p:txBody>
          <a:bodyPr wrap="square" lIns="0" tIns="0" rIns="0" bIns="0" rtlCol="0" anchor="ctr"/>
          <a:lstStyle/>
          <a:p>
            <a:pPr marL="0" indent="0">
              <a:lnSpc>
                <a:spcPct val="110000"/>
              </a:lnSpc>
              <a:buNone/>
            </a:pPr>
            <a:r>
              <a:rPr lang="en-US" sz="1100" dirty="0">
                <a:solidFill>
                  <a:srgbClr val="2B2E33"/>
                </a:solidFill>
                <a:latin typeface="Calibri" pitchFamily="34" charset="0"/>
                <a:ea typeface="Calibri" pitchFamily="34" charset="-122"/>
                <a:cs typeface="Calibri" pitchFamily="34" charset="-120"/>
              </a:rPr>
              <a:t>Development of two Power BI dashboards for retailer- and distributor-side findings</a:t>
            </a:r>
            <a:endParaRPr lang="en-US" sz="1100" dirty="0"/>
          </a:p>
        </p:txBody>
      </p:sp>
      <p:sp>
        <p:nvSpPr>
          <p:cNvPr id="19" name="Shape 11"/>
          <p:cNvSpPr/>
          <p:nvPr/>
        </p:nvSpPr>
        <p:spPr>
          <a:xfrm>
            <a:off x="7269480" y="1600200"/>
            <a:ext cx="4279392" cy="4434840"/>
          </a:xfrm>
          <a:prstGeom prst="roundRect">
            <a:avLst>
              <a:gd name="adj" fmla="val 1709"/>
            </a:avLst>
          </a:prstGeom>
          <a:solidFill>
            <a:srgbClr val="0F1F3D"/>
          </a:solidFill>
          <a:ln/>
          <a:effectLst>
            <a:outerShdw blurRad="88900" dist="38100" dir="5400000" algn="bl" rotWithShape="0">
              <a:srgbClr val="5B6472">
                <a:alpha val="20000"/>
              </a:srgbClr>
            </a:outerShdw>
          </a:effectLst>
        </p:spPr>
        <p:txBody>
          <a:bodyPr/>
          <a:lstStyle/>
          <a:p>
            <a:endParaRPr lang="en-US"/>
          </a:p>
        </p:txBody>
      </p:sp>
      <p:sp>
        <p:nvSpPr>
          <p:cNvPr id="20" name="Shape 12"/>
          <p:cNvSpPr/>
          <p:nvPr/>
        </p:nvSpPr>
        <p:spPr>
          <a:xfrm>
            <a:off x="7543800" y="1828800"/>
            <a:ext cx="502920" cy="502920"/>
          </a:xfrm>
          <a:prstGeom prst="ellipse">
            <a:avLst/>
          </a:prstGeom>
          <a:solidFill>
            <a:srgbClr val="10A37F"/>
          </a:solidFill>
          <a:ln/>
        </p:spPr>
        <p:txBody>
          <a:bodyPr/>
          <a:lstStyle/>
          <a:p>
            <a:endParaRPr lang="en-US"/>
          </a:p>
        </p:txBody>
      </p:sp>
      <p:pic>
        <p:nvPicPr>
          <p:cNvPr id="21" name="Image 6" descr="/home/claude/assets/warning.png"/>
          <p:cNvPicPr>
            <a:picLocks noChangeAspect="1"/>
          </p:cNvPicPr>
          <p:nvPr/>
        </p:nvPicPr>
        <p:blipFill>
          <a:blip r:embed="rId4"/>
          <a:stretch>
            <a:fillRect/>
          </a:stretch>
        </p:blipFill>
        <p:spPr>
          <a:xfrm>
            <a:off x="7664501" y="1949501"/>
            <a:ext cx="261518" cy="261518"/>
          </a:xfrm>
          <a:prstGeom prst="rect">
            <a:avLst/>
          </a:prstGeom>
        </p:spPr>
      </p:pic>
      <p:sp>
        <p:nvSpPr>
          <p:cNvPr id="22" name="Text 13"/>
          <p:cNvSpPr/>
          <p:nvPr/>
        </p:nvSpPr>
        <p:spPr>
          <a:xfrm>
            <a:off x="7543800" y="2423160"/>
            <a:ext cx="3657600" cy="292608"/>
          </a:xfrm>
          <a:prstGeom prst="rect">
            <a:avLst/>
          </a:prstGeom>
          <a:noFill/>
          <a:ln/>
        </p:spPr>
        <p:txBody>
          <a:bodyPr wrap="square" lIns="0" tIns="0" rIns="0" bIns="0" rtlCol="0" anchor="ctr"/>
          <a:lstStyle/>
          <a:p>
            <a:pPr marL="0" indent="0">
              <a:buNone/>
            </a:pPr>
            <a:r>
              <a:rPr lang="en-US" sz="1100" b="1" kern="0" spc="80" dirty="0">
                <a:solidFill>
                  <a:srgbClr val="10A37F"/>
                </a:solidFill>
                <a:latin typeface="Calibri" pitchFamily="34" charset="0"/>
                <a:ea typeface="Calibri" pitchFamily="34" charset="-122"/>
                <a:cs typeface="Calibri" pitchFamily="34" charset="-120"/>
              </a:rPr>
              <a:t>EXPLICITLY OUT OF SCOPE</a:t>
            </a:r>
            <a:endParaRPr lang="en-US" sz="1100" dirty="0"/>
          </a:p>
        </p:txBody>
      </p:sp>
      <p:sp>
        <p:nvSpPr>
          <p:cNvPr id="23" name="Text 14"/>
          <p:cNvSpPr/>
          <p:nvPr/>
        </p:nvSpPr>
        <p:spPr>
          <a:xfrm>
            <a:off x="7543800" y="2743200"/>
            <a:ext cx="3749040" cy="777240"/>
          </a:xfrm>
          <a:prstGeom prst="rect">
            <a:avLst/>
          </a:prstGeom>
          <a:noFill/>
          <a:ln/>
        </p:spPr>
        <p:txBody>
          <a:bodyPr wrap="square" lIns="0" tIns="0" rIns="0" bIns="0" rtlCol="0" anchor="ctr"/>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Any collection, estimation, or calculation of distributor financial data — revenue, margins, investment, or ROI.</a:t>
            </a:r>
            <a:endParaRPr lang="en-US" sz="1250" dirty="0"/>
          </a:p>
        </p:txBody>
      </p:sp>
      <p:sp>
        <p:nvSpPr>
          <p:cNvPr id="24" name="Text 15"/>
          <p:cNvSpPr/>
          <p:nvPr/>
        </p:nvSpPr>
        <p:spPr>
          <a:xfrm>
            <a:off x="7543800" y="3611880"/>
            <a:ext cx="3749040" cy="1234440"/>
          </a:xfrm>
          <a:prstGeom prst="rect">
            <a:avLst/>
          </a:prstGeom>
          <a:noFill/>
          <a:ln/>
        </p:spPr>
        <p:txBody>
          <a:bodyPr wrap="square" lIns="0" tIns="0" rIns="0" bIns="0" rtlCol="0" anchor="ctr"/>
          <a:lstStyle/>
          <a:p>
            <a:pPr marL="0" indent="0">
              <a:lnSpc>
                <a:spcPct val="125000"/>
              </a:lnSpc>
              <a:buNone/>
            </a:pPr>
            <a:r>
              <a:rPr lang="en-US" sz="1050" i="1" dirty="0">
                <a:solidFill>
                  <a:srgbClr val="B9C6E0"/>
                </a:solidFill>
                <a:latin typeface="Calibri" pitchFamily="34" charset="0"/>
                <a:ea typeface="Calibri" pitchFamily="34" charset="-122"/>
                <a:cs typeface="Calibri" pitchFamily="34" charset="-120"/>
              </a:rPr>
              <a:t>Distributors treated this information as confidential and declined to share it. No attempt has been made anywhere in this report to infer or approximate these figures.</a:t>
            </a:r>
            <a:endParaRPr lang="en-US" sz="1050" dirty="0"/>
          </a:p>
        </p:txBody>
      </p:sp>
      <p:sp>
        <p:nvSpPr>
          <p:cNvPr id="25" name="Text 16"/>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26" name="Text 17"/>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RESEARCH METHODOLOGY</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From Survey Design to Full Rollout</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03 – METHODOLOGY</a:t>
            </a:r>
            <a:endParaRPr lang="en-US" sz="1050" dirty="0"/>
          </a:p>
        </p:txBody>
      </p:sp>
      <p:sp>
        <p:nvSpPr>
          <p:cNvPr id="5" name="Shape 3"/>
          <p:cNvSpPr/>
          <p:nvPr/>
        </p:nvSpPr>
        <p:spPr>
          <a:xfrm>
            <a:off x="1284732" y="2148840"/>
            <a:ext cx="585216" cy="585216"/>
          </a:xfrm>
          <a:prstGeom prst="ellipse">
            <a:avLst/>
          </a:prstGeom>
          <a:solidFill>
            <a:srgbClr val="0F1F3D"/>
          </a:solidFill>
          <a:ln/>
        </p:spPr>
        <p:txBody>
          <a:bodyPr/>
          <a:lstStyle/>
          <a:p>
            <a:endParaRPr lang="en-US"/>
          </a:p>
        </p:txBody>
      </p:sp>
      <p:sp>
        <p:nvSpPr>
          <p:cNvPr id="6" name="Text 4"/>
          <p:cNvSpPr/>
          <p:nvPr/>
        </p:nvSpPr>
        <p:spPr>
          <a:xfrm>
            <a:off x="1284732" y="2148840"/>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Shape 5"/>
          <p:cNvSpPr/>
          <p:nvPr/>
        </p:nvSpPr>
        <p:spPr>
          <a:xfrm>
            <a:off x="1869948" y="2441448"/>
            <a:ext cx="384048" cy="0"/>
          </a:xfrm>
          <a:prstGeom prst="line">
            <a:avLst/>
          </a:prstGeom>
          <a:noFill/>
          <a:ln w="25400">
            <a:solidFill>
              <a:srgbClr val="D8DCE2"/>
            </a:solidFill>
            <a:prstDash val="solid"/>
          </a:ln>
        </p:spPr>
        <p:txBody>
          <a:bodyPr/>
          <a:lstStyle/>
          <a:p>
            <a:endParaRPr lang="en-US"/>
          </a:p>
        </p:txBody>
      </p:sp>
      <p:sp>
        <p:nvSpPr>
          <p:cNvPr id="8" name="Shape 6"/>
          <p:cNvSpPr/>
          <p:nvPr/>
        </p:nvSpPr>
        <p:spPr>
          <a:xfrm>
            <a:off x="640080" y="3017520"/>
            <a:ext cx="1874520" cy="1920240"/>
          </a:xfrm>
          <a:prstGeom prst="roundRect">
            <a:avLst>
              <a:gd name="adj" fmla="val 3902"/>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9" name="Text 7"/>
          <p:cNvSpPr/>
          <p:nvPr/>
        </p:nvSpPr>
        <p:spPr>
          <a:xfrm>
            <a:off x="777240" y="3154680"/>
            <a:ext cx="1600200" cy="502920"/>
          </a:xfrm>
          <a:prstGeom prst="rect">
            <a:avLst/>
          </a:prstGeom>
          <a:noFill/>
          <a:ln/>
        </p:spPr>
        <p:txBody>
          <a:bodyPr wrap="square" lIns="0" tIns="0" rIns="0" bIns="0" rtlCol="0" anchor="ctr"/>
          <a:lstStyle/>
          <a:p>
            <a:pPr marL="0" indent="0">
              <a:lnSpc>
                <a:spcPct val="105000"/>
              </a:lnSpc>
              <a:buNone/>
            </a:pPr>
            <a:r>
              <a:rPr lang="en-US" sz="1200" b="1" dirty="0">
                <a:solidFill>
                  <a:srgbClr val="0F1F3D"/>
                </a:solidFill>
                <a:latin typeface="Calibri" pitchFamily="34" charset="0"/>
                <a:ea typeface="Calibri" pitchFamily="34" charset="-122"/>
                <a:cs typeface="Calibri" pitchFamily="34" charset="-120"/>
              </a:rPr>
              <a:t>Survey Design</a:t>
            </a:r>
            <a:endParaRPr lang="en-US" sz="1200" dirty="0"/>
          </a:p>
        </p:txBody>
      </p:sp>
      <p:sp>
        <p:nvSpPr>
          <p:cNvPr id="10" name="Text 8"/>
          <p:cNvSpPr/>
          <p:nvPr/>
        </p:nvSpPr>
        <p:spPr>
          <a:xfrm>
            <a:off x="777240" y="3630168"/>
            <a:ext cx="1600200" cy="1188720"/>
          </a:xfrm>
          <a:prstGeom prst="rect">
            <a:avLst/>
          </a:prstGeom>
          <a:noFill/>
          <a:ln/>
        </p:spPr>
        <p:txBody>
          <a:bodyPr wrap="square" lIns="0" tIns="0" rIns="0" bIns="0" rtlCol="0" anchor="ctr"/>
          <a:lstStyle/>
          <a:p>
            <a:pPr marL="0" indent="0">
              <a:lnSpc>
                <a:spcPct val="115000"/>
              </a:lnSpc>
              <a:buNone/>
            </a:pPr>
            <a:r>
              <a:rPr lang="en-US" sz="970" dirty="0">
                <a:solidFill>
                  <a:srgbClr val="2B2E33"/>
                </a:solidFill>
                <a:latin typeface="Calibri" pitchFamily="34" charset="0"/>
                <a:ea typeface="Calibri" pitchFamily="34" charset="-122"/>
                <a:cs typeface="Calibri" pitchFamily="34" charset="-120"/>
              </a:rPr>
              <a:t>Two structured questionnaires — retailer &amp; distributor — built from the objectives.</a:t>
            </a:r>
            <a:endParaRPr lang="en-US" sz="970" dirty="0"/>
          </a:p>
        </p:txBody>
      </p:sp>
      <p:sp>
        <p:nvSpPr>
          <p:cNvPr id="11" name="Shape 9"/>
          <p:cNvSpPr/>
          <p:nvPr/>
        </p:nvSpPr>
        <p:spPr>
          <a:xfrm>
            <a:off x="3543300" y="2148840"/>
            <a:ext cx="585216" cy="585216"/>
          </a:xfrm>
          <a:prstGeom prst="ellipse">
            <a:avLst/>
          </a:prstGeom>
          <a:solidFill>
            <a:srgbClr val="0F1F3D"/>
          </a:solidFill>
          <a:ln/>
        </p:spPr>
        <p:txBody>
          <a:bodyPr/>
          <a:lstStyle/>
          <a:p>
            <a:endParaRPr lang="en-US"/>
          </a:p>
        </p:txBody>
      </p:sp>
      <p:sp>
        <p:nvSpPr>
          <p:cNvPr id="12" name="Text 10"/>
          <p:cNvSpPr/>
          <p:nvPr/>
        </p:nvSpPr>
        <p:spPr>
          <a:xfrm>
            <a:off x="3543300" y="2148840"/>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Shape 11"/>
          <p:cNvSpPr/>
          <p:nvPr/>
        </p:nvSpPr>
        <p:spPr>
          <a:xfrm>
            <a:off x="4128516" y="2441448"/>
            <a:ext cx="384048" cy="0"/>
          </a:xfrm>
          <a:prstGeom prst="line">
            <a:avLst/>
          </a:prstGeom>
          <a:noFill/>
          <a:ln w="25400">
            <a:solidFill>
              <a:srgbClr val="D8DCE2"/>
            </a:solidFill>
            <a:prstDash val="solid"/>
          </a:ln>
        </p:spPr>
        <p:txBody>
          <a:bodyPr/>
          <a:lstStyle/>
          <a:p>
            <a:endParaRPr lang="en-US"/>
          </a:p>
        </p:txBody>
      </p:sp>
      <p:sp>
        <p:nvSpPr>
          <p:cNvPr id="14" name="Shape 12"/>
          <p:cNvSpPr/>
          <p:nvPr/>
        </p:nvSpPr>
        <p:spPr>
          <a:xfrm>
            <a:off x="2898648" y="3017520"/>
            <a:ext cx="1874520" cy="1920240"/>
          </a:xfrm>
          <a:prstGeom prst="roundRect">
            <a:avLst>
              <a:gd name="adj" fmla="val 3902"/>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5" name="Text 13"/>
          <p:cNvSpPr/>
          <p:nvPr/>
        </p:nvSpPr>
        <p:spPr>
          <a:xfrm>
            <a:off x="3035808" y="3154680"/>
            <a:ext cx="1600200" cy="502920"/>
          </a:xfrm>
          <a:prstGeom prst="rect">
            <a:avLst/>
          </a:prstGeom>
          <a:noFill/>
          <a:ln/>
        </p:spPr>
        <p:txBody>
          <a:bodyPr wrap="square" lIns="0" tIns="0" rIns="0" bIns="0" rtlCol="0" anchor="ctr"/>
          <a:lstStyle/>
          <a:p>
            <a:pPr marL="0" indent="0">
              <a:lnSpc>
                <a:spcPct val="105000"/>
              </a:lnSpc>
              <a:buNone/>
            </a:pPr>
            <a:r>
              <a:rPr lang="en-US" sz="1200" b="1" dirty="0">
                <a:solidFill>
                  <a:srgbClr val="0F1F3D"/>
                </a:solidFill>
                <a:latin typeface="Calibri" pitchFamily="34" charset="0"/>
                <a:ea typeface="Calibri" pitchFamily="34" charset="-122"/>
                <a:cs typeface="Calibri" pitchFamily="34" charset="-120"/>
              </a:rPr>
              <a:t>Sampling</a:t>
            </a:r>
            <a:endParaRPr lang="en-US" sz="1200" dirty="0"/>
          </a:p>
        </p:txBody>
      </p:sp>
      <p:sp>
        <p:nvSpPr>
          <p:cNvPr id="16" name="Text 14"/>
          <p:cNvSpPr/>
          <p:nvPr/>
        </p:nvSpPr>
        <p:spPr>
          <a:xfrm>
            <a:off x="3035808" y="3630168"/>
            <a:ext cx="1600200" cy="1188720"/>
          </a:xfrm>
          <a:prstGeom prst="rect">
            <a:avLst/>
          </a:prstGeom>
          <a:noFill/>
          <a:ln/>
        </p:spPr>
        <p:txBody>
          <a:bodyPr wrap="square" lIns="0" tIns="0" rIns="0" bIns="0" rtlCol="0" anchor="ctr"/>
          <a:lstStyle/>
          <a:p>
            <a:pPr marL="0" indent="0">
              <a:lnSpc>
                <a:spcPct val="115000"/>
              </a:lnSpc>
              <a:buNone/>
            </a:pPr>
            <a:r>
              <a:rPr lang="en-US" sz="970" dirty="0">
                <a:solidFill>
                  <a:srgbClr val="2B2E33"/>
                </a:solidFill>
                <a:latin typeface="Calibri" pitchFamily="34" charset="0"/>
                <a:ea typeface="Calibri" pitchFamily="34" charset="-122"/>
                <a:cs typeface="Calibri" pitchFamily="34" charset="-120"/>
              </a:rPr>
              <a:t>Purposive, area-based sampling across store types &amp; distributor scales.</a:t>
            </a:r>
            <a:endParaRPr lang="en-US" sz="970" dirty="0"/>
          </a:p>
        </p:txBody>
      </p:sp>
      <p:sp>
        <p:nvSpPr>
          <p:cNvPr id="17" name="Shape 15"/>
          <p:cNvSpPr/>
          <p:nvPr/>
        </p:nvSpPr>
        <p:spPr>
          <a:xfrm>
            <a:off x="5801868" y="2148840"/>
            <a:ext cx="585216" cy="585216"/>
          </a:xfrm>
          <a:prstGeom prst="ellipse">
            <a:avLst/>
          </a:prstGeom>
          <a:solidFill>
            <a:srgbClr val="10A37F"/>
          </a:solidFill>
          <a:ln/>
        </p:spPr>
        <p:txBody>
          <a:bodyPr/>
          <a:lstStyle/>
          <a:p>
            <a:endParaRPr lang="en-US"/>
          </a:p>
        </p:txBody>
      </p:sp>
      <p:sp>
        <p:nvSpPr>
          <p:cNvPr id="18" name="Text 16"/>
          <p:cNvSpPr/>
          <p:nvPr/>
        </p:nvSpPr>
        <p:spPr>
          <a:xfrm>
            <a:off x="5801868" y="2148840"/>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Shape 17"/>
          <p:cNvSpPr/>
          <p:nvPr/>
        </p:nvSpPr>
        <p:spPr>
          <a:xfrm>
            <a:off x="6387084" y="2441448"/>
            <a:ext cx="384048" cy="0"/>
          </a:xfrm>
          <a:prstGeom prst="line">
            <a:avLst/>
          </a:prstGeom>
          <a:noFill/>
          <a:ln w="25400">
            <a:solidFill>
              <a:srgbClr val="D8DCE2"/>
            </a:solidFill>
            <a:prstDash val="solid"/>
          </a:ln>
        </p:spPr>
        <p:txBody>
          <a:bodyPr/>
          <a:lstStyle/>
          <a:p>
            <a:endParaRPr lang="en-US"/>
          </a:p>
        </p:txBody>
      </p:sp>
      <p:sp>
        <p:nvSpPr>
          <p:cNvPr id="20" name="Shape 18"/>
          <p:cNvSpPr/>
          <p:nvPr/>
        </p:nvSpPr>
        <p:spPr>
          <a:xfrm>
            <a:off x="5157216" y="3017520"/>
            <a:ext cx="1874520" cy="1920240"/>
          </a:xfrm>
          <a:prstGeom prst="roundRect">
            <a:avLst>
              <a:gd name="adj" fmla="val 3902"/>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1" name="Text 19"/>
          <p:cNvSpPr/>
          <p:nvPr/>
        </p:nvSpPr>
        <p:spPr>
          <a:xfrm>
            <a:off x="5294376" y="3154680"/>
            <a:ext cx="1600200" cy="502920"/>
          </a:xfrm>
          <a:prstGeom prst="rect">
            <a:avLst/>
          </a:prstGeom>
          <a:noFill/>
          <a:ln/>
        </p:spPr>
        <p:txBody>
          <a:bodyPr wrap="square" lIns="0" tIns="0" rIns="0" bIns="0" rtlCol="0" anchor="ctr"/>
          <a:lstStyle/>
          <a:p>
            <a:pPr marL="0" indent="0">
              <a:lnSpc>
                <a:spcPct val="105000"/>
              </a:lnSpc>
              <a:buNone/>
            </a:pPr>
            <a:r>
              <a:rPr lang="en-US" sz="1200" b="1" dirty="0">
                <a:solidFill>
                  <a:srgbClr val="0F1F3D"/>
                </a:solidFill>
                <a:latin typeface="Calibri" pitchFamily="34" charset="0"/>
                <a:ea typeface="Calibri" pitchFamily="34" charset="-122"/>
                <a:cs typeface="Calibri" pitchFamily="34" charset="-120"/>
              </a:rPr>
              <a:t>Pilot (Week 3)</a:t>
            </a:r>
            <a:endParaRPr lang="en-US" sz="1200" dirty="0"/>
          </a:p>
        </p:txBody>
      </p:sp>
      <p:sp>
        <p:nvSpPr>
          <p:cNvPr id="22" name="Text 20"/>
          <p:cNvSpPr/>
          <p:nvPr/>
        </p:nvSpPr>
        <p:spPr>
          <a:xfrm>
            <a:off x="5294376" y="3630168"/>
            <a:ext cx="1600200" cy="1188720"/>
          </a:xfrm>
          <a:prstGeom prst="rect">
            <a:avLst/>
          </a:prstGeom>
          <a:noFill/>
          <a:ln/>
        </p:spPr>
        <p:txBody>
          <a:bodyPr wrap="square" lIns="0" tIns="0" rIns="0" bIns="0" rtlCol="0" anchor="ctr"/>
          <a:lstStyle/>
          <a:p>
            <a:pPr marL="0" indent="0">
              <a:lnSpc>
                <a:spcPct val="115000"/>
              </a:lnSpc>
              <a:buNone/>
            </a:pPr>
            <a:r>
              <a:rPr lang="en-US" sz="970" dirty="0">
                <a:solidFill>
                  <a:srgbClr val="2B2E33"/>
                </a:solidFill>
                <a:latin typeface="Calibri" pitchFamily="34" charset="0"/>
                <a:ea typeface="Calibri" pitchFamily="34" charset="-122"/>
                <a:cs typeface="Calibri" pitchFamily="34" charset="-120"/>
              </a:rPr>
              <a:t>Piloted in one area to catch ambiguous questions before full rollout.</a:t>
            </a:r>
            <a:endParaRPr lang="en-US" sz="970" dirty="0"/>
          </a:p>
        </p:txBody>
      </p:sp>
      <p:sp>
        <p:nvSpPr>
          <p:cNvPr id="23" name="Shape 21"/>
          <p:cNvSpPr/>
          <p:nvPr/>
        </p:nvSpPr>
        <p:spPr>
          <a:xfrm>
            <a:off x="8060436" y="2148840"/>
            <a:ext cx="585216" cy="585216"/>
          </a:xfrm>
          <a:prstGeom prst="ellipse">
            <a:avLst/>
          </a:prstGeom>
          <a:solidFill>
            <a:srgbClr val="0F1F3D"/>
          </a:solidFill>
          <a:ln/>
        </p:spPr>
        <p:txBody>
          <a:bodyPr/>
          <a:lstStyle/>
          <a:p>
            <a:endParaRPr lang="en-US"/>
          </a:p>
        </p:txBody>
      </p:sp>
      <p:sp>
        <p:nvSpPr>
          <p:cNvPr id="24" name="Text 22"/>
          <p:cNvSpPr/>
          <p:nvPr/>
        </p:nvSpPr>
        <p:spPr>
          <a:xfrm>
            <a:off x="8060436" y="2148840"/>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5" name="Shape 23"/>
          <p:cNvSpPr/>
          <p:nvPr/>
        </p:nvSpPr>
        <p:spPr>
          <a:xfrm>
            <a:off x="8645652" y="2441448"/>
            <a:ext cx="384048" cy="0"/>
          </a:xfrm>
          <a:prstGeom prst="line">
            <a:avLst/>
          </a:prstGeom>
          <a:noFill/>
          <a:ln w="25400">
            <a:solidFill>
              <a:srgbClr val="D8DCE2"/>
            </a:solidFill>
            <a:prstDash val="solid"/>
          </a:ln>
        </p:spPr>
        <p:txBody>
          <a:bodyPr/>
          <a:lstStyle/>
          <a:p>
            <a:endParaRPr lang="en-US"/>
          </a:p>
        </p:txBody>
      </p:sp>
      <p:sp>
        <p:nvSpPr>
          <p:cNvPr id="26" name="Shape 24"/>
          <p:cNvSpPr/>
          <p:nvPr/>
        </p:nvSpPr>
        <p:spPr>
          <a:xfrm>
            <a:off x="7415784" y="3017520"/>
            <a:ext cx="1874520" cy="1920240"/>
          </a:xfrm>
          <a:prstGeom prst="roundRect">
            <a:avLst>
              <a:gd name="adj" fmla="val 3902"/>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7" name="Text 25"/>
          <p:cNvSpPr/>
          <p:nvPr/>
        </p:nvSpPr>
        <p:spPr>
          <a:xfrm>
            <a:off x="7552944" y="3154680"/>
            <a:ext cx="1600200" cy="502920"/>
          </a:xfrm>
          <a:prstGeom prst="rect">
            <a:avLst/>
          </a:prstGeom>
          <a:noFill/>
          <a:ln/>
        </p:spPr>
        <p:txBody>
          <a:bodyPr wrap="square" lIns="0" tIns="0" rIns="0" bIns="0" rtlCol="0" anchor="ctr"/>
          <a:lstStyle/>
          <a:p>
            <a:pPr marL="0" indent="0">
              <a:lnSpc>
                <a:spcPct val="105000"/>
              </a:lnSpc>
              <a:buNone/>
            </a:pPr>
            <a:r>
              <a:rPr lang="en-US" sz="1200" b="1" dirty="0">
                <a:solidFill>
                  <a:srgbClr val="0F1F3D"/>
                </a:solidFill>
                <a:latin typeface="Calibri" pitchFamily="34" charset="0"/>
                <a:ea typeface="Calibri" pitchFamily="34" charset="-122"/>
                <a:cs typeface="Calibri" pitchFamily="34" charset="-120"/>
              </a:rPr>
              <a:t>Full Rollout (Week 4)</a:t>
            </a:r>
            <a:endParaRPr lang="en-US" sz="1200" dirty="0"/>
          </a:p>
        </p:txBody>
      </p:sp>
      <p:sp>
        <p:nvSpPr>
          <p:cNvPr id="28" name="Text 26"/>
          <p:cNvSpPr/>
          <p:nvPr/>
        </p:nvSpPr>
        <p:spPr>
          <a:xfrm>
            <a:off x="7552944" y="3630168"/>
            <a:ext cx="1600200" cy="1188720"/>
          </a:xfrm>
          <a:prstGeom prst="rect">
            <a:avLst/>
          </a:prstGeom>
          <a:noFill/>
          <a:ln/>
        </p:spPr>
        <p:txBody>
          <a:bodyPr wrap="square" lIns="0" tIns="0" rIns="0" bIns="0" rtlCol="0" anchor="ctr"/>
          <a:lstStyle/>
          <a:p>
            <a:pPr marL="0" indent="0">
              <a:lnSpc>
                <a:spcPct val="115000"/>
              </a:lnSpc>
              <a:buNone/>
            </a:pPr>
            <a:r>
              <a:rPr lang="en-US" sz="970" dirty="0">
                <a:solidFill>
                  <a:srgbClr val="2B2E33"/>
                </a:solidFill>
                <a:latin typeface="Calibri" pitchFamily="34" charset="0"/>
                <a:ea typeface="Calibri" pitchFamily="34" charset="-122"/>
                <a:cs typeface="Calibri" pitchFamily="34" charset="-120"/>
              </a:rPr>
              <a:t>In-person field visits across all 4 localities via mobile data form.</a:t>
            </a:r>
            <a:endParaRPr lang="en-US" sz="970" dirty="0"/>
          </a:p>
        </p:txBody>
      </p:sp>
      <p:sp>
        <p:nvSpPr>
          <p:cNvPr id="29" name="Shape 27"/>
          <p:cNvSpPr/>
          <p:nvPr/>
        </p:nvSpPr>
        <p:spPr>
          <a:xfrm>
            <a:off x="10319004" y="2148840"/>
            <a:ext cx="585216" cy="585216"/>
          </a:xfrm>
          <a:prstGeom prst="ellipse">
            <a:avLst/>
          </a:prstGeom>
          <a:solidFill>
            <a:srgbClr val="0F1F3D"/>
          </a:solidFill>
          <a:ln/>
        </p:spPr>
        <p:txBody>
          <a:bodyPr/>
          <a:lstStyle/>
          <a:p>
            <a:endParaRPr lang="en-US"/>
          </a:p>
        </p:txBody>
      </p:sp>
      <p:sp>
        <p:nvSpPr>
          <p:cNvPr id="30" name="Text 28"/>
          <p:cNvSpPr/>
          <p:nvPr/>
        </p:nvSpPr>
        <p:spPr>
          <a:xfrm>
            <a:off x="10319004" y="2148840"/>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31" name="Shape 29"/>
          <p:cNvSpPr/>
          <p:nvPr/>
        </p:nvSpPr>
        <p:spPr>
          <a:xfrm>
            <a:off x="9674352" y="3017520"/>
            <a:ext cx="1874520" cy="1920240"/>
          </a:xfrm>
          <a:prstGeom prst="roundRect">
            <a:avLst>
              <a:gd name="adj" fmla="val 3902"/>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32" name="Text 30"/>
          <p:cNvSpPr/>
          <p:nvPr/>
        </p:nvSpPr>
        <p:spPr>
          <a:xfrm>
            <a:off x="9811512" y="3154680"/>
            <a:ext cx="1600200" cy="502920"/>
          </a:xfrm>
          <a:prstGeom prst="rect">
            <a:avLst/>
          </a:prstGeom>
          <a:noFill/>
          <a:ln/>
        </p:spPr>
        <p:txBody>
          <a:bodyPr wrap="square" lIns="0" tIns="0" rIns="0" bIns="0" rtlCol="0" anchor="ctr"/>
          <a:lstStyle/>
          <a:p>
            <a:pPr marL="0" indent="0">
              <a:lnSpc>
                <a:spcPct val="105000"/>
              </a:lnSpc>
              <a:buNone/>
            </a:pPr>
            <a:r>
              <a:rPr lang="en-US" sz="1200" b="1" dirty="0">
                <a:solidFill>
                  <a:srgbClr val="0F1F3D"/>
                </a:solidFill>
                <a:latin typeface="Calibri" pitchFamily="34" charset="0"/>
                <a:ea typeface="Calibri" pitchFamily="34" charset="-122"/>
                <a:cs typeface="Calibri" pitchFamily="34" charset="-120"/>
              </a:rPr>
              <a:t>Cleaning &amp; Structuring</a:t>
            </a:r>
            <a:endParaRPr lang="en-US" sz="1200" dirty="0"/>
          </a:p>
        </p:txBody>
      </p:sp>
      <p:sp>
        <p:nvSpPr>
          <p:cNvPr id="33" name="Text 31"/>
          <p:cNvSpPr/>
          <p:nvPr/>
        </p:nvSpPr>
        <p:spPr>
          <a:xfrm>
            <a:off x="9811512" y="3630168"/>
            <a:ext cx="1600200" cy="1188720"/>
          </a:xfrm>
          <a:prstGeom prst="rect">
            <a:avLst/>
          </a:prstGeom>
          <a:noFill/>
          <a:ln/>
        </p:spPr>
        <p:txBody>
          <a:bodyPr wrap="square" lIns="0" tIns="0" rIns="0" bIns="0" rtlCol="0" anchor="ctr"/>
          <a:lstStyle/>
          <a:p>
            <a:pPr marL="0" indent="0">
              <a:lnSpc>
                <a:spcPct val="115000"/>
              </a:lnSpc>
              <a:buNone/>
            </a:pPr>
            <a:r>
              <a:rPr lang="en-US" sz="970" dirty="0">
                <a:solidFill>
                  <a:srgbClr val="2B2E33"/>
                </a:solidFill>
                <a:latin typeface="Calibri" pitchFamily="34" charset="0"/>
                <a:ea typeface="Calibri" pitchFamily="34" charset="-122"/>
                <a:cs typeface="Calibri" pitchFamily="34" charset="-120"/>
              </a:rPr>
              <a:t>Standardized store-type &amp; category labels for consistent aggregation.</a:t>
            </a:r>
            <a:endParaRPr lang="en-US" sz="970" dirty="0"/>
          </a:p>
        </p:txBody>
      </p:sp>
      <p:sp>
        <p:nvSpPr>
          <p:cNvPr id="34" name="Shape 32"/>
          <p:cNvSpPr/>
          <p:nvPr/>
        </p:nvSpPr>
        <p:spPr>
          <a:xfrm>
            <a:off x="640080" y="5166360"/>
            <a:ext cx="10908792" cy="914400"/>
          </a:xfrm>
          <a:prstGeom prst="roundRect">
            <a:avLst>
              <a:gd name="adj" fmla="val 8000"/>
            </a:avLst>
          </a:prstGeom>
          <a:solidFill>
            <a:srgbClr val="0F1F3D"/>
          </a:solidFill>
          <a:ln/>
          <a:effectLst>
            <a:outerShdw blurRad="88900" dist="38100" dir="5400000" algn="bl" rotWithShape="0">
              <a:srgbClr val="5B6472">
                <a:alpha val="20000"/>
              </a:srgbClr>
            </a:outerShdw>
          </a:effectLst>
        </p:spPr>
        <p:txBody>
          <a:bodyPr/>
          <a:lstStyle/>
          <a:p>
            <a:endParaRPr lang="en-US"/>
          </a:p>
        </p:txBody>
      </p:sp>
      <p:sp>
        <p:nvSpPr>
          <p:cNvPr id="35" name="Text 33"/>
          <p:cNvSpPr/>
          <p:nvPr/>
        </p:nvSpPr>
        <p:spPr>
          <a:xfrm>
            <a:off x="640080" y="5285232"/>
            <a:ext cx="2727198" cy="365760"/>
          </a:xfrm>
          <a:prstGeom prst="rect">
            <a:avLst/>
          </a:prstGeom>
          <a:noFill/>
          <a:ln/>
        </p:spPr>
        <p:txBody>
          <a:bodyPr wrap="square" lIns="0" tIns="0" rIns="0" bIns="0" rtlCol="0" anchor="ctr"/>
          <a:lstStyle/>
          <a:p>
            <a:pPr marL="0" indent="0" algn="ctr">
              <a:buNone/>
            </a:pPr>
            <a:r>
              <a:rPr lang="en-US" sz="2000" b="1" dirty="0">
                <a:solidFill>
                  <a:srgbClr val="10A37F"/>
                </a:solidFill>
                <a:latin typeface="Cambria" pitchFamily="34" charset="0"/>
                <a:ea typeface="Cambria" pitchFamily="34" charset="-122"/>
                <a:cs typeface="Cambria" pitchFamily="34" charset="-120"/>
              </a:rPr>
              <a:t>27</a:t>
            </a:r>
            <a:endParaRPr lang="en-US" sz="2000" dirty="0"/>
          </a:p>
        </p:txBody>
      </p:sp>
      <p:sp>
        <p:nvSpPr>
          <p:cNvPr id="36" name="Text 34"/>
          <p:cNvSpPr/>
          <p:nvPr/>
        </p:nvSpPr>
        <p:spPr>
          <a:xfrm>
            <a:off x="640080" y="5687568"/>
            <a:ext cx="2727198" cy="274320"/>
          </a:xfrm>
          <a:prstGeom prst="rect">
            <a:avLst/>
          </a:prstGeom>
          <a:noFill/>
          <a:ln/>
        </p:spPr>
        <p:txBody>
          <a:bodyPr wrap="square" lIns="0" tIns="0" rIns="0" bIns="0" rtlCol="0" anchor="ctr"/>
          <a:lstStyle/>
          <a:p>
            <a:pPr marL="0" indent="0" algn="ctr">
              <a:buNone/>
            </a:pPr>
            <a:r>
              <a:rPr lang="en-US" sz="950" kern="0" spc="50" dirty="0">
                <a:solidFill>
                  <a:srgbClr val="C7D3E8"/>
                </a:solidFill>
                <a:latin typeface="Calibri" pitchFamily="34" charset="0"/>
                <a:ea typeface="Calibri" pitchFamily="34" charset="-122"/>
                <a:cs typeface="Calibri" pitchFamily="34" charset="-120"/>
              </a:rPr>
              <a:t>RETAILERS SURVEYED</a:t>
            </a:r>
            <a:endParaRPr lang="en-US" sz="950" dirty="0"/>
          </a:p>
        </p:txBody>
      </p:sp>
      <p:sp>
        <p:nvSpPr>
          <p:cNvPr id="37" name="Text 35"/>
          <p:cNvSpPr/>
          <p:nvPr/>
        </p:nvSpPr>
        <p:spPr>
          <a:xfrm>
            <a:off x="3367278" y="5285232"/>
            <a:ext cx="2727198" cy="365760"/>
          </a:xfrm>
          <a:prstGeom prst="rect">
            <a:avLst/>
          </a:prstGeom>
          <a:noFill/>
          <a:ln/>
        </p:spPr>
        <p:txBody>
          <a:bodyPr wrap="square" lIns="0" tIns="0" rIns="0" bIns="0" rtlCol="0" anchor="ctr"/>
          <a:lstStyle/>
          <a:p>
            <a:pPr marL="0" indent="0" algn="ctr">
              <a:buNone/>
            </a:pPr>
            <a:r>
              <a:rPr lang="en-US" sz="2000" b="1" dirty="0">
                <a:solidFill>
                  <a:srgbClr val="10A37F"/>
                </a:solidFill>
                <a:latin typeface="Cambria" pitchFamily="34" charset="0"/>
                <a:ea typeface="Cambria" pitchFamily="34" charset="-122"/>
                <a:cs typeface="Cambria" pitchFamily="34" charset="-120"/>
              </a:rPr>
              <a:t>6</a:t>
            </a:r>
            <a:endParaRPr lang="en-US" sz="2000" dirty="0"/>
          </a:p>
        </p:txBody>
      </p:sp>
      <p:sp>
        <p:nvSpPr>
          <p:cNvPr id="38" name="Text 36"/>
          <p:cNvSpPr/>
          <p:nvPr/>
        </p:nvSpPr>
        <p:spPr>
          <a:xfrm>
            <a:off x="3367278" y="5687568"/>
            <a:ext cx="2727198" cy="274320"/>
          </a:xfrm>
          <a:prstGeom prst="rect">
            <a:avLst/>
          </a:prstGeom>
          <a:noFill/>
          <a:ln/>
        </p:spPr>
        <p:txBody>
          <a:bodyPr wrap="square" lIns="0" tIns="0" rIns="0" bIns="0" rtlCol="0" anchor="ctr"/>
          <a:lstStyle/>
          <a:p>
            <a:pPr marL="0" indent="0" algn="ctr">
              <a:buNone/>
            </a:pPr>
            <a:r>
              <a:rPr lang="en-US" sz="950" kern="0" spc="50" dirty="0">
                <a:solidFill>
                  <a:srgbClr val="C7D3E8"/>
                </a:solidFill>
                <a:latin typeface="Calibri" pitchFamily="34" charset="0"/>
                <a:ea typeface="Calibri" pitchFamily="34" charset="-122"/>
                <a:cs typeface="Calibri" pitchFamily="34" charset="-120"/>
              </a:rPr>
              <a:t>DISTRIBUTORS SURVEYED</a:t>
            </a:r>
            <a:endParaRPr lang="en-US" sz="950" dirty="0"/>
          </a:p>
        </p:txBody>
      </p:sp>
      <p:sp>
        <p:nvSpPr>
          <p:cNvPr id="39" name="Text 37"/>
          <p:cNvSpPr/>
          <p:nvPr/>
        </p:nvSpPr>
        <p:spPr>
          <a:xfrm>
            <a:off x="6094476" y="5285232"/>
            <a:ext cx="2727198" cy="365760"/>
          </a:xfrm>
          <a:prstGeom prst="rect">
            <a:avLst/>
          </a:prstGeom>
          <a:noFill/>
          <a:ln/>
        </p:spPr>
        <p:txBody>
          <a:bodyPr wrap="square" lIns="0" tIns="0" rIns="0" bIns="0" rtlCol="0" anchor="ctr"/>
          <a:lstStyle/>
          <a:p>
            <a:pPr marL="0" indent="0" algn="ctr">
              <a:buNone/>
            </a:pPr>
            <a:r>
              <a:rPr lang="en-US" sz="2000" b="1" dirty="0">
                <a:solidFill>
                  <a:srgbClr val="10A37F"/>
                </a:solidFill>
                <a:latin typeface="Cambria" pitchFamily="34" charset="0"/>
                <a:ea typeface="Cambria" pitchFamily="34" charset="-122"/>
                <a:cs typeface="Cambria" pitchFamily="34" charset="-120"/>
              </a:rPr>
              <a:t>4</a:t>
            </a:r>
            <a:endParaRPr lang="en-US" sz="2000" dirty="0"/>
          </a:p>
        </p:txBody>
      </p:sp>
      <p:sp>
        <p:nvSpPr>
          <p:cNvPr id="40" name="Text 38"/>
          <p:cNvSpPr/>
          <p:nvPr/>
        </p:nvSpPr>
        <p:spPr>
          <a:xfrm>
            <a:off x="6094476" y="5687568"/>
            <a:ext cx="2727198" cy="274320"/>
          </a:xfrm>
          <a:prstGeom prst="rect">
            <a:avLst/>
          </a:prstGeom>
          <a:noFill/>
          <a:ln/>
        </p:spPr>
        <p:txBody>
          <a:bodyPr wrap="square" lIns="0" tIns="0" rIns="0" bIns="0" rtlCol="0" anchor="ctr"/>
          <a:lstStyle/>
          <a:p>
            <a:pPr marL="0" indent="0" algn="ctr">
              <a:buNone/>
            </a:pPr>
            <a:r>
              <a:rPr lang="en-US" sz="950" kern="0" spc="50" dirty="0">
                <a:solidFill>
                  <a:srgbClr val="C7D3E8"/>
                </a:solidFill>
                <a:latin typeface="Calibri" pitchFamily="34" charset="0"/>
                <a:ea typeface="Calibri" pitchFamily="34" charset="-122"/>
                <a:cs typeface="Calibri" pitchFamily="34" charset="-120"/>
              </a:rPr>
              <a:t>TARGET LOCALITIES</a:t>
            </a:r>
            <a:endParaRPr lang="en-US" sz="950" dirty="0"/>
          </a:p>
        </p:txBody>
      </p:sp>
      <p:sp>
        <p:nvSpPr>
          <p:cNvPr id="41" name="Text 39"/>
          <p:cNvSpPr/>
          <p:nvPr/>
        </p:nvSpPr>
        <p:spPr>
          <a:xfrm>
            <a:off x="8821674" y="5285232"/>
            <a:ext cx="2727198" cy="365760"/>
          </a:xfrm>
          <a:prstGeom prst="rect">
            <a:avLst/>
          </a:prstGeom>
          <a:noFill/>
          <a:ln/>
        </p:spPr>
        <p:txBody>
          <a:bodyPr wrap="square" lIns="0" tIns="0" rIns="0" bIns="0" rtlCol="0" anchor="ctr"/>
          <a:lstStyle/>
          <a:p>
            <a:pPr marL="0" indent="0" algn="ctr">
              <a:buNone/>
            </a:pPr>
            <a:r>
              <a:rPr lang="en-US" sz="2000" b="1" dirty="0">
                <a:solidFill>
                  <a:srgbClr val="10A37F"/>
                </a:solidFill>
                <a:latin typeface="Cambria" pitchFamily="34" charset="0"/>
                <a:ea typeface="Cambria" pitchFamily="34" charset="-122"/>
                <a:cs typeface="Cambria" pitchFamily="34" charset="-120"/>
              </a:rPr>
              <a:t>Purposive</a:t>
            </a:r>
            <a:endParaRPr lang="en-US" sz="2000" dirty="0"/>
          </a:p>
        </p:txBody>
      </p:sp>
      <p:sp>
        <p:nvSpPr>
          <p:cNvPr id="42" name="Text 40"/>
          <p:cNvSpPr/>
          <p:nvPr/>
        </p:nvSpPr>
        <p:spPr>
          <a:xfrm>
            <a:off x="8821674" y="5687568"/>
            <a:ext cx="2727198" cy="274320"/>
          </a:xfrm>
          <a:prstGeom prst="rect">
            <a:avLst/>
          </a:prstGeom>
          <a:noFill/>
          <a:ln/>
        </p:spPr>
        <p:txBody>
          <a:bodyPr wrap="square" lIns="0" tIns="0" rIns="0" bIns="0" rtlCol="0" anchor="ctr"/>
          <a:lstStyle/>
          <a:p>
            <a:pPr marL="0" indent="0" algn="ctr">
              <a:buNone/>
            </a:pPr>
            <a:r>
              <a:rPr lang="en-US" sz="950" kern="0" spc="50" dirty="0">
                <a:solidFill>
                  <a:srgbClr val="C7D3E8"/>
                </a:solidFill>
                <a:latin typeface="Calibri" pitchFamily="34" charset="0"/>
                <a:ea typeface="Calibri" pitchFamily="34" charset="-122"/>
                <a:cs typeface="Calibri" pitchFamily="34" charset="-120"/>
              </a:rPr>
              <a:t>AREA-BASED SAMPLING</a:t>
            </a:r>
            <a:endParaRPr lang="en-US" sz="950" dirty="0"/>
          </a:p>
        </p:txBody>
      </p:sp>
      <p:sp>
        <p:nvSpPr>
          <p:cNvPr id="43" name="Text 41"/>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44" name="Text 42"/>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RETAIL SURVEY PROCESS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What Was Captured at Each Retail Outlet</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03 – METHODOLOGY</a:t>
            </a:r>
            <a:endParaRPr lang="en-US" sz="1050" dirty="0"/>
          </a:p>
        </p:txBody>
      </p:sp>
      <p:sp>
        <p:nvSpPr>
          <p:cNvPr id="5" name="Shape 3"/>
          <p:cNvSpPr/>
          <p:nvPr/>
        </p:nvSpPr>
        <p:spPr>
          <a:xfrm>
            <a:off x="640080" y="1600200"/>
            <a:ext cx="2542032" cy="1783080"/>
          </a:xfrm>
          <a:prstGeom prst="roundRect">
            <a:avLst>
              <a:gd name="adj" fmla="val 4103"/>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6" name="Shape 4"/>
          <p:cNvSpPr/>
          <p:nvPr/>
        </p:nvSpPr>
        <p:spPr>
          <a:xfrm>
            <a:off x="1659636" y="1810512"/>
            <a:ext cx="502920" cy="502920"/>
          </a:xfrm>
          <a:prstGeom prst="ellipse">
            <a:avLst/>
          </a:prstGeom>
          <a:solidFill>
            <a:srgbClr val="0F1F3D"/>
          </a:solidFill>
          <a:ln/>
        </p:spPr>
        <p:txBody>
          <a:bodyPr/>
          <a:lstStyle/>
          <a:p>
            <a:endParaRPr lang="en-US"/>
          </a:p>
        </p:txBody>
      </p:sp>
      <p:pic>
        <p:nvPicPr>
          <p:cNvPr id="7" name="Image 0" descr="/home/claude/assets/store.png"/>
          <p:cNvPicPr>
            <a:picLocks noChangeAspect="1"/>
          </p:cNvPicPr>
          <p:nvPr/>
        </p:nvPicPr>
        <p:blipFill>
          <a:blip r:embed="rId3"/>
          <a:stretch>
            <a:fillRect/>
          </a:stretch>
        </p:blipFill>
        <p:spPr>
          <a:xfrm>
            <a:off x="1780337" y="1931213"/>
            <a:ext cx="261518" cy="261518"/>
          </a:xfrm>
          <a:prstGeom prst="rect">
            <a:avLst/>
          </a:prstGeom>
        </p:spPr>
      </p:pic>
      <p:sp>
        <p:nvSpPr>
          <p:cNvPr id="8" name="Text 5"/>
          <p:cNvSpPr/>
          <p:nvPr/>
        </p:nvSpPr>
        <p:spPr>
          <a:xfrm>
            <a:off x="749808" y="2450592"/>
            <a:ext cx="2322576" cy="457200"/>
          </a:xfrm>
          <a:prstGeom prst="rect">
            <a:avLst/>
          </a:prstGeom>
          <a:noFill/>
          <a:ln/>
        </p:spPr>
        <p:txBody>
          <a:bodyPr wrap="square" lIns="0" tIns="0" rIns="0" bIns="0" rtlCol="0" anchor="ctr"/>
          <a:lstStyle/>
          <a:p>
            <a:pPr marL="0" indent="0" algn="ctr">
              <a:lnSpc>
                <a:spcPct val="105000"/>
              </a:lnSpc>
              <a:buNone/>
            </a:pPr>
            <a:r>
              <a:rPr lang="en-US" sz="1080" b="1" dirty="0">
                <a:solidFill>
                  <a:srgbClr val="0F1F3D"/>
                </a:solidFill>
                <a:latin typeface="Calibri" pitchFamily="34" charset="0"/>
                <a:ea typeface="Calibri" pitchFamily="34" charset="-122"/>
                <a:cs typeface="Calibri" pitchFamily="34" charset="-120"/>
              </a:rPr>
              <a:t>Store Type Distribution</a:t>
            </a:r>
            <a:endParaRPr lang="en-US" sz="1080" dirty="0"/>
          </a:p>
        </p:txBody>
      </p:sp>
      <p:sp>
        <p:nvSpPr>
          <p:cNvPr id="9" name="Text 6"/>
          <p:cNvSpPr/>
          <p:nvPr/>
        </p:nvSpPr>
        <p:spPr>
          <a:xfrm>
            <a:off x="749808" y="2880360"/>
            <a:ext cx="2322576" cy="457200"/>
          </a:xfrm>
          <a:prstGeom prst="rect">
            <a:avLst/>
          </a:prstGeom>
          <a:noFill/>
          <a:ln/>
        </p:spPr>
        <p:txBody>
          <a:bodyPr wrap="square" lIns="0" tIns="0" rIns="0" bIns="0" rtlCol="0" anchor="ctr"/>
          <a:lstStyle/>
          <a:p>
            <a:pPr marL="0" indent="0" algn="ctr">
              <a:lnSpc>
                <a:spcPct val="105000"/>
              </a:lnSpc>
              <a:buNone/>
            </a:pPr>
            <a:r>
              <a:rPr lang="en-US" sz="930" dirty="0">
                <a:solidFill>
                  <a:srgbClr val="6B7280"/>
                </a:solidFill>
                <a:latin typeface="Calibri" pitchFamily="34" charset="0"/>
                <a:ea typeface="Calibri" pitchFamily="34" charset="-122"/>
                <a:cs typeface="Calibri" pitchFamily="34" charset="-120"/>
              </a:rPr>
              <a:t>Kirana stores vs. small supermarkets, by count.</a:t>
            </a:r>
            <a:endParaRPr lang="en-US" sz="930" dirty="0"/>
          </a:p>
        </p:txBody>
      </p:sp>
      <p:sp>
        <p:nvSpPr>
          <p:cNvPr id="10" name="Shape 7"/>
          <p:cNvSpPr/>
          <p:nvPr/>
        </p:nvSpPr>
        <p:spPr>
          <a:xfrm>
            <a:off x="3410712" y="1600200"/>
            <a:ext cx="2542032" cy="1783080"/>
          </a:xfrm>
          <a:prstGeom prst="roundRect">
            <a:avLst>
              <a:gd name="adj" fmla="val 4103"/>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1" name="Shape 8"/>
          <p:cNvSpPr/>
          <p:nvPr/>
        </p:nvSpPr>
        <p:spPr>
          <a:xfrm>
            <a:off x="4430268" y="1810512"/>
            <a:ext cx="502920" cy="502920"/>
          </a:xfrm>
          <a:prstGeom prst="ellipse">
            <a:avLst/>
          </a:prstGeom>
          <a:solidFill>
            <a:srgbClr val="0F1F3D"/>
          </a:solidFill>
          <a:ln/>
        </p:spPr>
        <p:txBody>
          <a:bodyPr/>
          <a:lstStyle/>
          <a:p>
            <a:endParaRPr lang="en-US"/>
          </a:p>
        </p:txBody>
      </p:sp>
      <p:pic>
        <p:nvPicPr>
          <p:cNvPr id="12" name="Image 1" descr="/home/claude/assets/location.png"/>
          <p:cNvPicPr>
            <a:picLocks noChangeAspect="1"/>
          </p:cNvPicPr>
          <p:nvPr/>
        </p:nvPicPr>
        <p:blipFill>
          <a:blip r:embed="rId4"/>
          <a:stretch>
            <a:fillRect/>
          </a:stretch>
        </p:blipFill>
        <p:spPr>
          <a:xfrm>
            <a:off x="4550969" y="1931213"/>
            <a:ext cx="261518" cy="261518"/>
          </a:xfrm>
          <a:prstGeom prst="rect">
            <a:avLst/>
          </a:prstGeom>
        </p:spPr>
      </p:pic>
      <p:sp>
        <p:nvSpPr>
          <p:cNvPr id="13" name="Text 9"/>
          <p:cNvSpPr/>
          <p:nvPr/>
        </p:nvSpPr>
        <p:spPr>
          <a:xfrm>
            <a:off x="3520440" y="2450592"/>
            <a:ext cx="2322576" cy="457200"/>
          </a:xfrm>
          <a:prstGeom prst="rect">
            <a:avLst/>
          </a:prstGeom>
          <a:noFill/>
          <a:ln/>
        </p:spPr>
        <p:txBody>
          <a:bodyPr wrap="square" lIns="0" tIns="0" rIns="0" bIns="0" rtlCol="0" anchor="ctr"/>
          <a:lstStyle/>
          <a:p>
            <a:pPr marL="0" indent="0" algn="ctr">
              <a:lnSpc>
                <a:spcPct val="105000"/>
              </a:lnSpc>
              <a:buNone/>
            </a:pPr>
            <a:r>
              <a:rPr lang="en-US" sz="1080" b="1" dirty="0">
                <a:solidFill>
                  <a:srgbClr val="0F1F3D"/>
                </a:solidFill>
                <a:latin typeface="Calibri" pitchFamily="34" charset="0"/>
                <a:ea typeface="Calibri" pitchFamily="34" charset="-122"/>
                <a:cs typeface="Calibri" pitchFamily="34" charset="-120"/>
              </a:rPr>
              <a:t>Locality-wise Coverage</a:t>
            </a:r>
            <a:endParaRPr lang="en-US" sz="1080" dirty="0"/>
          </a:p>
        </p:txBody>
      </p:sp>
      <p:sp>
        <p:nvSpPr>
          <p:cNvPr id="14" name="Text 10"/>
          <p:cNvSpPr/>
          <p:nvPr/>
        </p:nvSpPr>
        <p:spPr>
          <a:xfrm>
            <a:off x="3520440" y="2880360"/>
            <a:ext cx="2322576" cy="457200"/>
          </a:xfrm>
          <a:prstGeom prst="rect">
            <a:avLst/>
          </a:prstGeom>
          <a:noFill/>
          <a:ln/>
        </p:spPr>
        <p:txBody>
          <a:bodyPr wrap="square" lIns="0" tIns="0" rIns="0" bIns="0" rtlCol="0" anchor="ctr"/>
          <a:lstStyle/>
          <a:p>
            <a:pPr marL="0" indent="0" algn="ctr">
              <a:lnSpc>
                <a:spcPct val="105000"/>
              </a:lnSpc>
              <a:buNone/>
            </a:pPr>
            <a:r>
              <a:rPr lang="en-US" sz="930" dirty="0">
                <a:solidFill>
                  <a:srgbClr val="6B7280"/>
                </a:solidFill>
                <a:latin typeface="Calibri" pitchFamily="34" charset="0"/>
                <a:ea typeface="Calibri" pitchFamily="34" charset="-122"/>
                <a:cs typeface="Calibri" pitchFamily="34" charset="-120"/>
              </a:rPr>
              <a:t>Retailer counts across the four localities.</a:t>
            </a:r>
            <a:endParaRPr lang="en-US" sz="930" dirty="0"/>
          </a:p>
        </p:txBody>
      </p:sp>
      <p:sp>
        <p:nvSpPr>
          <p:cNvPr id="15" name="Shape 11"/>
          <p:cNvSpPr/>
          <p:nvPr/>
        </p:nvSpPr>
        <p:spPr>
          <a:xfrm>
            <a:off x="6181344" y="1600200"/>
            <a:ext cx="2542032" cy="1783080"/>
          </a:xfrm>
          <a:prstGeom prst="roundRect">
            <a:avLst>
              <a:gd name="adj" fmla="val 4103"/>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6" name="Shape 12"/>
          <p:cNvSpPr/>
          <p:nvPr/>
        </p:nvSpPr>
        <p:spPr>
          <a:xfrm>
            <a:off x="7200900" y="1810512"/>
            <a:ext cx="502920" cy="502920"/>
          </a:xfrm>
          <a:prstGeom prst="ellipse">
            <a:avLst/>
          </a:prstGeom>
          <a:solidFill>
            <a:srgbClr val="0F1F3D"/>
          </a:solidFill>
          <a:ln/>
        </p:spPr>
        <p:txBody>
          <a:bodyPr/>
          <a:lstStyle/>
          <a:p>
            <a:endParaRPr lang="en-US"/>
          </a:p>
        </p:txBody>
      </p:sp>
      <p:pic>
        <p:nvPicPr>
          <p:cNvPr id="17" name="Image 2" descr="/home/claude/assets/target.png"/>
          <p:cNvPicPr>
            <a:picLocks noChangeAspect="1"/>
          </p:cNvPicPr>
          <p:nvPr/>
        </p:nvPicPr>
        <p:blipFill>
          <a:blip r:embed="rId5"/>
          <a:stretch>
            <a:fillRect/>
          </a:stretch>
        </p:blipFill>
        <p:spPr>
          <a:xfrm>
            <a:off x="7321601" y="1931213"/>
            <a:ext cx="261518" cy="261518"/>
          </a:xfrm>
          <a:prstGeom prst="rect">
            <a:avLst/>
          </a:prstGeom>
        </p:spPr>
      </p:pic>
      <p:sp>
        <p:nvSpPr>
          <p:cNvPr id="18" name="Text 13"/>
          <p:cNvSpPr/>
          <p:nvPr/>
        </p:nvSpPr>
        <p:spPr>
          <a:xfrm>
            <a:off x="6291072" y="2450592"/>
            <a:ext cx="2322576" cy="457200"/>
          </a:xfrm>
          <a:prstGeom prst="rect">
            <a:avLst/>
          </a:prstGeom>
          <a:noFill/>
          <a:ln/>
        </p:spPr>
        <p:txBody>
          <a:bodyPr wrap="square" lIns="0" tIns="0" rIns="0" bIns="0" rtlCol="0" anchor="ctr"/>
          <a:lstStyle/>
          <a:p>
            <a:pPr marL="0" indent="0" algn="ctr">
              <a:lnSpc>
                <a:spcPct val="105000"/>
              </a:lnSpc>
              <a:buNone/>
            </a:pPr>
            <a:r>
              <a:rPr lang="en-US" sz="1080" b="1" dirty="0">
                <a:solidFill>
                  <a:srgbClr val="0F1F3D"/>
                </a:solidFill>
                <a:latin typeface="Calibri" pitchFamily="34" charset="0"/>
                <a:ea typeface="Calibri" pitchFamily="34" charset="-122"/>
                <a:cs typeface="Calibri" pitchFamily="34" charset="-120"/>
              </a:rPr>
              <a:t>Potential &amp; Footfall</a:t>
            </a:r>
            <a:endParaRPr lang="en-US" sz="1080" dirty="0"/>
          </a:p>
        </p:txBody>
      </p:sp>
      <p:sp>
        <p:nvSpPr>
          <p:cNvPr id="19" name="Text 14"/>
          <p:cNvSpPr/>
          <p:nvPr/>
        </p:nvSpPr>
        <p:spPr>
          <a:xfrm>
            <a:off x="6291072" y="2880360"/>
            <a:ext cx="2322576" cy="457200"/>
          </a:xfrm>
          <a:prstGeom prst="rect">
            <a:avLst/>
          </a:prstGeom>
          <a:noFill/>
          <a:ln/>
        </p:spPr>
        <p:txBody>
          <a:bodyPr wrap="square" lIns="0" tIns="0" rIns="0" bIns="0" rtlCol="0" anchor="ctr"/>
          <a:lstStyle/>
          <a:p>
            <a:pPr marL="0" indent="0" algn="ctr">
              <a:lnSpc>
                <a:spcPct val="105000"/>
              </a:lnSpc>
              <a:buNone/>
            </a:pPr>
            <a:r>
              <a:rPr lang="en-US" sz="930" dirty="0">
                <a:solidFill>
                  <a:srgbClr val="6B7280"/>
                </a:solidFill>
                <a:latin typeface="Calibri" pitchFamily="34" charset="0"/>
                <a:ea typeface="Calibri" pitchFamily="34" charset="-122"/>
                <a:cs typeface="Calibri" pitchFamily="34" charset="-120"/>
              </a:rPr>
              <a:t>Retail potential rating + observed customer footfall.</a:t>
            </a:r>
            <a:endParaRPr lang="en-US" sz="930" dirty="0"/>
          </a:p>
        </p:txBody>
      </p:sp>
      <p:sp>
        <p:nvSpPr>
          <p:cNvPr id="20" name="Shape 15"/>
          <p:cNvSpPr/>
          <p:nvPr/>
        </p:nvSpPr>
        <p:spPr>
          <a:xfrm>
            <a:off x="8951976" y="1600200"/>
            <a:ext cx="2542032" cy="1783080"/>
          </a:xfrm>
          <a:prstGeom prst="roundRect">
            <a:avLst>
              <a:gd name="adj" fmla="val 4103"/>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1" name="Shape 16"/>
          <p:cNvSpPr/>
          <p:nvPr/>
        </p:nvSpPr>
        <p:spPr>
          <a:xfrm>
            <a:off x="9971532" y="1810512"/>
            <a:ext cx="502920" cy="502920"/>
          </a:xfrm>
          <a:prstGeom prst="ellipse">
            <a:avLst/>
          </a:prstGeom>
          <a:solidFill>
            <a:srgbClr val="0F1F3D"/>
          </a:solidFill>
          <a:ln/>
        </p:spPr>
        <p:txBody>
          <a:bodyPr/>
          <a:lstStyle/>
          <a:p>
            <a:endParaRPr lang="en-US"/>
          </a:p>
        </p:txBody>
      </p:sp>
      <p:pic>
        <p:nvPicPr>
          <p:cNvPr id="22" name="Image 3" descr="/home/claude/assets/brand.png"/>
          <p:cNvPicPr>
            <a:picLocks noChangeAspect="1"/>
          </p:cNvPicPr>
          <p:nvPr/>
        </p:nvPicPr>
        <p:blipFill>
          <a:blip r:embed="rId6"/>
          <a:stretch>
            <a:fillRect/>
          </a:stretch>
        </p:blipFill>
        <p:spPr>
          <a:xfrm>
            <a:off x="10092233" y="1931213"/>
            <a:ext cx="261518" cy="261518"/>
          </a:xfrm>
          <a:prstGeom prst="rect">
            <a:avLst/>
          </a:prstGeom>
        </p:spPr>
      </p:pic>
      <p:sp>
        <p:nvSpPr>
          <p:cNvPr id="23" name="Text 17"/>
          <p:cNvSpPr/>
          <p:nvPr/>
        </p:nvSpPr>
        <p:spPr>
          <a:xfrm>
            <a:off x="9061704" y="2450592"/>
            <a:ext cx="2322576" cy="457200"/>
          </a:xfrm>
          <a:prstGeom prst="rect">
            <a:avLst/>
          </a:prstGeom>
          <a:noFill/>
          <a:ln/>
        </p:spPr>
        <p:txBody>
          <a:bodyPr wrap="square" lIns="0" tIns="0" rIns="0" bIns="0" rtlCol="0" anchor="ctr"/>
          <a:lstStyle/>
          <a:p>
            <a:pPr marL="0" indent="0" algn="ctr">
              <a:lnSpc>
                <a:spcPct val="105000"/>
              </a:lnSpc>
              <a:buNone/>
            </a:pPr>
            <a:r>
              <a:rPr lang="en-US" sz="1080" b="1" dirty="0">
                <a:solidFill>
                  <a:srgbClr val="0F1F3D"/>
                </a:solidFill>
                <a:latin typeface="Calibri" pitchFamily="34" charset="0"/>
                <a:ea typeface="Calibri" pitchFamily="34" charset="-122"/>
                <a:cs typeface="Calibri" pitchFamily="34" charset="-120"/>
              </a:rPr>
              <a:t>Brand &amp; Product Availability</a:t>
            </a:r>
            <a:endParaRPr lang="en-US" sz="1080" dirty="0"/>
          </a:p>
        </p:txBody>
      </p:sp>
      <p:sp>
        <p:nvSpPr>
          <p:cNvPr id="24" name="Text 18"/>
          <p:cNvSpPr/>
          <p:nvPr/>
        </p:nvSpPr>
        <p:spPr>
          <a:xfrm>
            <a:off x="9061704" y="2880360"/>
            <a:ext cx="2322576" cy="457200"/>
          </a:xfrm>
          <a:prstGeom prst="rect">
            <a:avLst/>
          </a:prstGeom>
          <a:noFill/>
          <a:ln/>
        </p:spPr>
        <p:txBody>
          <a:bodyPr wrap="square" lIns="0" tIns="0" rIns="0" bIns="0" rtlCol="0" anchor="ctr"/>
          <a:lstStyle/>
          <a:p>
            <a:pPr marL="0" indent="0" algn="ctr">
              <a:lnSpc>
                <a:spcPct val="105000"/>
              </a:lnSpc>
              <a:buNone/>
            </a:pPr>
            <a:r>
              <a:rPr lang="en-US" sz="930" dirty="0">
                <a:solidFill>
                  <a:srgbClr val="6B7280"/>
                </a:solidFill>
                <a:latin typeface="Calibri" pitchFamily="34" charset="0"/>
                <a:ea typeface="Calibri" pitchFamily="34" charset="-122"/>
                <a:cs typeface="Calibri" pitchFamily="34" charset="-120"/>
              </a:rPr>
              <a:t>Which brands / categories are stocked, per outlet.</a:t>
            </a:r>
            <a:endParaRPr lang="en-US" sz="930" dirty="0"/>
          </a:p>
        </p:txBody>
      </p:sp>
      <p:sp>
        <p:nvSpPr>
          <p:cNvPr id="25" name="Text 19"/>
          <p:cNvSpPr/>
          <p:nvPr/>
        </p:nvSpPr>
        <p:spPr>
          <a:xfrm>
            <a:off x="640080" y="3657600"/>
            <a:ext cx="4572000" cy="274320"/>
          </a:xfrm>
          <a:prstGeom prst="rect">
            <a:avLst/>
          </a:prstGeom>
          <a:noFill/>
          <a:ln/>
        </p:spPr>
        <p:txBody>
          <a:bodyPr wrap="square" lIns="0" tIns="0" rIns="0" bIns="0" rtlCol="0" anchor="ctr"/>
          <a:lstStyle/>
          <a:p>
            <a:pPr marL="0" indent="0">
              <a:buNone/>
            </a:pPr>
            <a:r>
              <a:rPr lang="en-US" sz="1050" b="1" kern="0" spc="100" dirty="0">
                <a:solidFill>
                  <a:srgbClr val="0B7A5F"/>
                </a:solidFill>
                <a:latin typeface="Calibri" pitchFamily="34" charset="0"/>
                <a:ea typeface="Calibri" pitchFamily="34" charset="-122"/>
                <a:cs typeface="Calibri" pitchFamily="34" charset="-120"/>
              </a:rPr>
              <a:t>RETAILER DATA FIELDS</a:t>
            </a:r>
            <a:endParaRPr 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3977640"/>
          <a:ext cx="10908792" cy="2560320"/>
        </p:xfrm>
        <a:graphic>
          <a:graphicData uri="http://schemas.openxmlformats.org/drawingml/2006/table">
            <a:tbl>
              <a:tblPr/>
              <a:tblGrid>
                <a:gridCol w="3291840">
                  <a:extLst>
                    <a:ext uri="{9D8B030D-6E8A-4147-A177-3AD203B41FA5}">
                      <a16:colId xmlns:a16="http://schemas.microsoft.com/office/drawing/2014/main" val="20000"/>
                    </a:ext>
                  </a:extLst>
                </a:gridCol>
                <a:gridCol w="7616952">
                  <a:extLst>
                    <a:ext uri="{9D8B030D-6E8A-4147-A177-3AD203B41FA5}">
                      <a16:colId xmlns:a16="http://schemas.microsoft.com/office/drawing/2014/main" val="20001"/>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Field</a:t>
                      </a:r>
                      <a:endParaRPr lang="en-US" sz="115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0F1F3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0F1F3D"/>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Store Type</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Category of outlet (e.g., Kirana store, small supermarket)</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Location</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Area / locality of the outlet</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Brand Availability</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Brands stocked at the outlet</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Product Availability</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Product categories stocked at the outlet</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Retail Potential</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Assessed potential rating of the outlet</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Customer Footfall</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Observed footfall level at the outlet</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6"/>
                  </a:ext>
                </a:extLst>
              </a:tr>
            </a:tbl>
          </a:graphicData>
        </a:graphic>
      </p:graphicFrame>
      <p:sp>
        <p:nvSpPr>
          <p:cNvPr id="27" name="Text 20"/>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28" name="Text 21"/>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DISTRIBUTOR SURVEY PROCESS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What Was Captured at Each Distributor</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03 – METHODOLOGY</a:t>
            </a:r>
            <a:endParaRPr lang="en-US" sz="1050" dirty="0"/>
          </a:p>
        </p:txBody>
      </p:sp>
      <p:sp>
        <p:nvSpPr>
          <p:cNvPr id="5" name="Shape 3"/>
          <p:cNvSpPr/>
          <p:nvPr/>
        </p:nvSpPr>
        <p:spPr>
          <a:xfrm>
            <a:off x="640080" y="1600200"/>
            <a:ext cx="2542032" cy="1783080"/>
          </a:xfrm>
          <a:prstGeom prst="roundRect">
            <a:avLst>
              <a:gd name="adj" fmla="val 4103"/>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6" name="Shape 4"/>
          <p:cNvSpPr/>
          <p:nvPr/>
        </p:nvSpPr>
        <p:spPr>
          <a:xfrm>
            <a:off x="1659636" y="1810512"/>
            <a:ext cx="502920" cy="502920"/>
          </a:xfrm>
          <a:prstGeom prst="ellipse">
            <a:avLst/>
          </a:prstGeom>
          <a:solidFill>
            <a:srgbClr val="0F1F3D"/>
          </a:solidFill>
          <a:ln/>
        </p:spPr>
        <p:txBody>
          <a:bodyPr/>
          <a:lstStyle/>
          <a:p>
            <a:endParaRPr lang="en-US"/>
          </a:p>
        </p:txBody>
      </p:sp>
      <p:pic>
        <p:nvPicPr>
          <p:cNvPr id="7" name="Image 0" descr="/home/claude/assets/truck.png"/>
          <p:cNvPicPr>
            <a:picLocks noChangeAspect="1"/>
          </p:cNvPicPr>
          <p:nvPr/>
        </p:nvPicPr>
        <p:blipFill>
          <a:blip r:embed="rId3"/>
          <a:stretch>
            <a:fillRect/>
          </a:stretch>
        </p:blipFill>
        <p:spPr>
          <a:xfrm>
            <a:off x="1780337" y="1931213"/>
            <a:ext cx="261518" cy="261518"/>
          </a:xfrm>
          <a:prstGeom prst="rect">
            <a:avLst/>
          </a:prstGeom>
        </p:spPr>
      </p:pic>
      <p:sp>
        <p:nvSpPr>
          <p:cNvPr id="8" name="Text 5"/>
          <p:cNvSpPr/>
          <p:nvPr/>
        </p:nvSpPr>
        <p:spPr>
          <a:xfrm>
            <a:off x="749808" y="2450592"/>
            <a:ext cx="2322576" cy="457200"/>
          </a:xfrm>
          <a:prstGeom prst="rect">
            <a:avLst/>
          </a:prstGeom>
          <a:noFill/>
          <a:ln/>
        </p:spPr>
        <p:txBody>
          <a:bodyPr wrap="square" lIns="0" tIns="0" rIns="0" bIns="0" rtlCol="0" anchor="ctr"/>
          <a:lstStyle/>
          <a:p>
            <a:pPr marL="0" indent="0" algn="ctr">
              <a:lnSpc>
                <a:spcPct val="105000"/>
              </a:lnSpc>
              <a:buNone/>
            </a:pPr>
            <a:r>
              <a:rPr lang="en-US" sz="1080" b="1" dirty="0">
                <a:solidFill>
                  <a:srgbClr val="0F1F3D"/>
                </a:solidFill>
                <a:latin typeface="Calibri" pitchFamily="34" charset="0"/>
                <a:ea typeface="Calibri" pitchFamily="34" charset="-122"/>
                <a:cs typeface="Calibri" pitchFamily="34" charset="-120"/>
              </a:rPr>
              <a:t>Scale &amp; Capacity</a:t>
            </a:r>
            <a:endParaRPr lang="en-US" sz="1080" dirty="0"/>
          </a:p>
        </p:txBody>
      </p:sp>
      <p:sp>
        <p:nvSpPr>
          <p:cNvPr id="9" name="Text 6"/>
          <p:cNvSpPr/>
          <p:nvPr/>
        </p:nvSpPr>
        <p:spPr>
          <a:xfrm>
            <a:off x="749808" y="2880360"/>
            <a:ext cx="2322576" cy="457200"/>
          </a:xfrm>
          <a:prstGeom prst="rect">
            <a:avLst/>
          </a:prstGeom>
          <a:noFill/>
          <a:ln/>
        </p:spPr>
        <p:txBody>
          <a:bodyPr wrap="square" lIns="0" tIns="0" rIns="0" bIns="0" rtlCol="0" anchor="ctr"/>
          <a:lstStyle/>
          <a:p>
            <a:pPr marL="0" indent="0" algn="ctr">
              <a:lnSpc>
                <a:spcPct val="105000"/>
              </a:lnSpc>
              <a:buNone/>
            </a:pPr>
            <a:r>
              <a:rPr lang="en-US" sz="930" dirty="0">
                <a:solidFill>
                  <a:srgbClr val="6B7280"/>
                </a:solidFill>
                <a:latin typeface="Calibri" pitchFamily="34" charset="0"/>
                <a:ea typeface="Calibri" pitchFamily="34" charset="-122"/>
                <a:cs typeface="Calibri" pitchFamily="34" charset="-120"/>
              </a:rPr>
              <a:t>Retailers served, employees, delivery vehicles, area covered.</a:t>
            </a:r>
            <a:endParaRPr lang="en-US" sz="930" dirty="0"/>
          </a:p>
        </p:txBody>
      </p:sp>
      <p:sp>
        <p:nvSpPr>
          <p:cNvPr id="10" name="Shape 7"/>
          <p:cNvSpPr/>
          <p:nvPr/>
        </p:nvSpPr>
        <p:spPr>
          <a:xfrm>
            <a:off x="3410712" y="1600200"/>
            <a:ext cx="2542032" cy="1783080"/>
          </a:xfrm>
          <a:prstGeom prst="roundRect">
            <a:avLst>
              <a:gd name="adj" fmla="val 4103"/>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1" name="Shape 8"/>
          <p:cNvSpPr/>
          <p:nvPr/>
        </p:nvSpPr>
        <p:spPr>
          <a:xfrm>
            <a:off x="4430268" y="1810512"/>
            <a:ext cx="502920" cy="502920"/>
          </a:xfrm>
          <a:prstGeom prst="ellipse">
            <a:avLst/>
          </a:prstGeom>
          <a:solidFill>
            <a:srgbClr val="0F1F3D"/>
          </a:solidFill>
          <a:ln/>
        </p:spPr>
        <p:txBody>
          <a:bodyPr/>
          <a:lstStyle/>
          <a:p>
            <a:endParaRPr lang="en-US"/>
          </a:p>
        </p:txBody>
      </p:sp>
      <p:pic>
        <p:nvPicPr>
          <p:cNvPr id="12" name="Image 1" descr="/home/claude/assets/snowflake.png"/>
          <p:cNvPicPr>
            <a:picLocks noChangeAspect="1"/>
          </p:cNvPicPr>
          <p:nvPr/>
        </p:nvPicPr>
        <p:blipFill>
          <a:blip r:embed="rId4"/>
          <a:stretch>
            <a:fillRect/>
          </a:stretch>
        </p:blipFill>
        <p:spPr>
          <a:xfrm>
            <a:off x="4550969" y="1931213"/>
            <a:ext cx="261518" cy="261518"/>
          </a:xfrm>
          <a:prstGeom prst="rect">
            <a:avLst/>
          </a:prstGeom>
        </p:spPr>
      </p:pic>
      <p:sp>
        <p:nvSpPr>
          <p:cNvPr id="13" name="Text 9"/>
          <p:cNvSpPr/>
          <p:nvPr/>
        </p:nvSpPr>
        <p:spPr>
          <a:xfrm>
            <a:off x="3520440" y="2450592"/>
            <a:ext cx="2322576" cy="457200"/>
          </a:xfrm>
          <a:prstGeom prst="rect">
            <a:avLst/>
          </a:prstGeom>
          <a:noFill/>
          <a:ln/>
        </p:spPr>
        <p:txBody>
          <a:bodyPr wrap="square" lIns="0" tIns="0" rIns="0" bIns="0" rtlCol="0" anchor="ctr"/>
          <a:lstStyle/>
          <a:p>
            <a:pPr marL="0" indent="0" algn="ctr">
              <a:lnSpc>
                <a:spcPct val="105000"/>
              </a:lnSpc>
              <a:buNone/>
            </a:pPr>
            <a:r>
              <a:rPr lang="en-US" sz="1080" b="1" dirty="0">
                <a:solidFill>
                  <a:srgbClr val="0F1F3D"/>
                </a:solidFill>
                <a:latin typeface="Calibri" pitchFamily="34" charset="0"/>
                <a:ea typeface="Calibri" pitchFamily="34" charset="-122"/>
                <a:cs typeface="Calibri" pitchFamily="34" charset="-120"/>
              </a:rPr>
              <a:t>Cold Storage</a:t>
            </a:r>
            <a:endParaRPr lang="en-US" sz="1080" dirty="0"/>
          </a:p>
        </p:txBody>
      </p:sp>
      <p:sp>
        <p:nvSpPr>
          <p:cNvPr id="14" name="Text 10"/>
          <p:cNvSpPr/>
          <p:nvPr/>
        </p:nvSpPr>
        <p:spPr>
          <a:xfrm>
            <a:off x="3520440" y="2880360"/>
            <a:ext cx="2322576" cy="457200"/>
          </a:xfrm>
          <a:prstGeom prst="rect">
            <a:avLst/>
          </a:prstGeom>
          <a:noFill/>
          <a:ln/>
        </p:spPr>
        <p:txBody>
          <a:bodyPr wrap="square" lIns="0" tIns="0" rIns="0" bIns="0" rtlCol="0" anchor="ctr"/>
          <a:lstStyle/>
          <a:p>
            <a:pPr marL="0" indent="0" algn="ctr">
              <a:lnSpc>
                <a:spcPct val="105000"/>
              </a:lnSpc>
              <a:buNone/>
            </a:pPr>
            <a:r>
              <a:rPr lang="en-US" sz="930" dirty="0">
                <a:solidFill>
                  <a:srgbClr val="6B7280"/>
                </a:solidFill>
                <a:latin typeface="Calibri" pitchFamily="34" charset="0"/>
                <a:ea typeface="Calibri" pitchFamily="34" charset="-122"/>
                <a:cs typeface="Calibri" pitchFamily="34" charset="-120"/>
              </a:rPr>
              <a:t>Availability of cold storage facilities.</a:t>
            </a:r>
            <a:endParaRPr lang="en-US" sz="930" dirty="0"/>
          </a:p>
        </p:txBody>
      </p:sp>
      <p:sp>
        <p:nvSpPr>
          <p:cNvPr id="15" name="Shape 11"/>
          <p:cNvSpPr/>
          <p:nvPr/>
        </p:nvSpPr>
        <p:spPr>
          <a:xfrm>
            <a:off x="6181344" y="1600200"/>
            <a:ext cx="2542032" cy="1783080"/>
          </a:xfrm>
          <a:prstGeom prst="roundRect">
            <a:avLst>
              <a:gd name="adj" fmla="val 4103"/>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6" name="Shape 12"/>
          <p:cNvSpPr/>
          <p:nvPr/>
        </p:nvSpPr>
        <p:spPr>
          <a:xfrm>
            <a:off x="7200900" y="1810512"/>
            <a:ext cx="502920" cy="502920"/>
          </a:xfrm>
          <a:prstGeom prst="ellipse">
            <a:avLst/>
          </a:prstGeom>
          <a:solidFill>
            <a:srgbClr val="0F1F3D"/>
          </a:solidFill>
          <a:ln/>
        </p:spPr>
        <p:txBody>
          <a:bodyPr/>
          <a:lstStyle/>
          <a:p>
            <a:endParaRPr lang="en-US"/>
          </a:p>
        </p:txBody>
      </p:sp>
      <p:pic>
        <p:nvPicPr>
          <p:cNvPr id="17" name="Image 2" descr="/home/claude/assets/chart.png"/>
          <p:cNvPicPr>
            <a:picLocks noChangeAspect="1"/>
          </p:cNvPicPr>
          <p:nvPr/>
        </p:nvPicPr>
        <p:blipFill>
          <a:blip r:embed="rId5"/>
          <a:stretch>
            <a:fillRect/>
          </a:stretch>
        </p:blipFill>
        <p:spPr>
          <a:xfrm>
            <a:off x="7321601" y="1931213"/>
            <a:ext cx="261518" cy="261518"/>
          </a:xfrm>
          <a:prstGeom prst="rect">
            <a:avLst/>
          </a:prstGeom>
        </p:spPr>
      </p:pic>
      <p:sp>
        <p:nvSpPr>
          <p:cNvPr id="18" name="Text 13"/>
          <p:cNvSpPr/>
          <p:nvPr/>
        </p:nvSpPr>
        <p:spPr>
          <a:xfrm>
            <a:off x="6291072" y="2450592"/>
            <a:ext cx="2322576" cy="457200"/>
          </a:xfrm>
          <a:prstGeom prst="rect">
            <a:avLst/>
          </a:prstGeom>
          <a:noFill/>
          <a:ln/>
        </p:spPr>
        <p:txBody>
          <a:bodyPr wrap="square" lIns="0" tIns="0" rIns="0" bIns="0" rtlCol="0" anchor="ctr"/>
          <a:lstStyle/>
          <a:p>
            <a:pPr marL="0" indent="0" algn="ctr">
              <a:lnSpc>
                <a:spcPct val="105000"/>
              </a:lnSpc>
              <a:buNone/>
            </a:pPr>
            <a:r>
              <a:rPr lang="en-US" sz="1080" b="1" dirty="0">
                <a:solidFill>
                  <a:srgbClr val="0F1F3D"/>
                </a:solidFill>
                <a:latin typeface="Calibri" pitchFamily="34" charset="0"/>
                <a:ea typeface="Calibri" pitchFamily="34" charset="-122"/>
                <a:cs typeface="Calibri" pitchFamily="34" charset="-120"/>
              </a:rPr>
              <a:t>Demand &amp; Growth</a:t>
            </a:r>
            <a:endParaRPr lang="en-US" sz="1080" dirty="0"/>
          </a:p>
        </p:txBody>
      </p:sp>
      <p:sp>
        <p:nvSpPr>
          <p:cNvPr id="19" name="Text 14"/>
          <p:cNvSpPr/>
          <p:nvPr/>
        </p:nvSpPr>
        <p:spPr>
          <a:xfrm>
            <a:off x="6291072" y="2880360"/>
            <a:ext cx="2322576" cy="457200"/>
          </a:xfrm>
          <a:prstGeom prst="rect">
            <a:avLst/>
          </a:prstGeom>
          <a:noFill/>
          <a:ln/>
        </p:spPr>
        <p:txBody>
          <a:bodyPr wrap="square" lIns="0" tIns="0" rIns="0" bIns="0" rtlCol="0" anchor="ctr"/>
          <a:lstStyle/>
          <a:p>
            <a:pPr marL="0" indent="0" algn="ctr">
              <a:lnSpc>
                <a:spcPct val="105000"/>
              </a:lnSpc>
              <a:buNone/>
            </a:pPr>
            <a:r>
              <a:rPr lang="en-US" sz="930" dirty="0">
                <a:solidFill>
                  <a:srgbClr val="6B7280"/>
                </a:solidFill>
                <a:latin typeface="Calibri" pitchFamily="34" charset="0"/>
                <a:ea typeface="Calibri" pitchFamily="34" charset="-122"/>
                <a:cs typeface="Calibri" pitchFamily="34" charset="-120"/>
              </a:rPr>
              <a:t>Highest-demand and fastest-growing categories.</a:t>
            </a:r>
            <a:endParaRPr lang="en-US" sz="930" dirty="0"/>
          </a:p>
        </p:txBody>
      </p:sp>
      <p:sp>
        <p:nvSpPr>
          <p:cNvPr id="20" name="Shape 15"/>
          <p:cNvSpPr/>
          <p:nvPr/>
        </p:nvSpPr>
        <p:spPr>
          <a:xfrm>
            <a:off x="8951976" y="1600200"/>
            <a:ext cx="2542032" cy="1783080"/>
          </a:xfrm>
          <a:prstGeom prst="roundRect">
            <a:avLst>
              <a:gd name="adj" fmla="val 4103"/>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1" name="Shape 16"/>
          <p:cNvSpPr/>
          <p:nvPr/>
        </p:nvSpPr>
        <p:spPr>
          <a:xfrm>
            <a:off x="9971532" y="1810512"/>
            <a:ext cx="502920" cy="502920"/>
          </a:xfrm>
          <a:prstGeom prst="ellipse">
            <a:avLst/>
          </a:prstGeom>
          <a:solidFill>
            <a:srgbClr val="0F1F3D"/>
          </a:solidFill>
          <a:ln/>
        </p:spPr>
        <p:txBody>
          <a:bodyPr/>
          <a:lstStyle/>
          <a:p>
            <a:endParaRPr lang="en-US"/>
          </a:p>
        </p:txBody>
      </p:sp>
      <p:pic>
        <p:nvPicPr>
          <p:cNvPr id="22" name="Image 3" descr="/home/claude/assets/brand.png"/>
          <p:cNvPicPr>
            <a:picLocks noChangeAspect="1"/>
          </p:cNvPicPr>
          <p:nvPr/>
        </p:nvPicPr>
        <p:blipFill>
          <a:blip r:embed="rId6"/>
          <a:stretch>
            <a:fillRect/>
          </a:stretch>
        </p:blipFill>
        <p:spPr>
          <a:xfrm>
            <a:off x="10092233" y="1931213"/>
            <a:ext cx="261518" cy="261518"/>
          </a:xfrm>
          <a:prstGeom prst="rect">
            <a:avLst/>
          </a:prstGeom>
        </p:spPr>
      </p:pic>
      <p:sp>
        <p:nvSpPr>
          <p:cNvPr id="23" name="Text 17"/>
          <p:cNvSpPr/>
          <p:nvPr/>
        </p:nvSpPr>
        <p:spPr>
          <a:xfrm>
            <a:off x="9061704" y="2450592"/>
            <a:ext cx="2322576" cy="457200"/>
          </a:xfrm>
          <a:prstGeom prst="rect">
            <a:avLst/>
          </a:prstGeom>
          <a:noFill/>
          <a:ln/>
        </p:spPr>
        <p:txBody>
          <a:bodyPr wrap="square" lIns="0" tIns="0" rIns="0" bIns="0" rtlCol="0" anchor="ctr"/>
          <a:lstStyle/>
          <a:p>
            <a:pPr marL="0" indent="0" algn="ctr">
              <a:lnSpc>
                <a:spcPct val="105000"/>
              </a:lnSpc>
              <a:buNone/>
            </a:pPr>
            <a:r>
              <a:rPr lang="en-US" sz="1080" b="1" dirty="0">
                <a:solidFill>
                  <a:srgbClr val="0F1F3D"/>
                </a:solidFill>
                <a:latin typeface="Calibri" pitchFamily="34" charset="0"/>
                <a:ea typeface="Calibri" pitchFamily="34" charset="-122"/>
                <a:cs typeface="Calibri" pitchFamily="34" charset="-120"/>
              </a:rPr>
              <a:t>Brand Strength</a:t>
            </a:r>
            <a:endParaRPr lang="en-US" sz="1080" dirty="0"/>
          </a:p>
        </p:txBody>
      </p:sp>
      <p:sp>
        <p:nvSpPr>
          <p:cNvPr id="24" name="Text 18"/>
          <p:cNvSpPr/>
          <p:nvPr/>
        </p:nvSpPr>
        <p:spPr>
          <a:xfrm>
            <a:off x="9061704" y="2880360"/>
            <a:ext cx="2322576" cy="457200"/>
          </a:xfrm>
          <a:prstGeom prst="rect">
            <a:avLst/>
          </a:prstGeom>
          <a:noFill/>
          <a:ln/>
        </p:spPr>
        <p:txBody>
          <a:bodyPr wrap="square" lIns="0" tIns="0" rIns="0" bIns="0" rtlCol="0" anchor="ctr"/>
          <a:lstStyle/>
          <a:p>
            <a:pPr marL="0" indent="0" algn="ctr">
              <a:lnSpc>
                <a:spcPct val="105000"/>
              </a:lnSpc>
              <a:buNone/>
            </a:pPr>
            <a:r>
              <a:rPr lang="en-US" sz="930" dirty="0">
                <a:solidFill>
                  <a:srgbClr val="6B7280"/>
                </a:solidFill>
                <a:latin typeface="Calibri" pitchFamily="34" charset="0"/>
                <a:ea typeface="Calibri" pitchFamily="34" charset="-122"/>
                <a:cs typeface="Calibri" pitchFamily="34" charset="-120"/>
              </a:rPr>
              <a:t>Strongest brands &amp; preferred expansion categories.</a:t>
            </a:r>
            <a:endParaRPr lang="en-US" sz="930" dirty="0"/>
          </a:p>
        </p:txBody>
      </p:sp>
      <p:sp>
        <p:nvSpPr>
          <p:cNvPr id="25" name="Text 19"/>
          <p:cNvSpPr/>
          <p:nvPr/>
        </p:nvSpPr>
        <p:spPr>
          <a:xfrm>
            <a:off x="640080" y="3657600"/>
            <a:ext cx="4572000" cy="274320"/>
          </a:xfrm>
          <a:prstGeom prst="rect">
            <a:avLst/>
          </a:prstGeom>
          <a:noFill/>
          <a:ln/>
        </p:spPr>
        <p:txBody>
          <a:bodyPr wrap="square" lIns="0" tIns="0" rIns="0" bIns="0" rtlCol="0" anchor="ctr"/>
          <a:lstStyle/>
          <a:p>
            <a:pPr marL="0" indent="0">
              <a:buNone/>
            </a:pPr>
            <a:r>
              <a:rPr lang="en-US" sz="1050" b="1" kern="0" spc="100" dirty="0">
                <a:solidFill>
                  <a:srgbClr val="0B7A5F"/>
                </a:solidFill>
                <a:latin typeface="Calibri" pitchFamily="34" charset="0"/>
                <a:ea typeface="Calibri" pitchFamily="34" charset="-122"/>
                <a:cs typeface="Calibri" pitchFamily="34" charset="-120"/>
              </a:rPr>
              <a:t>DISTRIBUTOR DATA FIELDS</a:t>
            </a:r>
            <a:endParaRPr 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3977640"/>
          <a:ext cx="10908792" cy="2560320"/>
        </p:xfrm>
        <a:graphic>
          <a:graphicData uri="http://schemas.openxmlformats.org/drawingml/2006/table">
            <a:tbl>
              <a:tblPr/>
              <a:tblGrid>
                <a:gridCol w="4206240">
                  <a:extLst>
                    <a:ext uri="{9D8B030D-6E8A-4147-A177-3AD203B41FA5}">
                      <a16:colId xmlns:a16="http://schemas.microsoft.com/office/drawing/2014/main" val="20000"/>
                    </a:ext>
                  </a:extLst>
                </a:gridCol>
                <a:gridCol w="6702552">
                  <a:extLst>
                    <a:ext uri="{9D8B030D-6E8A-4147-A177-3AD203B41FA5}">
                      <a16:colId xmlns:a16="http://schemas.microsoft.com/office/drawing/2014/main" val="20001"/>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Field</a:t>
                      </a:r>
                      <a:endParaRPr lang="en-US" sz="115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0F1F3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0F1F3D"/>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Retailers Served / Employees / Vehicles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Scale of the distribution operation</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Area Covered</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Approximate geographical area covered (sq. km)</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Cold Storage</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Whether cold storage facilities are available</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Demand &amp; Growth Categories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Highest-demand and fastest-growing product categories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Strongest Brands / Expansion Potential</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Brands with strongest presence; categories with highest expansion potential</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Visit Frequency / Business Challenges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How often retailers are visited; major onboarding challenges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6"/>
                  </a:ext>
                </a:extLst>
              </a:tr>
            </a:tbl>
          </a:graphicData>
        </a:graphic>
      </p:graphicFrame>
      <p:sp>
        <p:nvSpPr>
          <p:cNvPr id="27" name="Text 20"/>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28" name="Text 21"/>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DATA COLLECTION CHALLENGES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Constraints Encountered in the Field</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03 – METHODOLOGY</a:t>
            </a:r>
            <a:endParaRPr lang="en-US" sz="1050" dirty="0"/>
          </a:p>
        </p:txBody>
      </p:sp>
      <p:sp>
        <p:nvSpPr>
          <p:cNvPr id="5" name="Shape 3"/>
          <p:cNvSpPr/>
          <p:nvPr/>
        </p:nvSpPr>
        <p:spPr>
          <a:xfrm>
            <a:off x="640080" y="1691640"/>
            <a:ext cx="2542032" cy="2743200"/>
          </a:xfrm>
          <a:prstGeom prst="roundRect">
            <a:avLst>
              <a:gd name="adj" fmla="val 2878"/>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6" name="Shape 4"/>
          <p:cNvSpPr/>
          <p:nvPr/>
        </p:nvSpPr>
        <p:spPr>
          <a:xfrm>
            <a:off x="1636776" y="1947672"/>
            <a:ext cx="548640" cy="548640"/>
          </a:xfrm>
          <a:prstGeom prst="ellipse">
            <a:avLst/>
          </a:prstGeom>
          <a:solidFill>
            <a:srgbClr val="0F1F3D"/>
          </a:solidFill>
          <a:ln/>
        </p:spPr>
        <p:txBody>
          <a:bodyPr/>
          <a:lstStyle/>
          <a:p>
            <a:endParaRPr lang="en-US"/>
          </a:p>
        </p:txBody>
      </p:sp>
      <p:pic>
        <p:nvPicPr>
          <p:cNvPr id="7" name="Image 0" descr="/home/claude/assets/warning.png"/>
          <p:cNvPicPr>
            <a:picLocks noChangeAspect="1"/>
          </p:cNvPicPr>
          <p:nvPr/>
        </p:nvPicPr>
        <p:blipFill>
          <a:blip r:embed="rId3"/>
          <a:stretch>
            <a:fillRect/>
          </a:stretch>
        </p:blipFill>
        <p:spPr>
          <a:xfrm>
            <a:off x="1768450" y="2079346"/>
            <a:ext cx="285293" cy="285293"/>
          </a:xfrm>
          <a:prstGeom prst="rect">
            <a:avLst/>
          </a:prstGeom>
        </p:spPr>
      </p:pic>
      <p:sp>
        <p:nvSpPr>
          <p:cNvPr id="8" name="Text 5"/>
          <p:cNvSpPr/>
          <p:nvPr/>
        </p:nvSpPr>
        <p:spPr>
          <a:xfrm>
            <a:off x="777240" y="2651760"/>
            <a:ext cx="2267712"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0F1F3D"/>
                </a:solidFill>
                <a:latin typeface="Calibri" pitchFamily="34" charset="0"/>
                <a:ea typeface="Calibri" pitchFamily="34" charset="-122"/>
                <a:cs typeface="Calibri" pitchFamily="34" charset="-120"/>
              </a:rPr>
              <a:t>Financial Confidentiality</a:t>
            </a:r>
            <a:endParaRPr lang="en-US" sz="1150" dirty="0"/>
          </a:p>
        </p:txBody>
      </p:sp>
      <p:sp>
        <p:nvSpPr>
          <p:cNvPr id="9" name="Text 6"/>
          <p:cNvSpPr/>
          <p:nvPr/>
        </p:nvSpPr>
        <p:spPr>
          <a:xfrm>
            <a:off x="804672" y="3227832"/>
            <a:ext cx="2212848" cy="1143000"/>
          </a:xfrm>
          <a:prstGeom prst="rect">
            <a:avLst/>
          </a:prstGeom>
          <a:noFill/>
          <a:ln/>
        </p:spPr>
        <p:txBody>
          <a:bodyPr wrap="square" lIns="0" tIns="0" rIns="0" bIns="0" rtlCol="0" anchor="ctr"/>
          <a:lstStyle/>
          <a:p>
            <a:pPr marL="0" indent="0" algn="ctr">
              <a:lnSpc>
                <a:spcPct val="120000"/>
              </a:lnSpc>
              <a:buNone/>
            </a:pPr>
            <a:r>
              <a:rPr lang="en-US" sz="980" dirty="0">
                <a:solidFill>
                  <a:srgbClr val="2B2E33"/>
                </a:solidFill>
                <a:latin typeface="Calibri" pitchFamily="34" charset="0"/>
                <a:ea typeface="Calibri" pitchFamily="34" charset="-122"/>
                <a:cs typeface="Calibri" pitchFamily="34" charset="-120"/>
              </a:rPr>
              <a:t>Distributors were unwilling to disclose revenue, margins, investment or ROI — treated as confidential throughout.</a:t>
            </a:r>
            <a:endParaRPr lang="en-US" sz="980" dirty="0"/>
          </a:p>
        </p:txBody>
      </p:sp>
      <p:sp>
        <p:nvSpPr>
          <p:cNvPr id="10" name="Shape 7"/>
          <p:cNvSpPr/>
          <p:nvPr/>
        </p:nvSpPr>
        <p:spPr>
          <a:xfrm>
            <a:off x="3410712" y="1691640"/>
            <a:ext cx="2542032" cy="2743200"/>
          </a:xfrm>
          <a:prstGeom prst="roundRect">
            <a:avLst>
              <a:gd name="adj" fmla="val 2878"/>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1" name="Shape 8"/>
          <p:cNvSpPr/>
          <p:nvPr/>
        </p:nvSpPr>
        <p:spPr>
          <a:xfrm>
            <a:off x="4407408" y="1947672"/>
            <a:ext cx="548640" cy="548640"/>
          </a:xfrm>
          <a:prstGeom prst="ellipse">
            <a:avLst/>
          </a:prstGeom>
          <a:solidFill>
            <a:srgbClr val="0F1F3D"/>
          </a:solidFill>
          <a:ln/>
        </p:spPr>
        <p:txBody>
          <a:bodyPr/>
          <a:lstStyle/>
          <a:p>
            <a:endParaRPr lang="en-US"/>
          </a:p>
        </p:txBody>
      </p:sp>
      <p:pic>
        <p:nvPicPr>
          <p:cNvPr id="12" name="Image 1" descr="/home/claude/assets/survey.png"/>
          <p:cNvPicPr>
            <a:picLocks noChangeAspect="1"/>
          </p:cNvPicPr>
          <p:nvPr/>
        </p:nvPicPr>
        <p:blipFill>
          <a:blip r:embed="rId4"/>
          <a:stretch>
            <a:fillRect/>
          </a:stretch>
        </p:blipFill>
        <p:spPr>
          <a:xfrm>
            <a:off x="4539082" y="2079346"/>
            <a:ext cx="285293" cy="285293"/>
          </a:xfrm>
          <a:prstGeom prst="rect">
            <a:avLst/>
          </a:prstGeom>
        </p:spPr>
      </p:pic>
      <p:sp>
        <p:nvSpPr>
          <p:cNvPr id="13" name="Text 9"/>
          <p:cNvSpPr/>
          <p:nvPr/>
        </p:nvSpPr>
        <p:spPr>
          <a:xfrm>
            <a:off x="3547872" y="2651760"/>
            <a:ext cx="2267712"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0F1F3D"/>
                </a:solidFill>
                <a:latin typeface="Calibri" pitchFamily="34" charset="0"/>
                <a:ea typeface="Calibri" pitchFamily="34" charset="-122"/>
                <a:cs typeface="Calibri" pitchFamily="34" charset="-120"/>
              </a:rPr>
              <a:t>Self-Reported Fields</a:t>
            </a:r>
            <a:endParaRPr lang="en-US" sz="1150" dirty="0"/>
          </a:p>
        </p:txBody>
      </p:sp>
      <p:sp>
        <p:nvSpPr>
          <p:cNvPr id="14" name="Text 10"/>
          <p:cNvSpPr/>
          <p:nvPr/>
        </p:nvSpPr>
        <p:spPr>
          <a:xfrm>
            <a:off x="3575304" y="3227832"/>
            <a:ext cx="2212848" cy="1143000"/>
          </a:xfrm>
          <a:prstGeom prst="rect">
            <a:avLst/>
          </a:prstGeom>
          <a:noFill/>
          <a:ln/>
        </p:spPr>
        <p:txBody>
          <a:bodyPr wrap="square" lIns="0" tIns="0" rIns="0" bIns="0" rtlCol="0" anchor="ctr"/>
          <a:lstStyle/>
          <a:p>
            <a:pPr marL="0" indent="0" algn="ctr">
              <a:lnSpc>
                <a:spcPct val="120000"/>
              </a:lnSpc>
              <a:buNone/>
            </a:pPr>
            <a:r>
              <a:rPr lang="en-US" sz="980" dirty="0">
                <a:solidFill>
                  <a:srgbClr val="2B2E33"/>
                </a:solidFill>
                <a:latin typeface="Calibri" pitchFamily="34" charset="0"/>
                <a:ea typeface="Calibri" pitchFamily="34" charset="-122"/>
                <a:cs typeface="Calibri" pitchFamily="34" charset="-120"/>
              </a:rPr>
              <a:t>Metrics like retailers served, area covered, and category demand were self-reported, not independently verified.</a:t>
            </a:r>
            <a:endParaRPr lang="en-US" sz="980" dirty="0"/>
          </a:p>
        </p:txBody>
      </p:sp>
      <p:sp>
        <p:nvSpPr>
          <p:cNvPr id="15" name="Shape 11"/>
          <p:cNvSpPr/>
          <p:nvPr/>
        </p:nvSpPr>
        <p:spPr>
          <a:xfrm>
            <a:off x="6181344" y="1691640"/>
            <a:ext cx="2542032" cy="2743200"/>
          </a:xfrm>
          <a:prstGeom prst="roundRect">
            <a:avLst>
              <a:gd name="adj" fmla="val 2878"/>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6" name="Shape 12"/>
          <p:cNvSpPr/>
          <p:nvPr/>
        </p:nvSpPr>
        <p:spPr>
          <a:xfrm>
            <a:off x="7178040" y="1947672"/>
            <a:ext cx="548640" cy="548640"/>
          </a:xfrm>
          <a:prstGeom prst="ellipse">
            <a:avLst/>
          </a:prstGeom>
          <a:solidFill>
            <a:srgbClr val="0F1F3D"/>
          </a:solidFill>
          <a:ln/>
        </p:spPr>
        <p:txBody>
          <a:bodyPr/>
          <a:lstStyle/>
          <a:p>
            <a:endParaRPr lang="en-US"/>
          </a:p>
        </p:txBody>
      </p:sp>
      <p:pic>
        <p:nvPicPr>
          <p:cNvPr id="17" name="Image 2" descr="/home/claude/assets/clipboard.png"/>
          <p:cNvPicPr>
            <a:picLocks noChangeAspect="1"/>
          </p:cNvPicPr>
          <p:nvPr/>
        </p:nvPicPr>
        <p:blipFill>
          <a:blip r:embed="rId5"/>
          <a:stretch>
            <a:fillRect/>
          </a:stretch>
        </p:blipFill>
        <p:spPr>
          <a:xfrm>
            <a:off x="7309714" y="2079346"/>
            <a:ext cx="285293" cy="285293"/>
          </a:xfrm>
          <a:prstGeom prst="rect">
            <a:avLst/>
          </a:prstGeom>
        </p:spPr>
      </p:pic>
      <p:sp>
        <p:nvSpPr>
          <p:cNvPr id="18" name="Text 13"/>
          <p:cNvSpPr/>
          <p:nvPr/>
        </p:nvSpPr>
        <p:spPr>
          <a:xfrm>
            <a:off x="6318504" y="2651760"/>
            <a:ext cx="2267712"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0F1F3D"/>
                </a:solidFill>
                <a:latin typeface="Calibri" pitchFamily="34" charset="0"/>
                <a:ea typeface="Calibri" pitchFamily="34" charset="-122"/>
                <a:cs typeface="Calibri" pitchFamily="34" charset="-120"/>
              </a:rPr>
              <a:t>Question Ambiguity</a:t>
            </a:r>
            <a:endParaRPr lang="en-US" sz="1150" dirty="0"/>
          </a:p>
        </p:txBody>
      </p:sp>
      <p:sp>
        <p:nvSpPr>
          <p:cNvPr id="19" name="Text 14"/>
          <p:cNvSpPr/>
          <p:nvPr/>
        </p:nvSpPr>
        <p:spPr>
          <a:xfrm>
            <a:off x="6345936" y="3227832"/>
            <a:ext cx="2212848" cy="1143000"/>
          </a:xfrm>
          <a:prstGeom prst="rect">
            <a:avLst/>
          </a:prstGeom>
          <a:noFill/>
          <a:ln/>
        </p:spPr>
        <p:txBody>
          <a:bodyPr wrap="square" lIns="0" tIns="0" rIns="0" bIns="0" rtlCol="0" anchor="ctr"/>
          <a:lstStyle/>
          <a:p>
            <a:pPr marL="0" indent="0" algn="ctr">
              <a:lnSpc>
                <a:spcPct val="120000"/>
              </a:lnSpc>
              <a:buNone/>
            </a:pPr>
            <a:r>
              <a:rPr lang="en-US" sz="980" dirty="0">
                <a:solidFill>
                  <a:srgbClr val="2B2E33"/>
                </a:solidFill>
                <a:latin typeface="Calibri" pitchFamily="34" charset="0"/>
                <a:ea typeface="Calibri" pitchFamily="34" charset="-122"/>
                <a:cs typeface="Calibri" pitchFamily="34" charset="-120"/>
              </a:rPr>
              <a:t>The pilot round in Week 3 surfaced ambiguous wording, corrected before full rollout in Week 4.</a:t>
            </a:r>
            <a:endParaRPr lang="en-US" sz="980" dirty="0"/>
          </a:p>
        </p:txBody>
      </p:sp>
      <p:sp>
        <p:nvSpPr>
          <p:cNvPr id="20" name="Shape 15"/>
          <p:cNvSpPr/>
          <p:nvPr/>
        </p:nvSpPr>
        <p:spPr>
          <a:xfrm>
            <a:off x="8951976" y="1691640"/>
            <a:ext cx="2542032" cy="2743200"/>
          </a:xfrm>
          <a:prstGeom prst="roundRect">
            <a:avLst>
              <a:gd name="adj" fmla="val 2878"/>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1" name="Shape 16"/>
          <p:cNvSpPr/>
          <p:nvPr/>
        </p:nvSpPr>
        <p:spPr>
          <a:xfrm>
            <a:off x="9948672" y="1947672"/>
            <a:ext cx="548640" cy="548640"/>
          </a:xfrm>
          <a:prstGeom prst="ellipse">
            <a:avLst/>
          </a:prstGeom>
          <a:solidFill>
            <a:srgbClr val="0F1F3D"/>
          </a:solidFill>
          <a:ln/>
        </p:spPr>
        <p:txBody>
          <a:bodyPr/>
          <a:lstStyle/>
          <a:p>
            <a:endParaRPr lang="en-US"/>
          </a:p>
        </p:txBody>
      </p:sp>
      <p:pic>
        <p:nvPicPr>
          <p:cNvPr id="22" name="Image 3" descr="/home/claude/assets/filter.png"/>
          <p:cNvPicPr>
            <a:picLocks noChangeAspect="1"/>
          </p:cNvPicPr>
          <p:nvPr/>
        </p:nvPicPr>
        <p:blipFill>
          <a:blip r:embed="rId6"/>
          <a:stretch>
            <a:fillRect/>
          </a:stretch>
        </p:blipFill>
        <p:spPr>
          <a:xfrm>
            <a:off x="10080346" y="2079346"/>
            <a:ext cx="285293" cy="285293"/>
          </a:xfrm>
          <a:prstGeom prst="rect">
            <a:avLst/>
          </a:prstGeom>
        </p:spPr>
      </p:pic>
      <p:sp>
        <p:nvSpPr>
          <p:cNvPr id="23" name="Text 17"/>
          <p:cNvSpPr/>
          <p:nvPr/>
        </p:nvSpPr>
        <p:spPr>
          <a:xfrm>
            <a:off x="9089136" y="2651760"/>
            <a:ext cx="2267712" cy="548640"/>
          </a:xfrm>
          <a:prstGeom prst="rect">
            <a:avLst/>
          </a:prstGeom>
          <a:noFill/>
          <a:ln/>
        </p:spPr>
        <p:txBody>
          <a:bodyPr wrap="square" lIns="0" tIns="0" rIns="0" bIns="0" rtlCol="0" anchor="ctr"/>
          <a:lstStyle/>
          <a:p>
            <a:pPr marL="0" indent="0" algn="ctr">
              <a:lnSpc>
                <a:spcPct val="110000"/>
              </a:lnSpc>
              <a:buNone/>
            </a:pPr>
            <a:r>
              <a:rPr lang="en-US" sz="1150" b="1" dirty="0">
                <a:solidFill>
                  <a:srgbClr val="0F1F3D"/>
                </a:solidFill>
                <a:latin typeface="Calibri" pitchFamily="34" charset="0"/>
                <a:ea typeface="Calibri" pitchFamily="34" charset="-122"/>
                <a:cs typeface="Calibri" pitchFamily="34" charset="-120"/>
              </a:rPr>
              <a:t>Label Standardization</a:t>
            </a:r>
            <a:endParaRPr lang="en-US" sz="1150" dirty="0"/>
          </a:p>
        </p:txBody>
      </p:sp>
      <p:sp>
        <p:nvSpPr>
          <p:cNvPr id="24" name="Text 18"/>
          <p:cNvSpPr/>
          <p:nvPr/>
        </p:nvSpPr>
        <p:spPr>
          <a:xfrm>
            <a:off x="9116568" y="3227832"/>
            <a:ext cx="2212848" cy="1143000"/>
          </a:xfrm>
          <a:prstGeom prst="rect">
            <a:avLst/>
          </a:prstGeom>
          <a:noFill/>
          <a:ln/>
        </p:spPr>
        <p:txBody>
          <a:bodyPr wrap="square" lIns="0" tIns="0" rIns="0" bIns="0" rtlCol="0" anchor="ctr"/>
          <a:lstStyle/>
          <a:p>
            <a:pPr marL="0" indent="0" algn="ctr">
              <a:lnSpc>
                <a:spcPct val="120000"/>
              </a:lnSpc>
              <a:buNone/>
            </a:pPr>
            <a:r>
              <a:rPr lang="en-US" sz="980" dirty="0">
                <a:solidFill>
                  <a:srgbClr val="2B2E33"/>
                </a:solidFill>
                <a:latin typeface="Calibri" pitchFamily="34" charset="0"/>
                <a:ea typeface="Calibri" pitchFamily="34" charset="-122"/>
                <a:cs typeface="Calibri" pitchFamily="34" charset="-120"/>
              </a:rPr>
              <a:t>Store-type and product-category labels needed standardizing post-pilot for consistent aggregation.</a:t>
            </a:r>
            <a:endParaRPr lang="en-US" sz="980" dirty="0"/>
          </a:p>
        </p:txBody>
      </p:sp>
      <p:sp>
        <p:nvSpPr>
          <p:cNvPr id="25" name="Shape 19"/>
          <p:cNvSpPr/>
          <p:nvPr/>
        </p:nvSpPr>
        <p:spPr>
          <a:xfrm>
            <a:off x="640080" y="4709160"/>
            <a:ext cx="10908792" cy="1234440"/>
          </a:xfrm>
          <a:prstGeom prst="roundRect">
            <a:avLst>
              <a:gd name="adj" fmla="val 5926"/>
            </a:avLst>
          </a:prstGeom>
          <a:solidFill>
            <a:srgbClr val="0F1F3D"/>
          </a:solidFill>
          <a:ln/>
          <a:effectLst>
            <a:outerShdw blurRad="88900" dist="38100" dir="5400000" algn="bl" rotWithShape="0">
              <a:srgbClr val="5B6472">
                <a:alpha val="20000"/>
              </a:srgbClr>
            </a:outerShdw>
          </a:effectLst>
        </p:spPr>
        <p:txBody>
          <a:bodyPr/>
          <a:lstStyle/>
          <a:p>
            <a:endParaRPr lang="en-US"/>
          </a:p>
        </p:txBody>
      </p:sp>
      <p:sp>
        <p:nvSpPr>
          <p:cNvPr id="26" name="Shape 20"/>
          <p:cNvSpPr/>
          <p:nvPr/>
        </p:nvSpPr>
        <p:spPr>
          <a:xfrm>
            <a:off x="914400" y="4983480"/>
            <a:ext cx="502920" cy="502920"/>
          </a:xfrm>
          <a:prstGeom prst="ellipse">
            <a:avLst/>
          </a:prstGeom>
          <a:solidFill>
            <a:srgbClr val="10A37F"/>
          </a:solidFill>
          <a:ln/>
        </p:spPr>
        <p:txBody>
          <a:bodyPr/>
          <a:lstStyle/>
          <a:p>
            <a:endParaRPr lang="en-US"/>
          </a:p>
        </p:txBody>
      </p:sp>
      <p:pic>
        <p:nvPicPr>
          <p:cNvPr id="27" name="Image 4" descr="/home/claude/assets/warning.png"/>
          <p:cNvPicPr>
            <a:picLocks noChangeAspect="1"/>
          </p:cNvPicPr>
          <p:nvPr/>
        </p:nvPicPr>
        <p:blipFill>
          <a:blip r:embed="rId3"/>
          <a:stretch>
            <a:fillRect/>
          </a:stretch>
        </p:blipFill>
        <p:spPr>
          <a:xfrm>
            <a:off x="1035101" y="5104181"/>
            <a:ext cx="261518" cy="261518"/>
          </a:xfrm>
          <a:prstGeom prst="rect">
            <a:avLst/>
          </a:prstGeom>
        </p:spPr>
      </p:pic>
      <p:sp>
        <p:nvSpPr>
          <p:cNvPr id="28" name="Text 21"/>
          <p:cNvSpPr/>
          <p:nvPr/>
        </p:nvSpPr>
        <p:spPr>
          <a:xfrm>
            <a:off x="1600200" y="4892040"/>
            <a:ext cx="9692640" cy="777240"/>
          </a:xfrm>
          <a:prstGeom prst="rect">
            <a:avLst/>
          </a:prstGeom>
          <a:noFill/>
          <a:ln/>
        </p:spPr>
        <p:txBody>
          <a:bodyPr wrap="square" lIns="0" tIns="0" rIns="0" bIns="0" rtlCol="0" anchor="ctr"/>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Approach: rather than estimating or working around these gaps, every affected section of the report and dashboards explicitly flags the data as unavailable — no financial figures are inferred anywhere.</a:t>
            </a:r>
            <a:endParaRPr lang="en-US" sz="1200" dirty="0"/>
          </a:p>
        </p:txBody>
      </p:sp>
      <p:sp>
        <p:nvSpPr>
          <p:cNvPr id="29" name="Text 22"/>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30" name="Text 23"/>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RETAIL DASHBOARD OVERVIEW</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The Retailer Onboarding Dashboard</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04 – DASHBOARDS</a:t>
            </a:r>
            <a:endParaRPr lang="en-US" sz="1050" dirty="0"/>
          </a:p>
        </p:txBody>
      </p:sp>
      <p:sp>
        <p:nvSpPr>
          <p:cNvPr id="5" name="Text 3"/>
          <p:cNvSpPr/>
          <p:nvPr/>
        </p:nvSpPr>
        <p:spPr>
          <a:xfrm>
            <a:off x="640080" y="1508760"/>
            <a:ext cx="4937760" cy="548640"/>
          </a:xfrm>
          <a:prstGeom prst="rect">
            <a:avLst/>
          </a:prstGeom>
          <a:noFill/>
          <a:ln/>
        </p:spPr>
        <p:txBody>
          <a:bodyPr wrap="square" lIns="0" tIns="0" rIns="0" bIns="0" rtlCol="0" anchor="ctr"/>
          <a:lstStyle/>
          <a:p>
            <a:pPr marL="0" indent="0">
              <a:lnSpc>
                <a:spcPct val="120000"/>
              </a:lnSpc>
              <a:buNone/>
            </a:pPr>
            <a:r>
              <a:rPr lang="en-US" sz="1200" dirty="0">
                <a:solidFill>
                  <a:srgbClr val="2B2E33"/>
                </a:solidFill>
                <a:latin typeface="Calibri" pitchFamily="34" charset="0"/>
                <a:ea typeface="Calibri" pitchFamily="34" charset="-122"/>
                <a:cs typeface="Calibri" pitchFamily="34" charset="-120"/>
              </a:rPr>
              <a:t>Built in Microsoft Power BI, across four pages, filterable by locality, store type and retail potential.</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4937760" cy="2011680"/>
        </p:xfrm>
        <a:graphic>
          <a:graphicData uri="http://schemas.openxmlformats.org/drawingml/2006/table">
            <a:tbl>
              <a:tblPr/>
              <a:tblGrid>
                <a:gridCol w="196596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Page</a:t>
                      </a:r>
                      <a:endParaRPr lang="en-US" sz="115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0F1F3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Content</a:t>
                      </a:r>
                      <a:endParaRPr lang="en-US" sz="115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0F1F3D"/>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Executive Dashboard</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Headline cards + retailer counts by area + store-type split</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Product &amp; Brand Analysis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Brand &amp; product-category availability across outlets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Retailer Analysis &amp; Coverage</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Locality-wise coverage, brand portfolio, potential</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Key Insights &amp; Recommendations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Narrative summary &amp; recommendations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4"/>
                  </a:ext>
                </a:extLst>
              </a:tr>
            </a:tbl>
          </a:graphicData>
        </a:graphic>
      </p:graphicFrame>
      <p:sp>
        <p:nvSpPr>
          <p:cNvPr id="7" name="Shape 4"/>
          <p:cNvSpPr/>
          <p:nvPr/>
        </p:nvSpPr>
        <p:spPr>
          <a:xfrm>
            <a:off x="5943600" y="1508760"/>
            <a:ext cx="5605272" cy="4526280"/>
          </a:xfrm>
          <a:prstGeom prst="roundRect">
            <a:avLst>
              <a:gd name="adj" fmla="val 1212"/>
            </a:avLst>
          </a:prstGeom>
          <a:solidFill>
            <a:srgbClr val="E9EBEF"/>
          </a:solidFill>
          <a:ln w="15875">
            <a:solidFill>
              <a:srgbClr val="D8DCE2"/>
            </a:solidFill>
            <a:prstDash val="dash"/>
          </a:ln>
        </p:spPr>
        <p:txBody>
          <a:bodyPr/>
          <a:lstStyle/>
          <a:p>
            <a:endParaRPr lang="en-US"/>
          </a:p>
        </p:txBody>
      </p:sp>
      <p:sp>
        <p:nvSpPr>
          <p:cNvPr id="8" name="Shape 5"/>
          <p:cNvSpPr/>
          <p:nvPr/>
        </p:nvSpPr>
        <p:spPr>
          <a:xfrm>
            <a:off x="8453628" y="3314700"/>
            <a:ext cx="585216" cy="585216"/>
          </a:xfrm>
          <a:prstGeom prst="ellipse">
            <a:avLst/>
          </a:prstGeom>
          <a:solidFill>
            <a:srgbClr val="0F1F3D"/>
          </a:solidFill>
          <a:ln/>
        </p:spPr>
        <p:txBody>
          <a:bodyPr/>
          <a:lstStyle/>
          <a:p>
            <a:endParaRPr lang="en-US"/>
          </a:p>
        </p:txBody>
      </p:sp>
      <p:pic>
        <p:nvPicPr>
          <p:cNvPr id="9" name="Image 0" descr="/home/claude/assets/dashboard.png"/>
          <p:cNvPicPr>
            <a:picLocks noChangeAspect="1"/>
          </p:cNvPicPr>
          <p:nvPr/>
        </p:nvPicPr>
        <p:blipFill>
          <a:blip r:embed="rId3"/>
          <a:stretch>
            <a:fillRect/>
          </a:stretch>
        </p:blipFill>
        <p:spPr>
          <a:xfrm>
            <a:off x="8594080" y="3455152"/>
            <a:ext cx="304312" cy="304312"/>
          </a:xfrm>
          <a:prstGeom prst="rect">
            <a:avLst/>
          </a:prstGeom>
        </p:spPr>
      </p:pic>
      <p:sp>
        <p:nvSpPr>
          <p:cNvPr id="10" name="Text 6"/>
          <p:cNvSpPr/>
          <p:nvPr/>
        </p:nvSpPr>
        <p:spPr>
          <a:xfrm>
            <a:off x="6217920" y="3954780"/>
            <a:ext cx="5056632" cy="457200"/>
          </a:xfrm>
          <a:prstGeom prst="rect">
            <a:avLst/>
          </a:prstGeom>
          <a:noFill/>
          <a:ln/>
        </p:spPr>
        <p:txBody>
          <a:bodyPr wrap="square" lIns="0" tIns="0" rIns="0" bIns="0" rtlCol="0" anchor="ctr"/>
          <a:lstStyle/>
          <a:p>
            <a:pPr marL="0" indent="0" algn="ctr">
              <a:buNone/>
            </a:pPr>
            <a:r>
              <a:rPr lang="en-US" sz="1100" b="1" i="1" dirty="0">
                <a:solidFill>
                  <a:srgbClr val="6B7280"/>
                </a:solidFill>
                <a:latin typeface="Calibri" pitchFamily="34" charset="0"/>
                <a:ea typeface="Calibri" pitchFamily="34" charset="-122"/>
                <a:cs typeface="Calibri" pitchFamily="34" charset="-120"/>
              </a:rPr>
              <a:t>[ Insert Retail Dashboard Screenshot —</a:t>
            </a:r>
            <a:endParaRPr lang="en-US" sz="1100" dirty="0"/>
          </a:p>
          <a:p>
            <a:pPr marL="0" indent="0" algn="ctr">
              <a:buNone/>
            </a:pPr>
            <a:r>
              <a:rPr lang="en-US" sz="1100" b="1" i="1" dirty="0">
                <a:solidFill>
                  <a:srgbClr val="6B7280"/>
                </a:solidFill>
                <a:latin typeface="Calibri" pitchFamily="34" charset="0"/>
                <a:ea typeface="Calibri" pitchFamily="34" charset="-122"/>
                <a:cs typeface="Calibri" pitchFamily="34" charset="-120"/>
              </a:rPr>
              <a:t>Executive Dashboard page ]</a:t>
            </a:r>
            <a:endParaRPr lang="en-US" sz="1100" dirty="0"/>
          </a:p>
        </p:txBody>
      </p:sp>
      <p:sp>
        <p:nvSpPr>
          <p:cNvPr id="11" name="Text 7"/>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12" name="Text 8"/>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12</a:t>
            </a:r>
            <a:endParaRPr lang="en-US" sz="800" dirty="0"/>
          </a:p>
        </p:txBody>
      </p:sp>
      <p:pic>
        <p:nvPicPr>
          <p:cNvPr id="14" name="Picture 13">
            <a:extLst>
              <a:ext uri="{FF2B5EF4-FFF2-40B4-BE49-F238E27FC236}">
                <a16:creationId xmlns:a16="http://schemas.microsoft.com/office/drawing/2014/main" id="{FA2C50D9-AE20-2DF9-7E7B-A6586F52496D}"/>
              </a:ext>
            </a:extLst>
          </p:cNvPr>
          <p:cNvPicPr>
            <a:picLocks noChangeAspect="1"/>
          </p:cNvPicPr>
          <p:nvPr/>
        </p:nvPicPr>
        <p:blipFill>
          <a:blip r:embed="rId4"/>
          <a:stretch>
            <a:fillRect/>
          </a:stretch>
        </p:blipFill>
        <p:spPr>
          <a:xfrm>
            <a:off x="5943599" y="1508760"/>
            <a:ext cx="5577841" cy="45262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RETAIL DASHBOARD INSIGHTS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What the Retailer Data Shows</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04 – DASHBOARDS</a:t>
            </a:r>
            <a:endParaRPr lang="en-US" sz="1050" dirty="0"/>
          </a:p>
        </p:txBody>
      </p:sp>
      <p:sp>
        <p:nvSpPr>
          <p:cNvPr id="5" name="Shape 3"/>
          <p:cNvSpPr/>
          <p:nvPr/>
        </p:nvSpPr>
        <p:spPr>
          <a:xfrm>
            <a:off x="640080" y="1600200"/>
            <a:ext cx="3502152" cy="2880360"/>
          </a:xfrm>
          <a:prstGeom prst="roundRect">
            <a:avLst>
              <a:gd name="adj" fmla="val 2540"/>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6" name="Shape 4"/>
          <p:cNvSpPr/>
          <p:nvPr/>
        </p:nvSpPr>
        <p:spPr>
          <a:xfrm>
            <a:off x="841248" y="1801368"/>
            <a:ext cx="502920" cy="502920"/>
          </a:xfrm>
          <a:prstGeom prst="ellipse">
            <a:avLst/>
          </a:prstGeom>
          <a:solidFill>
            <a:srgbClr val="0F1F3D"/>
          </a:solidFill>
          <a:ln/>
        </p:spPr>
        <p:txBody>
          <a:bodyPr/>
          <a:lstStyle/>
          <a:p>
            <a:endParaRPr lang="en-US"/>
          </a:p>
        </p:txBody>
      </p:sp>
      <p:pic>
        <p:nvPicPr>
          <p:cNvPr id="7" name="Image 0" descr="/home/claude/assets/compass.png"/>
          <p:cNvPicPr>
            <a:picLocks noChangeAspect="1"/>
          </p:cNvPicPr>
          <p:nvPr/>
        </p:nvPicPr>
        <p:blipFill>
          <a:blip r:embed="rId3"/>
          <a:stretch>
            <a:fillRect/>
          </a:stretch>
        </p:blipFill>
        <p:spPr>
          <a:xfrm>
            <a:off x="961949" y="1922069"/>
            <a:ext cx="261518" cy="261518"/>
          </a:xfrm>
          <a:prstGeom prst="rect">
            <a:avLst/>
          </a:prstGeom>
        </p:spPr>
      </p:pic>
      <p:sp>
        <p:nvSpPr>
          <p:cNvPr id="8" name="Text 5"/>
          <p:cNvSpPr/>
          <p:nvPr/>
        </p:nvSpPr>
        <p:spPr>
          <a:xfrm>
            <a:off x="1463040" y="1874520"/>
            <a:ext cx="2542032" cy="457200"/>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Market Insights</a:t>
            </a:r>
            <a:endParaRPr lang="en-US" sz="1300" dirty="0"/>
          </a:p>
        </p:txBody>
      </p:sp>
      <p:sp>
        <p:nvSpPr>
          <p:cNvPr id="9" name="Shape 6"/>
          <p:cNvSpPr/>
          <p:nvPr/>
        </p:nvSpPr>
        <p:spPr>
          <a:xfrm>
            <a:off x="841248" y="2569464"/>
            <a:ext cx="82296" cy="82296"/>
          </a:xfrm>
          <a:prstGeom prst="ellipse">
            <a:avLst/>
          </a:prstGeom>
          <a:solidFill>
            <a:srgbClr val="10A37F"/>
          </a:solidFill>
          <a:ln/>
        </p:spPr>
        <p:txBody>
          <a:bodyPr/>
          <a:lstStyle/>
          <a:p>
            <a:endParaRPr lang="en-US"/>
          </a:p>
        </p:txBody>
      </p:sp>
      <p:sp>
        <p:nvSpPr>
          <p:cNvPr id="10" name="Text 7"/>
          <p:cNvSpPr/>
          <p:nvPr/>
        </p:nvSpPr>
        <p:spPr>
          <a:xfrm>
            <a:off x="1024128" y="2459736"/>
            <a:ext cx="2935224" cy="868680"/>
          </a:xfrm>
          <a:prstGeom prst="rect">
            <a:avLst/>
          </a:prstGeom>
          <a:noFill/>
          <a:ln/>
        </p:spPr>
        <p:txBody>
          <a:bodyPr wrap="square" lIns="0" tIns="0" rIns="0" bIns="0" rtlCol="0" anchor="ctr"/>
          <a:lstStyle/>
          <a:p>
            <a:pPr marL="0" indent="0">
              <a:lnSpc>
                <a:spcPct val="115000"/>
              </a:lnSpc>
              <a:buNone/>
            </a:pPr>
            <a:r>
              <a:rPr lang="en-US" sz="1030" dirty="0">
                <a:solidFill>
                  <a:srgbClr val="2B2E33"/>
                </a:solidFill>
                <a:latin typeface="Calibri" pitchFamily="34" charset="0"/>
                <a:ea typeface="Calibri" pitchFamily="34" charset="-122"/>
                <a:cs typeface="Calibri" pitchFamily="34" charset="-120"/>
              </a:rPr>
              <a:t>Retail presence observed across multiple localities, helping identify areas of higher retailer concentration.</a:t>
            </a:r>
            <a:endParaRPr lang="en-US" sz="1030" dirty="0"/>
          </a:p>
        </p:txBody>
      </p:sp>
      <p:sp>
        <p:nvSpPr>
          <p:cNvPr id="11" name="Shape 8"/>
          <p:cNvSpPr/>
          <p:nvPr/>
        </p:nvSpPr>
        <p:spPr>
          <a:xfrm>
            <a:off x="841248" y="3529584"/>
            <a:ext cx="82296" cy="82296"/>
          </a:xfrm>
          <a:prstGeom prst="ellipse">
            <a:avLst/>
          </a:prstGeom>
          <a:solidFill>
            <a:srgbClr val="10A37F"/>
          </a:solidFill>
          <a:ln/>
        </p:spPr>
        <p:txBody>
          <a:bodyPr/>
          <a:lstStyle/>
          <a:p>
            <a:endParaRPr lang="en-US"/>
          </a:p>
        </p:txBody>
      </p:sp>
      <p:sp>
        <p:nvSpPr>
          <p:cNvPr id="12" name="Text 9"/>
          <p:cNvSpPr/>
          <p:nvPr/>
        </p:nvSpPr>
        <p:spPr>
          <a:xfrm>
            <a:off x="1024128" y="3419856"/>
            <a:ext cx="2935224" cy="868680"/>
          </a:xfrm>
          <a:prstGeom prst="rect">
            <a:avLst/>
          </a:prstGeom>
          <a:noFill/>
          <a:ln/>
        </p:spPr>
        <p:txBody>
          <a:bodyPr wrap="square" lIns="0" tIns="0" rIns="0" bIns="0" rtlCol="0" anchor="ctr"/>
          <a:lstStyle/>
          <a:p>
            <a:pPr marL="0" indent="0">
              <a:lnSpc>
                <a:spcPct val="115000"/>
              </a:lnSpc>
              <a:buNone/>
            </a:pPr>
            <a:r>
              <a:rPr lang="en-US" sz="1030" dirty="0">
                <a:solidFill>
                  <a:srgbClr val="2B2E33"/>
                </a:solidFill>
                <a:latin typeface="Calibri" pitchFamily="34" charset="0"/>
                <a:ea typeface="Calibri" pitchFamily="34" charset="-122"/>
                <a:cs typeface="Calibri" pitchFamily="34" charset="-120"/>
              </a:rPr>
              <a:t>Kirana stores show strong market presence due to wide availability of fast-moving products.</a:t>
            </a:r>
            <a:endParaRPr lang="en-US" sz="1030" dirty="0"/>
          </a:p>
        </p:txBody>
      </p:sp>
      <p:sp>
        <p:nvSpPr>
          <p:cNvPr id="13" name="Shape 10"/>
          <p:cNvSpPr/>
          <p:nvPr/>
        </p:nvSpPr>
        <p:spPr>
          <a:xfrm>
            <a:off x="4343400" y="1600200"/>
            <a:ext cx="3502152" cy="2880360"/>
          </a:xfrm>
          <a:prstGeom prst="roundRect">
            <a:avLst>
              <a:gd name="adj" fmla="val 2540"/>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4" name="Shape 11"/>
          <p:cNvSpPr/>
          <p:nvPr/>
        </p:nvSpPr>
        <p:spPr>
          <a:xfrm>
            <a:off x="4544568" y="1801368"/>
            <a:ext cx="502920" cy="502920"/>
          </a:xfrm>
          <a:prstGeom prst="ellipse">
            <a:avLst/>
          </a:prstGeom>
          <a:solidFill>
            <a:srgbClr val="0F1F3D"/>
          </a:solidFill>
          <a:ln/>
        </p:spPr>
        <p:txBody>
          <a:bodyPr/>
          <a:lstStyle/>
          <a:p>
            <a:endParaRPr lang="en-US"/>
          </a:p>
        </p:txBody>
      </p:sp>
      <p:pic>
        <p:nvPicPr>
          <p:cNvPr id="15" name="Image 1" descr="/home/claude/assets/brand.png"/>
          <p:cNvPicPr>
            <a:picLocks noChangeAspect="1"/>
          </p:cNvPicPr>
          <p:nvPr/>
        </p:nvPicPr>
        <p:blipFill>
          <a:blip r:embed="rId4"/>
          <a:stretch>
            <a:fillRect/>
          </a:stretch>
        </p:blipFill>
        <p:spPr>
          <a:xfrm>
            <a:off x="4665269" y="1922069"/>
            <a:ext cx="261518" cy="261518"/>
          </a:xfrm>
          <a:prstGeom prst="rect">
            <a:avLst/>
          </a:prstGeom>
        </p:spPr>
      </p:pic>
      <p:sp>
        <p:nvSpPr>
          <p:cNvPr id="16" name="Text 12"/>
          <p:cNvSpPr/>
          <p:nvPr/>
        </p:nvSpPr>
        <p:spPr>
          <a:xfrm>
            <a:off x="5166360" y="1874520"/>
            <a:ext cx="2542032" cy="457200"/>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Product &amp; Brand Insights</a:t>
            </a:r>
            <a:endParaRPr lang="en-US" sz="1300" dirty="0"/>
          </a:p>
        </p:txBody>
      </p:sp>
      <p:sp>
        <p:nvSpPr>
          <p:cNvPr id="17" name="Shape 13"/>
          <p:cNvSpPr/>
          <p:nvPr/>
        </p:nvSpPr>
        <p:spPr>
          <a:xfrm>
            <a:off x="4544568" y="2569464"/>
            <a:ext cx="82296" cy="82296"/>
          </a:xfrm>
          <a:prstGeom prst="ellipse">
            <a:avLst/>
          </a:prstGeom>
          <a:solidFill>
            <a:srgbClr val="10A37F"/>
          </a:solidFill>
          <a:ln/>
        </p:spPr>
        <p:txBody>
          <a:bodyPr/>
          <a:lstStyle/>
          <a:p>
            <a:endParaRPr lang="en-US"/>
          </a:p>
        </p:txBody>
      </p:sp>
      <p:sp>
        <p:nvSpPr>
          <p:cNvPr id="18" name="Text 14"/>
          <p:cNvSpPr/>
          <p:nvPr/>
        </p:nvSpPr>
        <p:spPr>
          <a:xfrm>
            <a:off x="4727448" y="2459736"/>
            <a:ext cx="2935224" cy="868680"/>
          </a:xfrm>
          <a:prstGeom prst="rect">
            <a:avLst/>
          </a:prstGeom>
          <a:noFill/>
          <a:ln/>
        </p:spPr>
        <p:txBody>
          <a:bodyPr wrap="square" lIns="0" tIns="0" rIns="0" bIns="0" rtlCol="0" anchor="ctr"/>
          <a:lstStyle/>
          <a:p>
            <a:pPr marL="0" indent="0">
              <a:lnSpc>
                <a:spcPct val="115000"/>
              </a:lnSpc>
              <a:buNone/>
            </a:pPr>
            <a:r>
              <a:rPr lang="en-US" sz="1030" dirty="0">
                <a:solidFill>
                  <a:srgbClr val="2B2E33"/>
                </a:solidFill>
                <a:latin typeface="Calibri" pitchFamily="34" charset="0"/>
                <a:ea typeface="Calibri" pitchFamily="34" charset="-122"/>
                <a:cs typeface="Calibri" pitchFamily="34" charset="-120"/>
              </a:rPr>
              <a:t>Multiple national and regional brands identified across surveyed outlets.</a:t>
            </a:r>
            <a:endParaRPr lang="en-US" sz="1030" dirty="0"/>
          </a:p>
        </p:txBody>
      </p:sp>
      <p:sp>
        <p:nvSpPr>
          <p:cNvPr id="19" name="Shape 15"/>
          <p:cNvSpPr/>
          <p:nvPr/>
        </p:nvSpPr>
        <p:spPr>
          <a:xfrm>
            <a:off x="4544568" y="3529584"/>
            <a:ext cx="82296" cy="82296"/>
          </a:xfrm>
          <a:prstGeom prst="ellipse">
            <a:avLst/>
          </a:prstGeom>
          <a:solidFill>
            <a:srgbClr val="10A37F"/>
          </a:solidFill>
          <a:ln/>
        </p:spPr>
        <p:txBody>
          <a:bodyPr/>
          <a:lstStyle/>
          <a:p>
            <a:endParaRPr lang="en-US"/>
          </a:p>
        </p:txBody>
      </p:sp>
      <p:sp>
        <p:nvSpPr>
          <p:cNvPr id="20" name="Text 16"/>
          <p:cNvSpPr/>
          <p:nvPr/>
        </p:nvSpPr>
        <p:spPr>
          <a:xfrm>
            <a:off x="4727448" y="3419856"/>
            <a:ext cx="2935224" cy="868680"/>
          </a:xfrm>
          <a:prstGeom prst="rect">
            <a:avLst/>
          </a:prstGeom>
          <a:noFill/>
          <a:ln/>
        </p:spPr>
        <p:txBody>
          <a:bodyPr wrap="square" lIns="0" tIns="0" rIns="0" bIns="0" rtlCol="0" anchor="ctr"/>
          <a:lstStyle/>
          <a:p>
            <a:pPr marL="0" indent="0">
              <a:lnSpc>
                <a:spcPct val="115000"/>
              </a:lnSpc>
              <a:buNone/>
            </a:pPr>
            <a:r>
              <a:rPr lang="en-US" sz="1030" dirty="0">
                <a:solidFill>
                  <a:srgbClr val="2B2E33"/>
                </a:solidFill>
                <a:latin typeface="Calibri" pitchFamily="34" charset="0"/>
                <a:ea typeface="Calibri" pitchFamily="34" charset="-122"/>
                <a:cs typeface="Calibri" pitchFamily="34" charset="-120"/>
              </a:rPr>
              <a:t>Availability varies by category — peanut butter, beverages, rice, pulses &amp; breakfast products.</a:t>
            </a:r>
            <a:endParaRPr lang="en-US" sz="1030" dirty="0"/>
          </a:p>
        </p:txBody>
      </p:sp>
      <p:sp>
        <p:nvSpPr>
          <p:cNvPr id="21" name="Shape 17"/>
          <p:cNvSpPr/>
          <p:nvPr/>
        </p:nvSpPr>
        <p:spPr>
          <a:xfrm>
            <a:off x="8046720" y="1600200"/>
            <a:ext cx="3502152" cy="2880360"/>
          </a:xfrm>
          <a:prstGeom prst="roundRect">
            <a:avLst>
              <a:gd name="adj" fmla="val 2540"/>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2" name="Shape 18"/>
          <p:cNvSpPr/>
          <p:nvPr/>
        </p:nvSpPr>
        <p:spPr>
          <a:xfrm>
            <a:off x="8247888" y="1801368"/>
            <a:ext cx="502920" cy="502920"/>
          </a:xfrm>
          <a:prstGeom prst="ellipse">
            <a:avLst/>
          </a:prstGeom>
          <a:solidFill>
            <a:srgbClr val="0F1F3D"/>
          </a:solidFill>
          <a:ln/>
        </p:spPr>
        <p:txBody>
          <a:bodyPr/>
          <a:lstStyle/>
          <a:p>
            <a:endParaRPr lang="en-US"/>
          </a:p>
        </p:txBody>
      </p:sp>
      <p:pic>
        <p:nvPicPr>
          <p:cNvPr id="23" name="Image 2" descr="/home/claude/assets/target.png"/>
          <p:cNvPicPr>
            <a:picLocks noChangeAspect="1"/>
          </p:cNvPicPr>
          <p:nvPr/>
        </p:nvPicPr>
        <p:blipFill>
          <a:blip r:embed="rId5"/>
          <a:stretch>
            <a:fillRect/>
          </a:stretch>
        </p:blipFill>
        <p:spPr>
          <a:xfrm>
            <a:off x="8368589" y="1922069"/>
            <a:ext cx="261518" cy="261518"/>
          </a:xfrm>
          <a:prstGeom prst="rect">
            <a:avLst/>
          </a:prstGeom>
        </p:spPr>
      </p:pic>
      <p:sp>
        <p:nvSpPr>
          <p:cNvPr id="24" name="Text 19"/>
          <p:cNvSpPr/>
          <p:nvPr/>
        </p:nvSpPr>
        <p:spPr>
          <a:xfrm>
            <a:off x="8869680" y="1874520"/>
            <a:ext cx="2542032" cy="457200"/>
          </a:xfrm>
          <a:prstGeom prst="rect">
            <a:avLst/>
          </a:prstGeom>
          <a:noFill/>
          <a:ln/>
        </p:spPr>
        <p:txBody>
          <a:bodyPr wrap="square" lIns="0" tIns="0" rIns="0" bIns="0" rtlCol="0" anchor="ctr"/>
          <a:lstStyle/>
          <a:p>
            <a:pPr marL="0" indent="0">
              <a:buNone/>
            </a:pPr>
            <a:r>
              <a:rPr lang="en-US" sz="1300" b="1" dirty="0">
                <a:solidFill>
                  <a:srgbClr val="0F1F3D"/>
                </a:solidFill>
                <a:latin typeface="Calibri" pitchFamily="34" charset="0"/>
                <a:ea typeface="Calibri" pitchFamily="34" charset="-122"/>
                <a:cs typeface="Calibri" pitchFamily="34" charset="-120"/>
              </a:rPr>
              <a:t>Retailer Opportunities</a:t>
            </a:r>
            <a:endParaRPr lang="en-US" sz="1300" dirty="0"/>
          </a:p>
        </p:txBody>
      </p:sp>
      <p:sp>
        <p:nvSpPr>
          <p:cNvPr id="25" name="Shape 20"/>
          <p:cNvSpPr/>
          <p:nvPr/>
        </p:nvSpPr>
        <p:spPr>
          <a:xfrm>
            <a:off x="8247888" y="2569464"/>
            <a:ext cx="82296" cy="82296"/>
          </a:xfrm>
          <a:prstGeom prst="ellipse">
            <a:avLst/>
          </a:prstGeom>
          <a:solidFill>
            <a:srgbClr val="10A37F"/>
          </a:solidFill>
          <a:ln/>
        </p:spPr>
        <p:txBody>
          <a:bodyPr/>
          <a:lstStyle/>
          <a:p>
            <a:endParaRPr lang="en-US"/>
          </a:p>
        </p:txBody>
      </p:sp>
      <p:sp>
        <p:nvSpPr>
          <p:cNvPr id="26" name="Text 21"/>
          <p:cNvSpPr/>
          <p:nvPr/>
        </p:nvSpPr>
        <p:spPr>
          <a:xfrm>
            <a:off x="8430768" y="2459736"/>
            <a:ext cx="2935224" cy="868680"/>
          </a:xfrm>
          <a:prstGeom prst="rect">
            <a:avLst/>
          </a:prstGeom>
          <a:noFill/>
          <a:ln/>
        </p:spPr>
        <p:txBody>
          <a:bodyPr wrap="square" lIns="0" tIns="0" rIns="0" bIns="0" rtlCol="0" anchor="ctr"/>
          <a:lstStyle/>
          <a:p>
            <a:pPr marL="0" indent="0">
              <a:lnSpc>
                <a:spcPct val="115000"/>
              </a:lnSpc>
              <a:buNone/>
            </a:pPr>
            <a:r>
              <a:rPr lang="en-US" sz="1030" dirty="0">
                <a:solidFill>
                  <a:srgbClr val="2B2E33"/>
                </a:solidFill>
                <a:latin typeface="Calibri" pitchFamily="34" charset="0"/>
                <a:ea typeface="Calibri" pitchFamily="34" charset="-122"/>
                <a:cs typeface="Calibri" pitchFamily="34" charset="-120"/>
              </a:rPr>
              <a:t>Retailers with a wider brand portfolio are natural onboarding priorities.</a:t>
            </a:r>
            <a:endParaRPr lang="en-US" sz="1030" dirty="0"/>
          </a:p>
        </p:txBody>
      </p:sp>
      <p:sp>
        <p:nvSpPr>
          <p:cNvPr id="27" name="Shape 22"/>
          <p:cNvSpPr/>
          <p:nvPr/>
        </p:nvSpPr>
        <p:spPr>
          <a:xfrm>
            <a:off x="8247888" y="3529584"/>
            <a:ext cx="82296" cy="82296"/>
          </a:xfrm>
          <a:prstGeom prst="ellipse">
            <a:avLst/>
          </a:prstGeom>
          <a:solidFill>
            <a:srgbClr val="10A37F"/>
          </a:solidFill>
          <a:ln/>
        </p:spPr>
        <p:txBody>
          <a:bodyPr/>
          <a:lstStyle/>
          <a:p>
            <a:endParaRPr lang="en-US"/>
          </a:p>
        </p:txBody>
      </p:sp>
      <p:sp>
        <p:nvSpPr>
          <p:cNvPr id="28" name="Text 23"/>
          <p:cNvSpPr/>
          <p:nvPr/>
        </p:nvSpPr>
        <p:spPr>
          <a:xfrm>
            <a:off x="8430768" y="3419856"/>
            <a:ext cx="2935224" cy="868680"/>
          </a:xfrm>
          <a:prstGeom prst="rect">
            <a:avLst/>
          </a:prstGeom>
          <a:noFill/>
          <a:ln/>
        </p:spPr>
        <p:txBody>
          <a:bodyPr wrap="square" lIns="0" tIns="0" rIns="0" bIns="0" rtlCol="0" anchor="ctr"/>
          <a:lstStyle/>
          <a:p>
            <a:pPr marL="0" indent="0">
              <a:lnSpc>
                <a:spcPct val="115000"/>
              </a:lnSpc>
              <a:buNone/>
            </a:pPr>
            <a:r>
              <a:rPr lang="en-US" sz="1030" dirty="0">
                <a:solidFill>
                  <a:srgbClr val="2B2E33"/>
                </a:solidFill>
                <a:latin typeface="Calibri" pitchFamily="34" charset="0"/>
                <a:ea typeface="Calibri" pitchFamily="34" charset="-122"/>
                <a:cs typeface="Calibri" pitchFamily="34" charset="-120"/>
              </a:rPr>
              <a:t>High-footfall Kirana stores offer a route to improved product reach.</a:t>
            </a:r>
            <a:endParaRPr lang="en-US" sz="1030" dirty="0"/>
          </a:p>
        </p:txBody>
      </p:sp>
      <p:sp>
        <p:nvSpPr>
          <p:cNvPr id="29" name="Shape 24"/>
          <p:cNvSpPr/>
          <p:nvPr/>
        </p:nvSpPr>
        <p:spPr>
          <a:xfrm>
            <a:off x="640080" y="4709160"/>
            <a:ext cx="10908792" cy="1234440"/>
          </a:xfrm>
          <a:prstGeom prst="roundRect">
            <a:avLst>
              <a:gd name="adj" fmla="val 5926"/>
            </a:avLst>
          </a:prstGeom>
          <a:solidFill>
            <a:srgbClr val="0F1F3D"/>
          </a:solidFill>
          <a:ln/>
          <a:effectLst>
            <a:outerShdw blurRad="88900" dist="38100" dir="5400000" algn="bl" rotWithShape="0">
              <a:srgbClr val="5B6472">
                <a:alpha val="20000"/>
              </a:srgbClr>
            </a:outerShdw>
          </a:effectLst>
        </p:spPr>
        <p:txBody>
          <a:bodyPr/>
          <a:lstStyle/>
          <a:p>
            <a:endParaRPr lang="en-US"/>
          </a:p>
        </p:txBody>
      </p:sp>
      <p:sp>
        <p:nvSpPr>
          <p:cNvPr id="30" name="Text 25"/>
          <p:cNvSpPr/>
          <p:nvPr/>
        </p:nvSpPr>
        <p:spPr>
          <a:xfrm>
            <a:off x="960120" y="4864608"/>
            <a:ext cx="3657600" cy="256032"/>
          </a:xfrm>
          <a:prstGeom prst="rect">
            <a:avLst/>
          </a:prstGeom>
          <a:noFill/>
          <a:ln/>
        </p:spPr>
        <p:txBody>
          <a:bodyPr wrap="square" lIns="0" tIns="0" rIns="0" bIns="0" rtlCol="0" anchor="ctr"/>
          <a:lstStyle/>
          <a:p>
            <a:pPr marL="0" indent="0">
              <a:buNone/>
            </a:pPr>
            <a:r>
              <a:rPr lang="en-US" sz="950" b="1" kern="0" spc="100" dirty="0">
                <a:solidFill>
                  <a:srgbClr val="10A37F"/>
                </a:solidFill>
                <a:latin typeface="Calibri" pitchFamily="34" charset="0"/>
                <a:ea typeface="Calibri" pitchFamily="34" charset="-122"/>
                <a:cs typeface="Calibri" pitchFamily="34" charset="-120"/>
              </a:rPr>
              <a:t>DASHBOARD CONCLUSION</a:t>
            </a:r>
            <a:endParaRPr lang="en-US" sz="950" dirty="0"/>
          </a:p>
        </p:txBody>
      </p:sp>
      <p:sp>
        <p:nvSpPr>
          <p:cNvPr id="31" name="Text 26"/>
          <p:cNvSpPr/>
          <p:nvPr/>
        </p:nvSpPr>
        <p:spPr>
          <a:xfrm>
            <a:off x="960120" y="5138928"/>
            <a:ext cx="10241280" cy="685800"/>
          </a:xfrm>
          <a:prstGeom prst="rect">
            <a:avLst/>
          </a:prstGeom>
          <a:noFill/>
          <a:ln/>
        </p:spPr>
        <p:txBody>
          <a:bodyPr wrap="square" lIns="0" tIns="0" rIns="0" bIns="0" rtlCol="0" anchor="ctr"/>
          <a:lstStyle/>
          <a:p>
            <a:pPr marL="0" indent="0">
              <a:lnSpc>
                <a:spcPct val="120000"/>
              </a:lnSpc>
              <a:buNone/>
            </a:pPr>
            <a:r>
              <a:rPr lang="en-US" sz="1150" i="1" dirty="0">
                <a:solidFill>
                  <a:srgbClr val="DCE4F2"/>
                </a:solidFill>
                <a:latin typeface="Calibri" pitchFamily="34" charset="0"/>
                <a:ea typeface="Calibri" pitchFamily="34" charset="-122"/>
                <a:cs typeface="Calibri" pitchFamily="34" charset="-120"/>
              </a:rPr>
              <a:t>The retailer survey provides insight into brand presence, product availability and retailer potential in the North Delhi market — supporting better onboarding decisions, category expansion strategy and improved market coverage.</a:t>
            </a:r>
            <a:endParaRPr lang="en-US" sz="1150" dirty="0"/>
          </a:p>
        </p:txBody>
      </p:sp>
      <p:sp>
        <p:nvSpPr>
          <p:cNvPr id="32" name="Text 27"/>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33" name="Text 28"/>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DISTRIBUTOR DASHBOARD OVERVIEW</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The Distributor Survey Dashboard</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04 – DASHBOARDS</a:t>
            </a:r>
            <a:endParaRPr lang="en-US" sz="1050" dirty="0"/>
          </a:p>
        </p:txBody>
      </p:sp>
      <p:sp>
        <p:nvSpPr>
          <p:cNvPr id="5" name="Text 3"/>
          <p:cNvSpPr/>
          <p:nvPr/>
        </p:nvSpPr>
        <p:spPr>
          <a:xfrm>
            <a:off x="640080" y="1508760"/>
            <a:ext cx="4937760" cy="548640"/>
          </a:xfrm>
          <a:prstGeom prst="rect">
            <a:avLst/>
          </a:prstGeom>
          <a:noFill/>
          <a:ln/>
        </p:spPr>
        <p:txBody>
          <a:bodyPr wrap="square" lIns="0" tIns="0" rIns="0" bIns="0" rtlCol="0" anchor="ctr"/>
          <a:lstStyle/>
          <a:p>
            <a:pPr marL="0" indent="0">
              <a:lnSpc>
                <a:spcPct val="120000"/>
              </a:lnSpc>
              <a:buNone/>
            </a:pPr>
            <a:r>
              <a:rPr lang="en-US" sz="1200" dirty="0">
                <a:solidFill>
                  <a:srgbClr val="2B2E33"/>
                </a:solidFill>
                <a:latin typeface="Calibri" pitchFamily="34" charset="0"/>
                <a:ea typeface="Calibri" pitchFamily="34" charset="-122"/>
                <a:cs typeface="Calibri" pitchFamily="34" charset="-120"/>
              </a:rPr>
              <a:t>Built in Microsoft Power BI, across three pages, filterable by distributor and locality.</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4937760" cy="1600200"/>
        </p:xfrm>
        <a:graphic>
          <a:graphicData uri="http://schemas.openxmlformats.org/drawingml/2006/table">
            <a:tbl>
              <a:tblPr/>
              <a:tblGrid>
                <a:gridCol w="196596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Page</a:t>
                      </a:r>
                      <a:endParaRPr lang="en-US" sz="115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0F1F3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Content</a:t>
                      </a:r>
                      <a:endParaRPr lang="en-US" sz="115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0F1F3D"/>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Distributor Overview</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Headline scale metrics: distributors, retailers served, staff, vehicles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Market Intelligence &amp; Insights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Category demand &amp; growth, brand strength, expansion potential</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Operational Analysis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Visit frequency, top distribution / onboarding challenges</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943600" y="1508760"/>
            <a:ext cx="5605272" cy="4526280"/>
          </a:xfrm>
          <a:prstGeom prst="roundRect">
            <a:avLst>
              <a:gd name="adj" fmla="val 1212"/>
            </a:avLst>
          </a:prstGeom>
          <a:solidFill>
            <a:srgbClr val="E9EBEF"/>
          </a:solidFill>
          <a:ln w="15875">
            <a:solidFill>
              <a:srgbClr val="D8DCE2"/>
            </a:solidFill>
            <a:prstDash val="dash"/>
          </a:ln>
        </p:spPr>
        <p:txBody>
          <a:bodyPr/>
          <a:lstStyle/>
          <a:p>
            <a:endParaRPr lang="en-US"/>
          </a:p>
        </p:txBody>
      </p:sp>
      <p:sp>
        <p:nvSpPr>
          <p:cNvPr id="8" name="Shape 5"/>
          <p:cNvSpPr/>
          <p:nvPr/>
        </p:nvSpPr>
        <p:spPr>
          <a:xfrm>
            <a:off x="8453628" y="3314700"/>
            <a:ext cx="585216" cy="585216"/>
          </a:xfrm>
          <a:prstGeom prst="ellipse">
            <a:avLst/>
          </a:prstGeom>
          <a:solidFill>
            <a:srgbClr val="0F1F3D"/>
          </a:solidFill>
          <a:ln/>
        </p:spPr>
        <p:txBody>
          <a:bodyPr/>
          <a:lstStyle/>
          <a:p>
            <a:endParaRPr lang="en-US"/>
          </a:p>
        </p:txBody>
      </p:sp>
      <p:pic>
        <p:nvPicPr>
          <p:cNvPr id="9" name="Image 0" descr="/home/claude/assets/dashboard.png"/>
          <p:cNvPicPr>
            <a:picLocks noChangeAspect="1"/>
          </p:cNvPicPr>
          <p:nvPr/>
        </p:nvPicPr>
        <p:blipFill>
          <a:blip r:embed="rId3"/>
          <a:stretch>
            <a:fillRect/>
          </a:stretch>
        </p:blipFill>
        <p:spPr>
          <a:xfrm>
            <a:off x="8594080" y="3455152"/>
            <a:ext cx="304312" cy="304312"/>
          </a:xfrm>
          <a:prstGeom prst="rect">
            <a:avLst/>
          </a:prstGeom>
        </p:spPr>
      </p:pic>
      <p:sp>
        <p:nvSpPr>
          <p:cNvPr id="10" name="Text 6"/>
          <p:cNvSpPr/>
          <p:nvPr/>
        </p:nvSpPr>
        <p:spPr>
          <a:xfrm>
            <a:off x="6217920" y="3954780"/>
            <a:ext cx="5056632" cy="457200"/>
          </a:xfrm>
          <a:prstGeom prst="rect">
            <a:avLst/>
          </a:prstGeom>
          <a:noFill/>
          <a:ln/>
        </p:spPr>
        <p:txBody>
          <a:bodyPr wrap="square" lIns="0" tIns="0" rIns="0" bIns="0" rtlCol="0" anchor="ctr"/>
          <a:lstStyle/>
          <a:p>
            <a:pPr marL="0" indent="0" algn="ctr">
              <a:buNone/>
            </a:pPr>
            <a:r>
              <a:rPr lang="en-US" sz="1100" b="1" i="1" dirty="0">
                <a:solidFill>
                  <a:srgbClr val="6B7280"/>
                </a:solidFill>
                <a:latin typeface="Calibri" pitchFamily="34" charset="0"/>
                <a:ea typeface="Calibri" pitchFamily="34" charset="-122"/>
                <a:cs typeface="Calibri" pitchFamily="34" charset="-120"/>
              </a:rPr>
              <a:t>[ Insert Distributor Dashboard Screenshot —</a:t>
            </a:r>
            <a:endParaRPr lang="en-US" sz="1100" dirty="0"/>
          </a:p>
          <a:p>
            <a:pPr marL="0" indent="0" algn="ctr">
              <a:buNone/>
            </a:pPr>
            <a:r>
              <a:rPr lang="en-US" sz="1100" b="1" i="1" dirty="0">
                <a:solidFill>
                  <a:srgbClr val="6B7280"/>
                </a:solidFill>
                <a:latin typeface="Calibri" pitchFamily="34" charset="0"/>
                <a:ea typeface="Calibri" pitchFamily="34" charset="-122"/>
                <a:cs typeface="Calibri" pitchFamily="34" charset="-120"/>
              </a:rPr>
              <a:t>Distributor Overview page ]</a:t>
            </a:r>
            <a:endParaRPr lang="en-US" sz="1100" dirty="0"/>
          </a:p>
        </p:txBody>
      </p:sp>
      <p:sp>
        <p:nvSpPr>
          <p:cNvPr id="11" name="Text 7"/>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12" name="Text 8"/>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14</a:t>
            </a:r>
            <a:endParaRPr lang="en-US" sz="800" dirty="0"/>
          </a:p>
        </p:txBody>
      </p:sp>
      <p:pic>
        <p:nvPicPr>
          <p:cNvPr id="13" name="Picture 12">
            <a:extLst>
              <a:ext uri="{FF2B5EF4-FFF2-40B4-BE49-F238E27FC236}">
                <a16:creationId xmlns:a16="http://schemas.microsoft.com/office/drawing/2014/main" id="{637D4C19-E5EC-CE21-1095-4C002CEF9C32}"/>
              </a:ext>
            </a:extLst>
          </p:cNvPr>
          <p:cNvPicPr>
            <a:picLocks noChangeAspect="1"/>
          </p:cNvPicPr>
          <p:nvPr/>
        </p:nvPicPr>
        <p:blipFill>
          <a:blip r:embed="rId4"/>
          <a:stretch>
            <a:fillRect/>
          </a:stretch>
        </p:blipFill>
        <p:spPr>
          <a:xfrm>
            <a:off x="5943600" y="1508760"/>
            <a:ext cx="5577840" cy="45262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DISTRIBUTOR DASHBOARD INSIGHTS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What the Distributor Data Shows</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04 – DASHBOARDS</a:t>
            </a:r>
            <a:endParaRPr lang="en-US" sz="1050" dirty="0"/>
          </a:p>
        </p:txBody>
      </p:sp>
      <p:sp>
        <p:nvSpPr>
          <p:cNvPr id="5" name="Shape 3"/>
          <p:cNvSpPr/>
          <p:nvPr/>
        </p:nvSpPr>
        <p:spPr>
          <a:xfrm>
            <a:off x="640080" y="1645920"/>
            <a:ext cx="2542032" cy="2743200"/>
          </a:xfrm>
          <a:prstGeom prst="roundRect">
            <a:avLst>
              <a:gd name="adj" fmla="val 2878"/>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6" name="Shape 4"/>
          <p:cNvSpPr/>
          <p:nvPr/>
        </p:nvSpPr>
        <p:spPr>
          <a:xfrm>
            <a:off x="1636776" y="1883664"/>
            <a:ext cx="548640" cy="548640"/>
          </a:xfrm>
          <a:prstGeom prst="ellipse">
            <a:avLst/>
          </a:prstGeom>
          <a:solidFill>
            <a:srgbClr val="0F1F3D"/>
          </a:solidFill>
          <a:ln/>
        </p:spPr>
        <p:txBody>
          <a:bodyPr/>
          <a:lstStyle/>
          <a:p>
            <a:endParaRPr lang="en-US"/>
          </a:p>
        </p:txBody>
      </p:sp>
      <p:pic>
        <p:nvPicPr>
          <p:cNvPr id="7" name="Image 0" descr="/home/claude/assets/truck.png"/>
          <p:cNvPicPr>
            <a:picLocks noChangeAspect="1"/>
          </p:cNvPicPr>
          <p:nvPr/>
        </p:nvPicPr>
        <p:blipFill>
          <a:blip r:embed="rId3"/>
          <a:stretch>
            <a:fillRect/>
          </a:stretch>
        </p:blipFill>
        <p:spPr>
          <a:xfrm>
            <a:off x="1768450" y="2015338"/>
            <a:ext cx="285293" cy="285293"/>
          </a:xfrm>
          <a:prstGeom prst="rect">
            <a:avLst/>
          </a:prstGeom>
        </p:spPr>
      </p:pic>
      <p:sp>
        <p:nvSpPr>
          <p:cNvPr id="8" name="Text 5"/>
          <p:cNvSpPr/>
          <p:nvPr/>
        </p:nvSpPr>
        <p:spPr>
          <a:xfrm>
            <a:off x="777240" y="2560320"/>
            <a:ext cx="2267712" cy="502920"/>
          </a:xfrm>
          <a:prstGeom prst="rect">
            <a:avLst/>
          </a:prstGeom>
          <a:noFill/>
          <a:ln/>
        </p:spPr>
        <p:txBody>
          <a:bodyPr wrap="square" lIns="0" tIns="0" rIns="0" bIns="0" rtlCol="0" anchor="ctr"/>
          <a:lstStyle/>
          <a:p>
            <a:pPr marL="0" indent="0" algn="ctr">
              <a:lnSpc>
                <a:spcPct val="110000"/>
              </a:lnSpc>
              <a:buNone/>
            </a:pPr>
            <a:r>
              <a:rPr lang="en-US" sz="1130" b="1" dirty="0">
                <a:solidFill>
                  <a:srgbClr val="0F1F3D"/>
                </a:solidFill>
                <a:latin typeface="Calibri" pitchFamily="34" charset="0"/>
                <a:ea typeface="Calibri" pitchFamily="34" charset="-122"/>
                <a:cs typeface="Calibri" pitchFamily="34" charset="-120"/>
              </a:rPr>
              <a:t>Scale Varies Meaningfully</a:t>
            </a:r>
            <a:endParaRPr lang="en-US" sz="1130" dirty="0"/>
          </a:p>
        </p:txBody>
      </p:sp>
      <p:sp>
        <p:nvSpPr>
          <p:cNvPr id="9" name="Text 6"/>
          <p:cNvSpPr/>
          <p:nvPr/>
        </p:nvSpPr>
        <p:spPr>
          <a:xfrm>
            <a:off x="804672" y="3090672"/>
            <a:ext cx="2212848" cy="1188720"/>
          </a:xfrm>
          <a:prstGeom prst="rect">
            <a:avLst/>
          </a:prstGeom>
          <a:noFill/>
          <a:ln/>
        </p:spPr>
        <p:txBody>
          <a:bodyPr wrap="square" lIns="0" tIns="0" rIns="0" bIns="0" rtlCol="0" anchor="ctr"/>
          <a:lstStyle/>
          <a:p>
            <a:pPr marL="0" indent="0" algn="ctr">
              <a:lnSpc>
                <a:spcPct val="120000"/>
              </a:lnSpc>
              <a:buNone/>
            </a:pPr>
            <a:r>
              <a:rPr lang="en-US" sz="960" dirty="0">
                <a:solidFill>
                  <a:srgbClr val="2B2E33"/>
                </a:solidFill>
                <a:latin typeface="Calibri" pitchFamily="34" charset="0"/>
                <a:ea typeface="Calibri" pitchFamily="34" charset="-122"/>
                <a:cs typeface="Calibri" pitchFamily="34" charset="-120"/>
              </a:rPr>
              <a:t>Distributor scale — retailers served, employees, delivery vehicles, area covered — varies meaningfully across the distributors surveyed.</a:t>
            </a:r>
            <a:endParaRPr lang="en-US" sz="960" dirty="0"/>
          </a:p>
        </p:txBody>
      </p:sp>
      <p:sp>
        <p:nvSpPr>
          <p:cNvPr id="10" name="Shape 7"/>
          <p:cNvSpPr/>
          <p:nvPr/>
        </p:nvSpPr>
        <p:spPr>
          <a:xfrm>
            <a:off x="3410712" y="1645920"/>
            <a:ext cx="2542032" cy="2743200"/>
          </a:xfrm>
          <a:prstGeom prst="roundRect">
            <a:avLst>
              <a:gd name="adj" fmla="val 2878"/>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1" name="Shape 8"/>
          <p:cNvSpPr/>
          <p:nvPr/>
        </p:nvSpPr>
        <p:spPr>
          <a:xfrm>
            <a:off x="4407408" y="1883664"/>
            <a:ext cx="548640" cy="548640"/>
          </a:xfrm>
          <a:prstGeom prst="ellipse">
            <a:avLst/>
          </a:prstGeom>
          <a:solidFill>
            <a:srgbClr val="0F1F3D"/>
          </a:solidFill>
          <a:ln/>
        </p:spPr>
        <p:txBody>
          <a:bodyPr/>
          <a:lstStyle/>
          <a:p>
            <a:endParaRPr lang="en-US"/>
          </a:p>
        </p:txBody>
      </p:sp>
      <p:pic>
        <p:nvPicPr>
          <p:cNvPr id="12" name="Image 1" descr="/home/claude/assets/chart.png"/>
          <p:cNvPicPr>
            <a:picLocks noChangeAspect="1"/>
          </p:cNvPicPr>
          <p:nvPr/>
        </p:nvPicPr>
        <p:blipFill>
          <a:blip r:embed="rId4"/>
          <a:stretch>
            <a:fillRect/>
          </a:stretch>
        </p:blipFill>
        <p:spPr>
          <a:xfrm>
            <a:off x="4539082" y="2015338"/>
            <a:ext cx="285293" cy="285293"/>
          </a:xfrm>
          <a:prstGeom prst="rect">
            <a:avLst/>
          </a:prstGeom>
        </p:spPr>
      </p:pic>
      <p:sp>
        <p:nvSpPr>
          <p:cNvPr id="13" name="Text 9"/>
          <p:cNvSpPr/>
          <p:nvPr/>
        </p:nvSpPr>
        <p:spPr>
          <a:xfrm>
            <a:off x="3547872" y="2560320"/>
            <a:ext cx="2267712" cy="502920"/>
          </a:xfrm>
          <a:prstGeom prst="rect">
            <a:avLst/>
          </a:prstGeom>
          <a:noFill/>
          <a:ln/>
        </p:spPr>
        <p:txBody>
          <a:bodyPr wrap="square" lIns="0" tIns="0" rIns="0" bIns="0" rtlCol="0" anchor="ctr"/>
          <a:lstStyle/>
          <a:p>
            <a:pPr marL="0" indent="0" algn="ctr">
              <a:lnSpc>
                <a:spcPct val="110000"/>
              </a:lnSpc>
              <a:buNone/>
            </a:pPr>
            <a:r>
              <a:rPr lang="en-US" sz="1130" b="1" dirty="0">
                <a:solidFill>
                  <a:srgbClr val="0F1F3D"/>
                </a:solidFill>
                <a:latin typeface="Calibri" pitchFamily="34" charset="0"/>
                <a:ea typeface="Calibri" pitchFamily="34" charset="-122"/>
                <a:cs typeface="Calibri" pitchFamily="34" charset="-120"/>
              </a:rPr>
              <a:t>Demand ≠ Growth</a:t>
            </a:r>
            <a:endParaRPr lang="en-US" sz="1130" dirty="0"/>
          </a:p>
        </p:txBody>
      </p:sp>
      <p:sp>
        <p:nvSpPr>
          <p:cNvPr id="14" name="Text 10"/>
          <p:cNvSpPr/>
          <p:nvPr/>
        </p:nvSpPr>
        <p:spPr>
          <a:xfrm>
            <a:off x="3575304" y="3090672"/>
            <a:ext cx="2212848" cy="1188720"/>
          </a:xfrm>
          <a:prstGeom prst="rect">
            <a:avLst/>
          </a:prstGeom>
          <a:noFill/>
          <a:ln/>
        </p:spPr>
        <p:txBody>
          <a:bodyPr wrap="square" lIns="0" tIns="0" rIns="0" bIns="0" rtlCol="0" anchor="ctr"/>
          <a:lstStyle/>
          <a:p>
            <a:pPr marL="0" indent="0" algn="ctr">
              <a:lnSpc>
                <a:spcPct val="120000"/>
              </a:lnSpc>
              <a:buNone/>
            </a:pPr>
            <a:r>
              <a:rPr lang="en-US" sz="960" dirty="0">
                <a:solidFill>
                  <a:srgbClr val="2B2E33"/>
                </a:solidFill>
                <a:latin typeface="Calibri" pitchFamily="34" charset="0"/>
                <a:ea typeface="Calibri" pitchFamily="34" charset="-122"/>
                <a:cs typeface="Calibri" pitchFamily="34" charset="-120"/>
              </a:rPr>
              <a:t>The highest-demand category is not always the fastest-growing one — a direct input into expansion sequencing.</a:t>
            </a:r>
            <a:endParaRPr lang="en-US" sz="960" dirty="0"/>
          </a:p>
        </p:txBody>
      </p:sp>
      <p:sp>
        <p:nvSpPr>
          <p:cNvPr id="15" name="Shape 11"/>
          <p:cNvSpPr/>
          <p:nvPr/>
        </p:nvSpPr>
        <p:spPr>
          <a:xfrm>
            <a:off x="6181344" y="1645920"/>
            <a:ext cx="2542032" cy="2743200"/>
          </a:xfrm>
          <a:prstGeom prst="roundRect">
            <a:avLst>
              <a:gd name="adj" fmla="val 2878"/>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6" name="Shape 12"/>
          <p:cNvSpPr/>
          <p:nvPr/>
        </p:nvSpPr>
        <p:spPr>
          <a:xfrm>
            <a:off x="7178040" y="1883664"/>
            <a:ext cx="548640" cy="548640"/>
          </a:xfrm>
          <a:prstGeom prst="ellipse">
            <a:avLst/>
          </a:prstGeom>
          <a:solidFill>
            <a:srgbClr val="0F1F3D"/>
          </a:solidFill>
          <a:ln/>
        </p:spPr>
        <p:txBody>
          <a:bodyPr/>
          <a:lstStyle/>
          <a:p>
            <a:endParaRPr lang="en-US"/>
          </a:p>
        </p:txBody>
      </p:sp>
      <p:pic>
        <p:nvPicPr>
          <p:cNvPr id="17" name="Image 2" descr="/home/claude/assets/warning.png"/>
          <p:cNvPicPr>
            <a:picLocks noChangeAspect="1"/>
          </p:cNvPicPr>
          <p:nvPr/>
        </p:nvPicPr>
        <p:blipFill>
          <a:blip r:embed="rId5"/>
          <a:stretch>
            <a:fillRect/>
          </a:stretch>
        </p:blipFill>
        <p:spPr>
          <a:xfrm>
            <a:off x="7309714" y="2015338"/>
            <a:ext cx="285293" cy="285293"/>
          </a:xfrm>
          <a:prstGeom prst="rect">
            <a:avLst/>
          </a:prstGeom>
        </p:spPr>
      </p:pic>
      <p:sp>
        <p:nvSpPr>
          <p:cNvPr id="18" name="Text 13"/>
          <p:cNvSpPr/>
          <p:nvPr/>
        </p:nvSpPr>
        <p:spPr>
          <a:xfrm>
            <a:off x="6318504" y="2560320"/>
            <a:ext cx="2267712" cy="502920"/>
          </a:xfrm>
          <a:prstGeom prst="rect">
            <a:avLst/>
          </a:prstGeom>
          <a:noFill/>
          <a:ln/>
        </p:spPr>
        <p:txBody>
          <a:bodyPr wrap="square" lIns="0" tIns="0" rIns="0" bIns="0" rtlCol="0" anchor="ctr"/>
          <a:lstStyle/>
          <a:p>
            <a:pPr marL="0" indent="0" algn="ctr">
              <a:lnSpc>
                <a:spcPct val="110000"/>
              </a:lnSpc>
              <a:buNone/>
            </a:pPr>
            <a:r>
              <a:rPr lang="en-US" sz="1130" b="1" dirty="0">
                <a:solidFill>
                  <a:srgbClr val="0F1F3D"/>
                </a:solidFill>
                <a:latin typeface="Calibri" pitchFamily="34" charset="0"/>
                <a:ea typeface="Calibri" pitchFamily="34" charset="-122"/>
                <a:cs typeface="Calibri" pitchFamily="34" charset="-120"/>
              </a:rPr>
              <a:t>Onboarding Friction Points</a:t>
            </a:r>
            <a:endParaRPr lang="en-US" sz="1130" dirty="0"/>
          </a:p>
        </p:txBody>
      </p:sp>
      <p:sp>
        <p:nvSpPr>
          <p:cNvPr id="19" name="Text 14"/>
          <p:cNvSpPr/>
          <p:nvPr/>
        </p:nvSpPr>
        <p:spPr>
          <a:xfrm>
            <a:off x="6345936" y="3090672"/>
            <a:ext cx="2212848" cy="1188720"/>
          </a:xfrm>
          <a:prstGeom prst="rect">
            <a:avLst/>
          </a:prstGeom>
          <a:noFill/>
          <a:ln/>
        </p:spPr>
        <p:txBody>
          <a:bodyPr wrap="square" lIns="0" tIns="0" rIns="0" bIns="0" rtlCol="0" anchor="ctr"/>
          <a:lstStyle/>
          <a:p>
            <a:pPr marL="0" indent="0" algn="ctr">
              <a:lnSpc>
                <a:spcPct val="120000"/>
              </a:lnSpc>
              <a:buNone/>
            </a:pPr>
            <a:r>
              <a:rPr lang="en-US" sz="960" dirty="0">
                <a:solidFill>
                  <a:srgbClr val="2B2E33"/>
                </a:solidFill>
                <a:latin typeface="Calibri" pitchFamily="34" charset="0"/>
                <a:ea typeface="Calibri" pitchFamily="34" charset="-122"/>
                <a:cs typeface="Calibri" pitchFamily="34" charset="-120"/>
              </a:rPr>
              <a:t>Onboarding challenges reported by distributors form a practical early-warning list for new-retailer onboarding.</a:t>
            </a:r>
            <a:endParaRPr lang="en-US" sz="960" dirty="0"/>
          </a:p>
        </p:txBody>
      </p:sp>
      <p:sp>
        <p:nvSpPr>
          <p:cNvPr id="20" name="Shape 15"/>
          <p:cNvSpPr/>
          <p:nvPr/>
        </p:nvSpPr>
        <p:spPr>
          <a:xfrm>
            <a:off x="8951976" y="1645920"/>
            <a:ext cx="2542032" cy="2743200"/>
          </a:xfrm>
          <a:prstGeom prst="roundRect">
            <a:avLst>
              <a:gd name="adj" fmla="val 2878"/>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1" name="Shape 16"/>
          <p:cNvSpPr/>
          <p:nvPr/>
        </p:nvSpPr>
        <p:spPr>
          <a:xfrm>
            <a:off x="9948672" y="1883664"/>
            <a:ext cx="548640" cy="548640"/>
          </a:xfrm>
          <a:prstGeom prst="ellipse">
            <a:avLst/>
          </a:prstGeom>
          <a:solidFill>
            <a:srgbClr val="0F1F3D"/>
          </a:solidFill>
          <a:ln/>
        </p:spPr>
        <p:txBody>
          <a:bodyPr/>
          <a:lstStyle/>
          <a:p>
            <a:endParaRPr lang="en-US"/>
          </a:p>
        </p:txBody>
      </p:sp>
      <p:pic>
        <p:nvPicPr>
          <p:cNvPr id="22" name="Image 3" descr="/home/claude/assets/snowflake.png"/>
          <p:cNvPicPr>
            <a:picLocks noChangeAspect="1"/>
          </p:cNvPicPr>
          <p:nvPr/>
        </p:nvPicPr>
        <p:blipFill>
          <a:blip r:embed="rId6"/>
          <a:stretch>
            <a:fillRect/>
          </a:stretch>
        </p:blipFill>
        <p:spPr>
          <a:xfrm>
            <a:off x="10080346" y="2015338"/>
            <a:ext cx="285293" cy="285293"/>
          </a:xfrm>
          <a:prstGeom prst="rect">
            <a:avLst/>
          </a:prstGeom>
        </p:spPr>
      </p:pic>
      <p:sp>
        <p:nvSpPr>
          <p:cNvPr id="23" name="Text 17"/>
          <p:cNvSpPr/>
          <p:nvPr/>
        </p:nvSpPr>
        <p:spPr>
          <a:xfrm>
            <a:off x="9089136" y="2560320"/>
            <a:ext cx="2267712" cy="502920"/>
          </a:xfrm>
          <a:prstGeom prst="rect">
            <a:avLst/>
          </a:prstGeom>
          <a:noFill/>
          <a:ln/>
        </p:spPr>
        <p:txBody>
          <a:bodyPr wrap="square" lIns="0" tIns="0" rIns="0" bIns="0" rtlCol="0" anchor="ctr"/>
          <a:lstStyle/>
          <a:p>
            <a:pPr marL="0" indent="0" algn="ctr">
              <a:lnSpc>
                <a:spcPct val="110000"/>
              </a:lnSpc>
              <a:buNone/>
            </a:pPr>
            <a:r>
              <a:rPr lang="en-US" sz="1130" b="1" dirty="0">
                <a:solidFill>
                  <a:srgbClr val="0F1F3D"/>
                </a:solidFill>
                <a:latin typeface="Calibri" pitchFamily="34" charset="0"/>
                <a:ea typeface="Calibri" pitchFamily="34" charset="-122"/>
                <a:cs typeface="Calibri" pitchFamily="34" charset="-120"/>
              </a:rPr>
              <a:t>Cold Storage &amp; Capacity</a:t>
            </a:r>
            <a:endParaRPr lang="en-US" sz="1130" dirty="0"/>
          </a:p>
        </p:txBody>
      </p:sp>
      <p:sp>
        <p:nvSpPr>
          <p:cNvPr id="24" name="Text 18"/>
          <p:cNvSpPr/>
          <p:nvPr/>
        </p:nvSpPr>
        <p:spPr>
          <a:xfrm>
            <a:off x="9116568" y="3090672"/>
            <a:ext cx="2212848" cy="1188720"/>
          </a:xfrm>
          <a:prstGeom prst="rect">
            <a:avLst/>
          </a:prstGeom>
          <a:noFill/>
          <a:ln/>
        </p:spPr>
        <p:txBody>
          <a:bodyPr wrap="square" lIns="0" tIns="0" rIns="0" bIns="0" rtlCol="0" anchor="ctr"/>
          <a:lstStyle/>
          <a:p>
            <a:pPr marL="0" indent="0" algn="ctr">
              <a:lnSpc>
                <a:spcPct val="120000"/>
              </a:lnSpc>
              <a:buNone/>
            </a:pPr>
            <a:r>
              <a:rPr lang="en-US" sz="960" dirty="0">
                <a:solidFill>
                  <a:srgbClr val="2B2E33"/>
                </a:solidFill>
                <a:latin typeface="Calibri" pitchFamily="34" charset="0"/>
                <a:ea typeface="Calibri" pitchFamily="34" charset="-122"/>
                <a:cs typeface="Calibri" pitchFamily="34" charset="-120"/>
              </a:rPr>
              <a:t>Cold storage availability and delivery reach shape which distributors can realistically absorb new retailers.</a:t>
            </a:r>
            <a:endParaRPr lang="en-US" sz="960" dirty="0"/>
          </a:p>
        </p:txBody>
      </p:sp>
      <p:sp>
        <p:nvSpPr>
          <p:cNvPr id="25" name="Shape 19"/>
          <p:cNvSpPr/>
          <p:nvPr/>
        </p:nvSpPr>
        <p:spPr>
          <a:xfrm>
            <a:off x="640080" y="4663440"/>
            <a:ext cx="10908792" cy="1280160"/>
          </a:xfrm>
          <a:prstGeom prst="roundRect">
            <a:avLst>
              <a:gd name="adj" fmla="val 5714"/>
            </a:avLst>
          </a:prstGeom>
          <a:solidFill>
            <a:srgbClr val="0F1F3D"/>
          </a:solidFill>
          <a:ln/>
          <a:effectLst>
            <a:outerShdw blurRad="88900" dist="38100" dir="5400000" algn="bl" rotWithShape="0">
              <a:srgbClr val="5B6472">
                <a:alpha val="20000"/>
              </a:srgbClr>
            </a:outerShdw>
          </a:effectLst>
        </p:spPr>
        <p:txBody>
          <a:bodyPr/>
          <a:lstStyle/>
          <a:p>
            <a:endParaRPr lang="en-US"/>
          </a:p>
        </p:txBody>
      </p:sp>
      <p:sp>
        <p:nvSpPr>
          <p:cNvPr id="26" name="Text 20"/>
          <p:cNvSpPr/>
          <p:nvPr/>
        </p:nvSpPr>
        <p:spPr>
          <a:xfrm>
            <a:off x="960120" y="4663440"/>
            <a:ext cx="10241280" cy="1280160"/>
          </a:xfrm>
          <a:prstGeom prst="rect">
            <a:avLst/>
          </a:prstGeom>
          <a:noFill/>
          <a:ln/>
        </p:spPr>
        <p:txBody>
          <a:bodyPr wrap="square" lIns="0" tIns="0" rIns="0" bIns="0" rtlCol="0" anchor="ctr"/>
          <a:lstStyle/>
          <a:p>
            <a:pPr marL="0" indent="0">
              <a:lnSpc>
                <a:spcPct val="125000"/>
              </a:lnSpc>
              <a:buNone/>
            </a:pPr>
            <a:r>
              <a:rPr lang="en-US" sz="1300" i="1" dirty="0">
                <a:solidFill>
                  <a:srgbClr val="DCE4F2"/>
                </a:solidFill>
                <a:latin typeface="Calibri" pitchFamily="34" charset="0"/>
                <a:ea typeface="Calibri" pitchFamily="34" charset="-122"/>
                <a:cs typeface="Calibri" pitchFamily="34" charset="-120"/>
              </a:rPr>
              <a:t>These findings feed directly into the Retailer Onboarding Framework (next) and the Multi-Brand Expansion Strategy.</a:t>
            </a:r>
            <a:endParaRPr lang="en-US" sz="1300" dirty="0"/>
          </a:p>
        </p:txBody>
      </p:sp>
      <p:sp>
        <p:nvSpPr>
          <p:cNvPr id="27" name="Text 21"/>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28" name="Text 22"/>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MAJOR FINDINGS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Findings Across the Study</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05 – SYNTHESIS</a:t>
            </a:r>
            <a:endParaRPr lang="en-US" sz="1050" dirty="0"/>
          </a:p>
        </p:txBody>
      </p:sp>
      <p:sp>
        <p:nvSpPr>
          <p:cNvPr id="5" name="Shape 3"/>
          <p:cNvSpPr/>
          <p:nvPr/>
        </p:nvSpPr>
        <p:spPr>
          <a:xfrm>
            <a:off x="640080" y="1600200"/>
            <a:ext cx="2542032" cy="4343400"/>
          </a:xfrm>
          <a:prstGeom prst="roundRect">
            <a:avLst>
              <a:gd name="adj" fmla="val 2878"/>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6" name="Shape 4"/>
          <p:cNvSpPr/>
          <p:nvPr/>
        </p:nvSpPr>
        <p:spPr>
          <a:xfrm>
            <a:off x="1636776" y="1856232"/>
            <a:ext cx="548640" cy="548640"/>
          </a:xfrm>
          <a:prstGeom prst="ellipse">
            <a:avLst/>
          </a:prstGeom>
          <a:solidFill>
            <a:srgbClr val="0F1F3D"/>
          </a:solidFill>
          <a:ln/>
        </p:spPr>
        <p:txBody>
          <a:bodyPr/>
          <a:lstStyle/>
          <a:p>
            <a:endParaRPr lang="en-US" dirty="0"/>
          </a:p>
        </p:txBody>
      </p:sp>
      <p:pic>
        <p:nvPicPr>
          <p:cNvPr id="7" name="Image 0" descr="/home/claude/assets/compass.png"/>
          <p:cNvPicPr>
            <a:picLocks noChangeAspect="1"/>
          </p:cNvPicPr>
          <p:nvPr/>
        </p:nvPicPr>
        <p:blipFill>
          <a:blip r:embed="rId3"/>
          <a:stretch>
            <a:fillRect/>
          </a:stretch>
        </p:blipFill>
        <p:spPr>
          <a:xfrm>
            <a:off x="1768450" y="1987906"/>
            <a:ext cx="285293" cy="285293"/>
          </a:xfrm>
          <a:prstGeom prst="rect">
            <a:avLst/>
          </a:prstGeom>
        </p:spPr>
      </p:pic>
      <p:sp>
        <p:nvSpPr>
          <p:cNvPr id="8" name="Text 5"/>
          <p:cNvSpPr/>
          <p:nvPr/>
        </p:nvSpPr>
        <p:spPr>
          <a:xfrm>
            <a:off x="777240" y="2560320"/>
            <a:ext cx="2267712" cy="365760"/>
          </a:xfrm>
          <a:prstGeom prst="rect">
            <a:avLst/>
          </a:prstGeom>
          <a:noFill/>
          <a:ln/>
        </p:spPr>
        <p:txBody>
          <a:bodyPr wrap="square" lIns="0" tIns="0" rIns="0" bIns="0" rtlCol="0" anchor="ctr"/>
          <a:lstStyle/>
          <a:p>
            <a:pPr marL="0" indent="0" algn="ctr">
              <a:buNone/>
            </a:pPr>
            <a:r>
              <a:rPr lang="en-US" sz="1300" b="1" dirty="0">
                <a:solidFill>
                  <a:srgbClr val="0F1F3D"/>
                </a:solidFill>
                <a:latin typeface="Calibri" pitchFamily="34" charset="0"/>
                <a:ea typeface="Calibri" pitchFamily="34" charset="-122"/>
                <a:cs typeface="Calibri" pitchFamily="34" charset="-120"/>
              </a:rPr>
              <a:t>Market</a:t>
            </a:r>
            <a:endParaRPr lang="en-US" sz="1300" dirty="0"/>
          </a:p>
        </p:txBody>
      </p:sp>
      <p:sp>
        <p:nvSpPr>
          <p:cNvPr id="9" name="Shape 6"/>
          <p:cNvSpPr/>
          <p:nvPr/>
        </p:nvSpPr>
        <p:spPr>
          <a:xfrm>
            <a:off x="1280160" y="2971800"/>
            <a:ext cx="1261872" cy="0"/>
          </a:xfrm>
          <a:prstGeom prst="line">
            <a:avLst/>
          </a:prstGeom>
          <a:noFill/>
          <a:ln w="19050">
            <a:solidFill>
              <a:srgbClr val="10A37F"/>
            </a:solidFill>
            <a:prstDash val="solid"/>
          </a:ln>
        </p:spPr>
        <p:txBody>
          <a:bodyPr/>
          <a:lstStyle/>
          <a:p>
            <a:endParaRPr lang="en-US"/>
          </a:p>
        </p:txBody>
      </p:sp>
      <p:sp>
        <p:nvSpPr>
          <p:cNvPr id="10" name="Shape 7"/>
          <p:cNvSpPr/>
          <p:nvPr/>
        </p:nvSpPr>
        <p:spPr>
          <a:xfrm>
            <a:off x="822960" y="3200400"/>
            <a:ext cx="73152" cy="73152"/>
          </a:xfrm>
          <a:prstGeom prst="ellipse">
            <a:avLst/>
          </a:prstGeom>
          <a:solidFill>
            <a:srgbClr val="10A37F"/>
          </a:solidFill>
          <a:ln/>
        </p:spPr>
        <p:txBody>
          <a:bodyPr/>
          <a:lstStyle/>
          <a:p>
            <a:endParaRPr lang="en-US"/>
          </a:p>
        </p:txBody>
      </p:sp>
      <p:sp>
        <p:nvSpPr>
          <p:cNvPr id="11" name="Text 8"/>
          <p:cNvSpPr/>
          <p:nvPr/>
        </p:nvSpPr>
        <p:spPr>
          <a:xfrm>
            <a:off x="987552" y="3081528"/>
            <a:ext cx="2039112" cy="1005840"/>
          </a:xfrm>
          <a:prstGeom prst="rect">
            <a:avLst/>
          </a:prstGeom>
          <a:noFill/>
          <a:ln/>
        </p:spPr>
        <p:txBody>
          <a:bodyPr wrap="square" lIns="0" tIns="0" rIns="0" bIns="0" rtlCol="0" anchor="ctr"/>
          <a:lstStyle/>
          <a:p>
            <a:pPr marL="0" indent="0">
              <a:lnSpc>
                <a:spcPct val="120000"/>
              </a:lnSpc>
              <a:buNone/>
            </a:pPr>
            <a:r>
              <a:rPr lang="en-US" sz="1000" dirty="0">
                <a:solidFill>
                  <a:srgbClr val="2B2E33"/>
                </a:solidFill>
                <a:latin typeface="Calibri" pitchFamily="34" charset="0"/>
                <a:ea typeface="Calibri" pitchFamily="34" charset="-122"/>
                <a:cs typeface="Calibri" pitchFamily="34" charset="-120"/>
              </a:rPr>
              <a:t>Retail presence spans multiple North Delhi localities.</a:t>
            </a:r>
            <a:endParaRPr lang="en-US" sz="1000" dirty="0"/>
          </a:p>
        </p:txBody>
      </p:sp>
      <p:sp>
        <p:nvSpPr>
          <p:cNvPr id="12" name="Shape 9"/>
          <p:cNvSpPr/>
          <p:nvPr/>
        </p:nvSpPr>
        <p:spPr>
          <a:xfrm>
            <a:off x="822960" y="4343400"/>
            <a:ext cx="73152" cy="73152"/>
          </a:xfrm>
          <a:prstGeom prst="ellipse">
            <a:avLst/>
          </a:prstGeom>
          <a:solidFill>
            <a:srgbClr val="10A37F"/>
          </a:solidFill>
          <a:ln/>
        </p:spPr>
        <p:txBody>
          <a:bodyPr/>
          <a:lstStyle/>
          <a:p>
            <a:endParaRPr lang="en-US"/>
          </a:p>
        </p:txBody>
      </p:sp>
      <p:sp>
        <p:nvSpPr>
          <p:cNvPr id="13" name="Text 10"/>
          <p:cNvSpPr/>
          <p:nvPr/>
        </p:nvSpPr>
        <p:spPr>
          <a:xfrm>
            <a:off x="987552" y="4224528"/>
            <a:ext cx="2039112" cy="1005840"/>
          </a:xfrm>
          <a:prstGeom prst="rect">
            <a:avLst/>
          </a:prstGeom>
          <a:noFill/>
          <a:ln/>
        </p:spPr>
        <p:txBody>
          <a:bodyPr wrap="square" lIns="0" tIns="0" rIns="0" bIns="0" rtlCol="0" anchor="ctr"/>
          <a:lstStyle/>
          <a:p>
            <a:pPr marL="0" indent="0">
              <a:lnSpc>
                <a:spcPct val="120000"/>
              </a:lnSpc>
              <a:buNone/>
            </a:pPr>
            <a:r>
              <a:rPr lang="en-US" sz="1000" dirty="0">
                <a:solidFill>
                  <a:srgbClr val="2B2E33"/>
                </a:solidFill>
                <a:latin typeface="Calibri" pitchFamily="34" charset="0"/>
                <a:ea typeface="Calibri" pitchFamily="34" charset="-122"/>
                <a:cs typeface="Calibri" pitchFamily="34" charset="-120"/>
              </a:rPr>
              <a:t>Kirana stores show strong presence via fast-moving products.</a:t>
            </a:r>
            <a:endParaRPr lang="en-US" sz="1000" dirty="0"/>
          </a:p>
        </p:txBody>
      </p:sp>
      <p:sp>
        <p:nvSpPr>
          <p:cNvPr id="14" name="Shape 11"/>
          <p:cNvSpPr/>
          <p:nvPr/>
        </p:nvSpPr>
        <p:spPr>
          <a:xfrm>
            <a:off x="3410712" y="1600200"/>
            <a:ext cx="2542032" cy="4343400"/>
          </a:xfrm>
          <a:prstGeom prst="roundRect">
            <a:avLst>
              <a:gd name="adj" fmla="val 2878"/>
            </a:avLst>
          </a:prstGeom>
          <a:solidFill>
            <a:srgbClr val="EAF5F0"/>
          </a:solidFill>
          <a:ln/>
          <a:effectLst>
            <a:outerShdw blurRad="88900" dist="38100" dir="5400000" algn="bl" rotWithShape="0">
              <a:srgbClr val="5B6472">
                <a:alpha val="20000"/>
              </a:srgbClr>
            </a:outerShdw>
          </a:effectLst>
        </p:spPr>
        <p:txBody>
          <a:bodyPr/>
          <a:lstStyle/>
          <a:p>
            <a:endParaRPr lang="en-US"/>
          </a:p>
        </p:txBody>
      </p:sp>
      <p:sp>
        <p:nvSpPr>
          <p:cNvPr id="15" name="Shape 12"/>
          <p:cNvSpPr/>
          <p:nvPr/>
        </p:nvSpPr>
        <p:spPr>
          <a:xfrm>
            <a:off x="4407408" y="1856232"/>
            <a:ext cx="548640" cy="548640"/>
          </a:xfrm>
          <a:prstGeom prst="ellipse">
            <a:avLst/>
          </a:prstGeom>
          <a:solidFill>
            <a:srgbClr val="0F1F3D"/>
          </a:solidFill>
          <a:ln/>
        </p:spPr>
        <p:txBody>
          <a:bodyPr/>
          <a:lstStyle/>
          <a:p>
            <a:endParaRPr lang="en-US"/>
          </a:p>
        </p:txBody>
      </p:sp>
      <p:pic>
        <p:nvPicPr>
          <p:cNvPr id="16" name="Image 1" descr="/home/claude/assets/brand.png"/>
          <p:cNvPicPr>
            <a:picLocks noChangeAspect="1"/>
          </p:cNvPicPr>
          <p:nvPr/>
        </p:nvPicPr>
        <p:blipFill>
          <a:blip r:embed="rId4"/>
          <a:stretch>
            <a:fillRect/>
          </a:stretch>
        </p:blipFill>
        <p:spPr>
          <a:xfrm>
            <a:off x="4539082" y="1987906"/>
            <a:ext cx="285293" cy="285293"/>
          </a:xfrm>
          <a:prstGeom prst="rect">
            <a:avLst/>
          </a:prstGeom>
        </p:spPr>
      </p:pic>
      <p:sp>
        <p:nvSpPr>
          <p:cNvPr id="17" name="Text 13"/>
          <p:cNvSpPr/>
          <p:nvPr/>
        </p:nvSpPr>
        <p:spPr>
          <a:xfrm>
            <a:off x="3547872" y="2560320"/>
            <a:ext cx="2267712" cy="365760"/>
          </a:xfrm>
          <a:prstGeom prst="rect">
            <a:avLst/>
          </a:prstGeom>
          <a:noFill/>
          <a:ln/>
        </p:spPr>
        <p:txBody>
          <a:bodyPr wrap="square" lIns="0" tIns="0" rIns="0" bIns="0" rtlCol="0" anchor="ctr"/>
          <a:lstStyle/>
          <a:p>
            <a:pPr marL="0" indent="0" algn="ctr">
              <a:buNone/>
            </a:pPr>
            <a:r>
              <a:rPr lang="en-US" sz="1300" b="1" dirty="0">
                <a:solidFill>
                  <a:srgbClr val="0F1F3D"/>
                </a:solidFill>
                <a:latin typeface="Calibri" pitchFamily="34" charset="0"/>
                <a:ea typeface="Calibri" pitchFamily="34" charset="-122"/>
                <a:cs typeface="Calibri" pitchFamily="34" charset="-120"/>
              </a:rPr>
              <a:t>Product &amp; Brand</a:t>
            </a:r>
            <a:endParaRPr lang="en-US" sz="1300" dirty="0"/>
          </a:p>
        </p:txBody>
      </p:sp>
      <p:sp>
        <p:nvSpPr>
          <p:cNvPr id="18" name="Shape 14"/>
          <p:cNvSpPr/>
          <p:nvPr/>
        </p:nvSpPr>
        <p:spPr>
          <a:xfrm>
            <a:off x="4050792" y="2971800"/>
            <a:ext cx="1261872" cy="0"/>
          </a:xfrm>
          <a:prstGeom prst="line">
            <a:avLst/>
          </a:prstGeom>
          <a:noFill/>
          <a:ln w="19050">
            <a:solidFill>
              <a:srgbClr val="10A37F"/>
            </a:solidFill>
            <a:prstDash val="solid"/>
          </a:ln>
        </p:spPr>
        <p:txBody>
          <a:bodyPr/>
          <a:lstStyle/>
          <a:p>
            <a:endParaRPr lang="en-US"/>
          </a:p>
        </p:txBody>
      </p:sp>
      <p:sp>
        <p:nvSpPr>
          <p:cNvPr id="19" name="Shape 15"/>
          <p:cNvSpPr/>
          <p:nvPr/>
        </p:nvSpPr>
        <p:spPr>
          <a:xfrm>
            <a:off x="3593592" y="3200400"/>
            <a:ext cx="73152" cy="73152"/>
          </a:xfrm>
          <a:prstGeom prst="ellipse">
            <a:avLst/>
          </a:prstGeom>
          <a:solidFill>
            <a:srgbClr val="10A37F"/>
          </a:solidFill>
          <a:ln/>
        </p:spPr>
        <p:txBody>
          <a:bodyPr/>
          <a:lstStyle/>
          <a:p>
            <a:endParaRPr lang="en-US"/>
          </a:p>
        </p:txBody>
      </p:sp>
      <p:sp>
        <p:nvSpPr>
          <p:cNvPr id="20" name="Text 16"/>
          <p:cNvSpPr/>
          <p:nvPr/>
        </p:nvSpPr>
        <p:spPr>
          <a:xfrm>
            <a:off x="3758184" y="3081528"/>
            <a:ext cx="2039112" cy="1005840"/>
          </a:xfrm>
          <a:prstGeom prst="rect">
            <a:avLst/>
          </a:prstGeom>
          <a:noFill/>
          <a:ln/>
        </p:spPr>
        <p:txBody>
          <a:bodyPr wrap="square" lIns="0" tIns="0" rIns="0" bIns="0" rtlCol="0" anchor="ctr"/>
          <a:lstStyle/>
          <a:p>
            <a:pPr marL="0" indent="0">
              <a:lnSpc>
                <a:spcPct val="120000"/>
              </a:lnSpc>
              <a:buNone/>
            </a:pPr>
            <a:r>
              <a:rPr lang="en-US" sz="1000" dirty="0">
                <a:solidFill>
                  <a:srgbClr val="2B2E33"/>
                </a:solidFill>
                <a:latin typeface="Calibri" pitchFamily="34" charset="0"/>
                <a:ea typeface="Calibri" pitchFamily="34" charset="-122"/>
                <a:cs typeface="Calibri" pitchFamily="34" charset="-120"/>
              </a:rPr>
              <a:t>Multiple national &amp; regional brands identified.</a:t>
            </a:r>
            <a:endParaRPr lang="en-US" sz="1000" dirty="0"/>
          </a:p>
        </p:txBody>
      </p:sp>
      <p:sp>
        <p:nvSpPr>
          <p:cNvPr id="21" name="Shape 17"/>
          <p:cNvSpPr/>
          <p:nvPr/>
        </p:nvSpPr>
        <p:spPr>
          <a:xfrm>
            <a:off x="3593592" y="4343400"/>
            <a:ext cx="73152" cy="73152"/>
          </a:xfrm>
          <a:prstGeom prst="ellipse">
            <a:avLst/>
          </a:prstGeom>
          <a:solidFill>
            <a:srgbClr val="10A37F"/>
          </a:solidFill>
          <a:ln/>
        </p:spPr>
        <p:txBody>
          <a:bodyPr/>
          <a:lstStyle/>
          <a:p>
            <a:endParaRPr lang="en-US"/>
          </a:p>
        </p:txBody>
      </p:sp>
      <p:sp>
        <p:nvSpPr>
          <p:cNvPr id="22" name="Text 18"/>
          <p:cNvSpPr/>
          <p:nvPr/>
        </p:nvSpPr>
        <p:spPr>
          <a:xfrm>
            <a:off x="3758184" y="4224528"/>
            <a:ext cx="2039112" cy="1005840"/>
          </a:xfrm>
          <a:prstGeom prst="rect">
            <a:avLst/>
          </a:prstGeom>
          <a:noFill/>
          <a:ln/>
        </p:spPr>
        <p:txBody>
          <a:bodyPr wrap="square" lIns="0" tIns="0" rIns="0" bIns="0" rtlCol="0" anchor="ctr"/>
          <a:lstStyle/>
          <a:p>
            <a:pPr marL="0" indent="0">
              <a:lnSpc>
                <a:spcPct val="120000"/>
              </a:lnSpc>
              <a:buNone/>
            </a:pPr>
            <a:r>
              <a:rPr lang="en-US" sz="1000" dirty="0">
                <a:solidFill>
                  <a:srgbClr val="2B2E33"/>
                </a:solidFill>
                <a:latin typeface="Calibri" pitchFamily="34" charset="0"/>
                <a:ea typeface="Calibri" pitchFamily="34" charset="-122"/>
                <a:cs typeface="Calibri" pitchFamily="34" charset="-120"/>
              </a:rPr>
              <a:t>Category availability varies — opportunity in under-represented lines.</a:t>
            </a:r>
            <a:endParaRPr lang="en-US" sz="1000" dirty="0"/>
          </a:p>
        </p:txBody>
      </p:sp>
      <p:sp>
        <p:nvSpPr>
          <p:cNvPr id="23" name="Shape 19"/>
          <p:cNvSpPr/>
          <p:nvPr/>
        </p:nvSpPr>
        <p:spPr>
          <a:xfrm>
            <a:off x="6181344" y="1600200"/>
            <a:ext cx="2542032" cy="4343400"/>
          </a:xfrm>
          <a:prstGeom prst="roundRect">
            <a:avLst>
              <a:gd name="adj" fmla="val 2878"/>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4" name="Shape 20"/>
          <p:cNvSpPr/>
          <p:nvPr/>
        </p:nvSpPr>
        <p:spPr>
          <a:xfrm>
            <a:off x="7178040" y="1856232"/>
            <a:ext cx="548640" cy="548640"/>
          </a:xfrm>
          <a:prstGeom prst="ellipse">
            <a:avLst/>
          </a:prstGeom>
          <a:solidFill>
            <a:srgbClr val="0F1F3D"/>
          </a:solidFill>
          <a:ln/>
        </p:spPr>
        <p:txBody>
          <a:bodyPr/>
          <a:lstStyle/>
          <a:p>
            <a:endParaRPr lang="en-US"/>
          </a:p>
        </p:txBody>
      </p:sp>
      <p:pic>
        <p:nvPicPr>
          <p:cNvPr id="25" name="Image 2" descr="/home/claude/assets/target.png"/>
          <p:cNvPicPr>
            <a:picLocks noChangeAspect="1"/>
          </p:cNvPicPr>
          <p:nvPr/>
        </p:nvPicPr>
        <p:blipFill>
          <a:blip r:embed="rId5"/>
          <a:stretch>
            <a:fillRect/>
          </a:stretch>
        </p:blipFill>
        <p:spPr>
          <a:xfrm>
            <a:off x="7309714" y="1987906"/>
            <a:ext cx="285293" cy="285293"/>
          </a:xfrm>
          <a:prstGeom prst="rect">
            <a:avLst/>
          </a:prstGeom>
        </p:spPr>
      </p:pic>
      <p:sp>
        <p:nvSpPr>
          <p:cNvPr id="26" name="Text 21"/>
          <p:cNvSpPr/>
          <p:nvPr/>
        </p:nvSpPr>
        <p:spPr>
          <a:xfrm>
            <a:off x="6318504" y="2560320"/>
            <a:ext cx="2267712" cy="365760"/>
          </a:xfrm>
          <a:prstGeom prst="rect">
            <a:avLst/>
          </a:prstGeom>
          <a:noFill/>
          <a:ln/>
        </p:spPr>
        <p:txBody>
          <a:bodyPr wrap="square" lIns="0" tIns="0" rIns="0" bIns="0" rtlCol="0" anchor="ctr"/>
          <a:lstStyle/>
          <a:p>
            <a:pPr marL="0" indent="0" algn="ctr">
              <a:buNone/>
            </a:pPr>
            <a:r>
              <a:rPr lang="en-US" sz="1300" b="1" dirty="0">
                <a:solidFill>
                  <a:srgbClr val="0F1F3D"/>
                </a:solidFill>
                <a:latin typeface="Calibri" pitchFamily="34" charset="0"/>
                <a:ea typeface="Calibri" pitchFamily="34" charset="-122"/>
                <a:cs typeface="Calibri" pitchFamily="34" charset="-120"/>
              </a:rPr>
              <a:t>Retailer Opportunities</a:t>
            </a:r>
            <a:endParaRPr lang="en-US" sz="1300" dirty="0"/>
          </a:p>
        </p:txBody>
      </p:sp>
      <p:sp>
        <p:nvSpPr>
          <p:cNvPr id="27" name="Shape 22"/>
          <p:cNvSpPr/>
          <p:nvPr/>
        </p:nvSpPr>
        <p:spPr>
          <a:xfrm>
            <a:off x="6821424" y="2971800"/>
            <a:ext cx="1261872" cy="0"/>
          </a:xfrm>
          <a:prstGeom prst="line">
            <a:avLst/>
          </a:prstGeom>
          <a:noFill/>
          <a:ln w="19050">
            <a:solidFill>
              <a:srgbClr val="10A37F"/>
            </a:solidFill>
            <a:prstDash val="solid"/>
          </a:ln>
        </p:spPr>
        <p:txBody>
          <a:bodyPr/>
          <a:lstStyle/>
          <a:p>
            <a:endParaRPr lang="en-US"/>
          </a:p>
        </p:txBody>
      </p:sp>
      <p:sp>
        <p:nvSpPr>
          <p:cNvPr id="28" name="Shape 23"/>
          <p:cNvSpPr/>
          <p:nvPr/>
        </p:nvSpPr>
        <p:spPr>
          <a:xfrm>
            <a:off x="6364224" y="3200400"/>
            <a:ext cx="73152" cy="73152"/>
          </a:xfrm>
          <a:prstGeom prst="ellipse">
            <a:avLst/>
          </a:prstGeom>
          <a:solidFill>
            <a:srgbClr val="10A37F"/>
          </a:solidFill>
          <a:ln/>
        </p:spPr>
        <p:txBody>
          <a:bodyPr/>
          <a:lstStyle/>
          <a:p>
            <a:endParaRPr lang="en-US"/>
          </a:p>
        </p:txBody>
      </p:sp>
      <p:sp>
        <p:nvSpPr>
          <p:cNvPr id="29" name="Text 24"/>
          <p:cNvSpPr/>
          <p:nvPr/>
        </p:nvSpPr>
        <p:spPr>
          <a:xfrm>
            <a:off x="6528816" y="3081528"/>
            <a:ext cx="2039112" cy="1005840"/>
          </a:xfrm>
          <a:prstGeom prst="rect">
            <a:avLst/>
          </a:prstGeom>
          <a:noFill/>
          <a:ln/>
        </p:spPr>
        <p:txBody>
          <a:bodyPr wrap="square" lIns="0" tIns="0" rIns="0" bIns="0" rtlCol="0" anchor="ctr"/>
          <a:lstStyle/>
          <a:p>
            <a:pPr marL="0" indent="0">
              <a:lnSpc>
                <a:spcPct val="120000"/>
              </a:lnSpc>
              <a:buNone/>
            </a:pPr>
            <a:r>
              <a:rPr lang="en-US" sz="1000" dirty="0">
                <a:solidFill>
                  <a:srgbClr val="2B2E33"/>
                </a:solidFill>
                <a:latin typeface="Calibri" pitchFamily="34" charset="0"/>
                <a:ea typeface="Calibri" pitchFamily="34" charset="-122"/>
                <a:cs typeface="Calibri" pitchFamily="34" charset="-120"/>
              </a:rPr>
              <a:t>Wide brand-portfolio retailers = onboarding priority.</a:t>
            </a:r>
            <a:endParaRPr lang="en-US" sz="1000" dirty="0"/>
          </a:p>
        </p:txBody>
      </p:sp>
      <p:sp>
        <p:nvSpPr>
          <p:cNvPr id="30" name="Shape 25"/>
          <p:cNvSpPr/>
          <p:nvPr/>
        </p:nvSpPr>
        <p:spPr>
          <a:xfrm>
            <a:off x="6364224" y="4343400"/>
            <a:ext cx="73152" cy="73152"/>
          </a:xfrm>
          <a:prstGeom prst="ellipse">
            <a:avLst/>
          </a:prstGeom>
          <a:solidFill>
            <a:srgbClr val="10A37F"/>
          </a:solidFill>
          <a:ln/>
        </p:spPr>
        <p:txBody>
          <a:bodyPr/>
          <a:lstStyle/>
          <a:p>
            <a:endParaRPr lang="en-US"/>
          </a:p>
        </p:txBody>
      </p:sp>
      <p:sp>
        <p:nvSpPr>
          <p:cNvPr id="31" name="Text 26"/>
          <p:cNvSpPr/>
          <p:nvPr/>
        </p:nvSpPr>
        <p:spPr>
          <a:xfrm>
            <a:off x="6528816" y="4224528"/>
            <a:ext cx="2039112" cy="1005840"/>
          </a:xfrm>
          <a:prstGeom prst="rect">
            <a:avLst/>
          </a:prstGeom>
          <a:noFill/>
          <a:ln/>
        </p:spPr>
        <p:txBody>
          <a:bodyPr wrap="square" lIns="0" tIns="0" rIns="0" bIns="0" rtlCol="0" anchor="ctr"/>
          <a:lstStyle/>
          <a:p>
            <a:pPr marL="0" indent="0">
              <a:lnSpc>
                <a:spcPct val="120000"/>
              </a:lnSpc>
              <a:buNone/>
            </a:pPr>
            <a:r>
              <a:rPr lang="en-US" sz="1000" dirty="0">
                <a:solidFill>
                  <a:srgbClr val="2B2E33"/>
                </a:solidFill>
                <a:latin typeface="Calibri" pitchFamily="34" charset="0"/>
                <a:ea typeface="Calibri" pitchFamily="34" charset="-122"/>
                <a:cs typeface="Calibri" pitchFamily="34" charset="-120"/>
              </a:rPr>
              <a:t>Small supermarkets &amp; high-footfall Kirana stores stand out.</a:t>
            </a:r>
            <a:endParaRPr lang="en-US" sz="1000" dirty="0"/>
          </a:p>
        </p:txBody>
      </p:sp>
      <p:sp>
        <p:nvSpPr>
          <p:cNvPr id="32" name="Shape 27"/>
          <p:cNvSpPr/>
          <p:nvPr/>
        </p:nvSpPr>
        <p:spPr>
          <a:xfrm>
            <a:off x="8951976" y="1600200"/>
            <a:ext cx="2542032" cy="4343400"/>
          </a:xfrm>
          <a:prstGeom prst="roundRect">
            <a:avLst>
              <a:gd name="adj" fmla="val 2878"/>
            </a:avLst>
          </a:prstGeom>
          <a:solidFill>
            <a:srgbClr val="EAF5F0"/>
          </a:solidFill>
          <a:ln/>
          <a:effectLst>
            <a:outerShdw blurRad="88900" dist="38100" dir="5400000" algn="bl" rotWithShape="0">
              <a:srgbClr val="5B6472">
                <a:alpha val="20000"/>
              </a:srgbClr>
            </a:outerShdw>
          </a:effectLst>
        </p:spPr>
        <p:txBody>
          <a:bodyPr/>
          <a:lstStyle/>
          <a:p>
            <a:endParaRPr lang="en-US"/>
          </a:p>
        </p:txBody>
      </p:sp>
      <p:sp>
        <p:nvSpPr>
          <p:cNvPr id="33" name="Shape 28"/>
          <p:cNvSpPr/>
          <p:nvPr/>
        </p:nvSpPr>
        <p:spPr>
          <a:xfrm>
            <a:off x="9948672" y="1856232"/>
            <a:ext cx="548640" cy="548640"/>
          </a:xfrm>
          <a:prstGeom prst="ellipse">
            <a:avLst/>
          </a:prstGeom>
          <a:solidFill>
            <a:srgbClr val="0F1F3D"/>
          </a:solidFill>
          <a:ln/>
        </p:spPr>
        <p:txBody>
          <a:bodyPr/>
          <a:lstStyle/>
          <a:p>
            <a:endParaRPr lang="en-US"/>
          </a:p>
        </p:txBody>
      </p:sp>
      <p:pic>
        <p:nvPicPr>
          <p:cNvPr id="34" name="Image 3" descr="/home/claude/assets/truck.png"/>
          <p:cNvPicPr>
            <a:picLocks noChangeAspect="1"/>
          </p:cNvPicPr>
          <p:nvPr/>
        </p:nvPicPr>
        <p:blipFill>
          <a:blip r:embed="rId6"/>
          <a:stretch>
            <a:fillRect/>
          </a:stretch>
        </p:blipFill>
        <p:spPr>
          <a:xfrm>
            <a:off x="10080346" y="1987906"/>
            <a:ext cx="285293" cy="285293"/>
          </a:xfrm>
          <a:prstGeom prst="rect">
            <a:avLst/>
          </a:prstGeom>
        </p:spPr>
      </p:pic>
      <p:sp>
        <p:nvSpPr>
          <p:cNvPr id="35" name="Text 29"/>
          <p:cNvSpPr/>
          <p:nvPr/>
        </p:nvSpPr>
        <p:spPr>
          <a:xfrm>
            <a:off x="9089136" y="2560320"/>
            <a:ext cx="2267712" cy="365760"/>
          </a:xfrm>
          <a:prstGeom prst="rect">
            <a:avLst/>
          </a:prstGeom>
          <a:noFill/>
          <a:ln/>
        </p:spPr>
        <p:txBody>
          <a:bodyPr wrap="square" lIns="0" tIns="0" rIns="0" bIns="0" rtlCol="0" anchor="ctr"/>
          <a:lstStyle/>
          <a:p>
            <a:pPr marL="0" indent="0" algn="ctr">
              <a:buNone/>
            </a:pPr>
            <a:r>
              <a:rPr lang="en-US" sz="1300" b="1" dirty="0">
                <a:solidFill>
                  <a:srgbClr val="0F1F3D"/>
                </a:solidFill>
                <a:latin typeface="Calibri" pitchFamily="34" charset="0"/>
                <a:ea typeface="Calibri" pitchFamily="34" charset="-122"/>
                <a:cs typeface="Calibri" pitchFamily="34" charset="-120"/>
              </a:rPr>
              <a:t>Distributor</a:t>
            </a:r>
            <a:endParaRPr lang="en-US" sz="1300" dirty="0"/>
          </a:p>
        </p:txBody>
      </p:sp>
      <p:sp>
        <p:nvSpPr>
          <p:cNvPr id="36" name="Shape 30"/>
          <p:cNvSpPr/>
          <p:nvPr/>
        </p:nvSpPr>
        <p:spPr>
          <a:xfrm>
            <a:off x="9592056" y="2971800"/>
            <a:ext cx="1261872" cy="0"/>
          </a:xfrm>
          <a:prstGeom prst="line">
            <a:avLst/>
          </a:prstGeom>
          <a:noFill/>
          <a:ln w="19050">
            <a:solidFill>
              <a:srgbClr val="10A37F"/>
            </a:solidFill>
            <a:prstDash val="solid"/>
          </a:ln>
        </p:spPr>
        <p:txBody>
          <a:bodyPr/>
          <a:lstStyle/>
          <a:p>
            <a:endParaRPr lang="en-US"/>
          </a:p>
        </p:txBody>
      </p:sp>
      <p:sp>
        <p:nvSpPr>
          <p:cNvPr id="37" name="Shape 31"/>
          <p:cNvSpPr/>
          <p:nvPr/>
        </p:nvSpPr>
        <p:spPr>
          <a:xfrm>
            <a:off x="9134856" y="3200400"/>
            <a:ext cx="73152" cy="73152"/>
          </a:xfrm>
          <a:prstGeom prst="ellipse">
            <a:avLst/>
          </a:prstGeom>
          <a:solidFill>
            <a:srgbClr val="10A37F"/>
          </a:solidFill>
          <a:ln/>
        </p:spPr>
        <p:txBody>
          <a:bodyPr/>
          <a:lstStyle/>
          <a:p>
            <a:endParaRPr lang="en-US"/>
          </a:p>
        </p:txBody>
      </p:sp>
      <p:sp>
        <p:nvSpPr>
          <p:cNvPr id="38" name="Text 32"/>
          <p:cNvSpPr/>
          <p:nvPr/>
        </p:nvSpPr>
        <p:spPr>
          <a:xfrm>
            <a:off x="9299448" y="3081528"/>
            <a:ext cx="2039112" cy="1005840"/>
          </a:xfrm>
          <a:prstGeom prst="rect">
            <a:avLst/>
          </a:prstGeom>
          <a:noFill/>
          <a:ln/>
        </p:spPr>
        <p:txBody>
          <a:bodyPr wrap="square" lIns="0" tIns="0" rIns="0" bIns="0" rtlCol="0" anchor="ctr"/>
          <a:lstStyle/>
          <a:p>
            <a:pPr marL="0" indent="0">
              <a:lnSpc>
                <a:spcPct val="120000"/>
              </a:lnSpc>
              <a:buNone/>
            </a:pPr>
            <a:r>
              <a:rPr lang="en-US" sz="1000" dirty="0">
                <a:solidFill>
                  <a:srgbClr val="2B2E33"/>
                </a:solidFill>
                <a:latin typeface="Calibri" pitchFamily="34" charset="0"/>
                <a:ea typeface="Calibri" pitchFamily="34" charset="-122"/>
                <a:cs typeface="Calibri" pitchFamily="34" charset="-120"/>
              </a:rPr>
              <a:t>Scale varies meaningfully across distributors.</a:t>
            </a:r>
            <a:endParaRPr lang="en-US" sz="1000" dirty="0"/>
          </a:p>
        </p:txBody>
      </p:sp>
      <p:sp>
        <p:nvSpPr>
          <p:cNvPr id="39" name="Shape 33"/>
          <p:cNvSpPr/>
          <p:nvPr/>
        </p:nvSpPr>
        <p:spPr>
          <a:xfrm>
            <a:off x="9134856" y="4343400"/>
            <a:ext cx="73152" cy="73152"/>
          </a:xfrm>
          <a:prstGeom prst="ellipse">
            <a:avLst/>
          </a:prstGeom>
          <a:solidFill>
            <a:srgbClr val="10A37F"/>
          </a:solidFill>
          <a:ln/>
        </p:spPr>
        <p:txBody>
          <a:bodyPr/>
          <a:lstStyle/>
          <a:p>
            <a:endParaRPr lang="en-US"/>
          </a:p>
        </p:txBody>
      </p:sp>
      <p:sp>
        <p:nvSpPr>
          <p:cNvPr id="40" name="Text 34"/>
          <p:cNvSpPr/>
          <p:nvPr/>
        </p:nvSpPr>
        <p:spPr>
          <a:xfrm>
            <a:off x="9299448" y="4224528"/>
            <a:ext cx="2039112" cy="1005840"/>
          </a:xfrm>
          <a:prstGeom prst="rect">
            <a:avLst/>
          </a:prstGeom>
          <a:noFill/>
          <a:ln/>
        </p:spPr>
        <p:txBody>
          <a:bodyPr wrap="square" lIns="0" tIns="0" rIns="0" bIns="0" rtlCol="0" anchor="ctr"/>
          <a:lstStyle/>
          <a:p>
            <a:pPr marL="0" indent="0">
              <a:lnSpc>
                <a:spcPct val="120000"/>
              </a:lnSpc>
              <a:buNone/>
            </a:pPr>
            <a:r>
              <a:rPr lang="en-US" sz="1000" dirty="0">
                <a:solidFill>
                  <a:srgbClr val="2B2E33"/>
                </a:solidFill>
                <a:latin typeface="Calibri" pitchFamily="34" charset="0"/>
                <a:ea typeface="Calibri" pitchFamily="34" charset="-122"/>
                <a:cs typeface="Calibri" pitchFamily="34" charset="-120"/>
              </a:rPr>
              <a:t>Demand &amp; growth don't always align — affects expansion sequencing.</a:t>
            </a:r>
            <a:endParaRPr lang="en-US" sz="1000" dirty="0"/>
          </a:p>
        </p:txBody>
      </p:sp>
      <p:sp>
        <p:nvSpPr>
          <p:cNvPr id="41" name="Text 35"/>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42" name="Text 36"/>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RETAILER ONBOARDING FRAMEWORK</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A Repeatable, Four-Stage Process</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06 – RECOMMENDATIONS</a:t>
            </a:r>
            <a:endParaRPr lang="en-US" sz="1050" dirty="0"/>
          </a:p>
        </p:txBody>
      </p:sp>
      <p:sp>
        <p:nvSpPr>
          <p:cNvPr id="5" name="Shape 3"/>
          <p:cNvSpPr/>
          <p:nvPr/>
        </p:nvSpPr>
        <p:spPr>
          <a:xfrm>
            <a:off x="640080" y="1691640"/>
            <a:ext cx="2514600" cy="1874520"/>
          </a:xfrm>
          <a:prstGeom prst="roundRect">
            <a:avLst>
              <a:gd name="adj" fmla="val 3902"/>
            </a:avLst>
          </a:prstGeom>
          <a:solidFill>
            <a:srgbClr val="0F1F3D"/>
          </a:solidFill>
          <a:ln/>
          <a:effectLst>
            <a:outerShdw blurRad="88900" dist="38100" dir="5400000" algn="bl" rotWithShape="0">
              <a:srgbClr val="5B6472">
                <a:alpha val="20000"/>
              </a:srgbClr>
            </a:outerShdw>
          </a:effectLst>
        </p:spPr>
        <p:txBody>
          <a:bodyPr/>
          <a:lstStyle/>
          <a:p>
            <a:endParaRPr lang="en-US"/>
          </a:p>
        </p:txBody>
      </p:sp>
      <p:sp>
        <p:nvSpPr>
          <p:cNvPr id="6" name="Shape 4"/>
          <p:cNvSpPr/>
          <p:nvPr/>
        </p:nvSpPr>
        <p:spPr>
          <a:xfrm>
            <a:off x="822960" y="1874520"/>
            <a:ext cx="502920" cy="502920"/>
          </a:xfrm>
          <a:prstGeom prst="ellipse">
            <a:avLst/>
          </a:prstGeom>
          <a:solidFill>
            <a:srgbClr val="FFFFFF"/>
          </a:solidFill>
          <a:ln/>
        </p:spPr>
        <p:txBody>
          <a:bodyPr/>
          <a:lstStyle/>
          <a:p>
            <a:endParaRPr lang="en-US"/>
          </a:p>
        </p:txBody>
      </p:sp>
      <p:pic>
        <p:nvPicPr>
          <p:cNvPr id="7" name="Image 0" descr="/home/claude/assets/filter_n.png"/>
          <p:cNvPicPr>
            <a:picLocks noChangeAspect="1"/>
          </p:cNvPicPr>
          <p:nvPr/>
        </p:nvPicPr>
        <p:blipFill>
          <a:blip r:embed="rId3"/>
          <a:stretch>
            <a:fillRect/>
          </a:stretch>
        </p:blipFill>
        <p:spPr>
          <a:xfrm>
            <a:off x="946404" y="1997964"/>
            <a:ext cx="256032" cy="256032"/>
          </a:xfrm>
          <a:prstGeom prst="rect">
            <a:avLst/>
          </a:prstGeom>
        </p:spPr>
      </p:pic>
      <p:sp>
        <p:nvSpPr>
          <p:cNvPr id="8" name="Text 5"/>
          <p:cNvSpPr/>
          <p:nvPr/>
        </p:nvSpPr>
        <p:spPr>
          <a:xfrm>
            <a:off x="804672" y="2514600"/>
            <a:ext cx="2185416" cy="411480"/>
          </a:xfrm>
          <a:prstGeom prst="rect">
            <a:avLst/>
          </a:prstGeom>
          <a:noFill/>
          <a:ln/>
        </p:spPr>
        <p:txBody>
          <a:bodyPr wrap="square" lIns="0" tIns="0" rIns="0" bIns="0" rtlCol="0" anchor="ctr"/>
          <a:lstStyle/>
          <a:p>
            <a:pPr marL="0" indent="0">
              <a:lnSpc>
                <a:spcPct val="105000"/>
              </a:lnSpc>
              <a:buNone/>
            </a:pPr>
            <a:r>
              <a:rPr lang="en-US" sz="1200" b="1" dirty="0">
                <a:solidFill>
                  <a:srgbClr val="FFFFFF"/>
                </a:solidFill>
                <a:latin typeface="Calibri" pitchFamily="34" charset="0"/>
                <a:ea typeface="Calibri" pitchFamily="34" charset="-122"/>
                <a:cs typeface="Calibri" pitchFamily="34" charset="-120"/>
              </a:rPr>
              <a:t>1. Locality &amp; Store Screening</a:t>
            </a:r>
            <a:endParaRPr lang="en-US" sz="1200" dirty="0"/>
          </a:p>
        </p:txBody>
      </p:sp>
      <p:sp>
        <p:nvSpPr>
          <p:cNvPr id="9" name="Text 6"/>
          <p:cNvSpPr/>
          <p:nvPr/>
        </p:nvSpPr>
        <p:spPr>
          <a:xfrm>
            <a:off x="804672" y="2926080"/>
            <a:ext cx="2185416" cy="594360"/>
          </a:xfrm>
          <a:prstGeom prst="rect">
            <a:avLst/>
          </a:prstGeom>
          <a:noFill/>
          <a:ln/>
        </p:spPr>
        <p:txBody>
          <a:bodyPr wrap="square" lIns="0" tIns="0" rIns="0" bIns="0" rtlCol="0" anchor="ctr"/>
          <a:lstStyle/>
          <a:p>
            <a:pPr marL="0" indent="0">
              <a:lnSpc>
                <a:spcPct val="115000"/>
              </a:lnSpc>
              <a:buNone/>
            </a:pPr>
            <a:r>
              <a:rPr lang="en-US" sz="930" dirty="0">
                <a:solidFill>
                  <a:srgbClr val="C7D3E8"/>
                </a:solidFill>
                <a:latin typeface="Calibri" pitchFamily="34" charset="0"/>
                <a:ea typeface="Calibri" pitchFamily="34" charset="-122"/>
                <a:cs typeface="Calibri" pitchFamily="34" charset="-120"/>
              </a:rPr>
              <a:t>Shortlist areas &amp; store types with highest retailer density and potential.</a:t>
            </a:r>
            <a:endParaRPr lang="en-US" sz="930" dirty="0"/>
          </a:p>
        </p:txBody>
      </p:sp>
      <p:pic>
        <p:nvPicPr>
          <p:cNvPr id="10" name="Image 1" descr="/home/claude/assets/arrow_n.png"/>
          <p:cNvPicPr>
            <a:picLocks noChangeAspect="1"/>
          </p:cNvPicPr>
          <p:nvPr/>
        </p:nvPicPr>
        <p:blipFill>
          <a:blip r:embed="rId4"/>
          <a:stretch>
            <a:fillRect/>
          </a:stretch>
        </p:blipFill>
        <p:spPr>
          <a:xfrm>
            <a:off x="3186684" y="2514600"/>
            <a:ext cx="219456" cy="219456"/>
          </a:xfrm>
          <a:prstGeom prst="rect">
            <a:avLst/>
          </a:prstGeom>
        </p:spPr>
      </p:pic>
      <p:sp>
        <p:nvSpPr>
          <p:cNvPr id="11" name="Shape 7"/>
          <p:cNvSpPr/>
          <p:nvPr/>
        </p:nvSpPr>
        <p:spPr>
          <a:xfrm>
            <a:off x="3438144" y="1691640"/>
            <a:ext cx="2514600" cy="1874520"/>
          </a:xfrm>
          <a:prstGeom prst="roundRect">
            <a:avLst>
              <a:gd name="adj" fmla="val 3902"/>
            </a:avLst>
          </a:prstGeom>
          <a:solidFill>
            <a:srgbClr val="0F1F3D"/>
          </a:solidFill>
          <a:ln/>
          <a:effectLst>
            <a:outerShdw blurRad="88900" dist="38100" dir="5400000" algn="bl" rotWithShape="0">
              <a:srgbClr val="5B6472">
                <a:alpha val="20000"/>
              </a:srgbClr>
            </a:outerShdw>
          </a:effectLst>
        </p:spPr>
        <p:txBody>
          <a:bodyPr/>
          <a:lstStyle/>
          <a:p>
            <a:endParaRPr lang="en-US"/>
          </a:p>
        </p:txBody>
      </p:sp>
      <p:sp>
        <p:nvSpPr>
          <p:cNvPr id="12" name="Shape 8"/>
          <p:cNvSpPr/>
          <p:nvPr/>
        </p:nvSpPr>
        <p:spPr>
          <a:xfrm>
            <a:off x="3621024" y="1874520"/>
            <a:ext cx="502920" cy="502920"/>
          </a:xfrm>
          <a:prstGeom prst="ellipse">
            <a:avLst/>
          </a:prstGeom>
          <a:solidFill>
            <a:srgbClr val="FFFFFF"/>
          </a:solidFill>
          <a:ln/>
        </p:spPr>
        <p:txBody>
          <a:bodyPr/>
          <a:lstStyle/>
          <a:p>
            <a:endParaRPr lang="en-US"/>
          </a:p>
        </p:txBody>
      </p:sp>
      <p:pic>
        <p:nvPicPr>
          <p:cNvPr id="13" name="Image 2" descr="/home/claude/assets/clipboard_n.png"/>
          <p:cNvPicPr>
            <a:picLocks noChangeAspect="1"/>
          </p:cNvPicPr>
          <p:nvPr/>
        </p:nvPicPr>
        <p:blipFill>
          <a:blip r:embed="rId5"/>
          <a:stretch>
            <a:fillRect/>
          </a:stretch>
        </p:blipFill>
        <p:spPr>
          <a:xfrm>
            <a:off x="3744468" y="1997964"/>
            <a:ext cx="256032" cy="256032"/>
          </a:xfrm>
          <a:prstGeom prst="rect">
            <a:avLst/>
          </a:prstGeom>
        </p:spPr>
      </p:pic>
      <p:sp>
        <p:nvSpPr>
          <p:cNvPr id="14" name="Text 9"/>
          <p:cNvSpPr/>
          <p:nvPr/>
        </p:nvSpPr>
        <p:spPr>
          <a:xfrm>
            <a:off x="3602736" y="2514600"/>
            <a:ext cx="2185416" cy="411480"/>
          </a:xfrm>
          <a:prstGeom prst="rect">
            <a:avLst/>
          </a:prstGeom>
          <a:noFill/>
          <a:ln/>
        </p:spPr>
        <p:txBody>
          <a:bodyPr wrap="square" lIns="0" tIns="0" rIns="0" bIns="0" rtlCol="0" anchor="ctr"/>
          <a:lstStyle/>
          <a:p>
            <a:pPr marL="0" indent="0">
              <a:lnSpc>
                <a:spcPct val="105000"/>
              </a:lnSpc>
              <a:buNone/>
            </a:pPr>
            <a:r>
              <a:rPr lang="en-US" sz="1200" b="1" dirty="0">
                <a:solidFill>
                  <a:srgbClr val="FFFFFF"/>
                </a:solidFill>
                <a:latin typeface="Calibri" pitchFamily="34" charset="0"/>
                <a:ea typeface="Calibri" pitchFamily="34" charset="-122"/>
                <a:cs typeface="Calibri" pitchFamily="34" charset="-120"/>
              </a:rPr>
              <a:t>2. Retailer Evaluation</a:t>
            </a:r>
            <a:endParaRPr lang="en-US" sz="1200" dirty="0"/>
          </a:p>
        </p:txBody>
      </p:sp>
      <p:sp>
        <p:nvSpPr>
          <p:cNvPr id="15" name="Text 10"/>
          <p:cNvSpPr/>
          <p:nvPr/>
        </p:nvSpPr>
        <p:spPr>
          <a:xfrm>
            <a:off x="3602736" y="2926080"/>
            <a:ext cx="2185416" cy="594360"/>
          </a:xfrm>
          <a:prstGeom prst="rect">
            <a:avLst/>
          </a:prstGeom>
          <a:noFill/>
          <a:ln/>
        </p:spPr>
        <p:txBody>
          <a:bodyPr wrap="square" lIns="0" tIns="0" rIns="0" bIns="0" rtlCol="0" anchor="ctr"/>
          <a:lstStyle/>
          <a:p>
            <a:pPr marL="0" indent="0">
              <a:lnSpc>
                <a:spcPct val="115000"/>
              </a:lnSpc>
              <a:buNone/>
            </a:pPr>
            <a:r>
              <a:rPr lang="en-US" sz="930" dirty="0">
                <a:solidFill>
                  <a:srgbClr val="C7D3E8"/>
                </a:solidFill>
                <a:latin typeface="Calibri" pitchFamily="34" charset="0"/>
                <a:ea typeface="Calibri" pitchFamily="34" charset="-122"/>
                <a:cs typeface="Calibri" pitchFamily="34" charset="-120"/>
              </a:rPr>
              <a:t>Assess store type, brand portfolio, product range &amp; footfall.</a:t>
            </a:r>
            <a:endParaRPr lang="en-US" sz="930" dirty="0"/>
          </a:p>
        </p:txBody>
      </p:sp>
      <p:pic>
        <p:nvPicPr>
          <p:cNvPr id="16" name="Image 3" descr="/home/claude/assets/arrow_n.png"/>
          <p:cNvPicPr>
            <a:picLocks noChangeAspect="1"/>
          </p:cNvPicPr>
          <p:nvPr/>
        </p:nvPicPr>
        <p:blipFill>
          <a:blip r:embed="rId4"/>
          <a:stretch>
            <a:fillRect/>
          </a:stretch>
        </p:blipFill>
        <p:spPr>
          <a:xfrm>
            <a:off x="5984748" y="2514600"/>
            <a:ext cx="219456" cy="219456"/>
          </a:xfrm>
          <a:prstGeom prst="rect">
            <a:avLst/>
          </a:prstGeom>
        </p:spPr>
      </p:pic>
      <p:sp>
        <p:nvSpPr>
          <p:cNvPr id="17" name="Shape 11"/>
          <p:cNvSpPr/>
          <p:nvPr/>
        </p:nvSpPr>
        <p:spPr>
          <a:xfrm>
            <a:off x="6236208" y="1691640"/>
            <a:ext cx="2514600" cy="1874520"/>
          </a:xfrm>
          <a:prstGeom prst="roundRect">
            <a:avLst>
              <a:gd name="adj" fmla="val 3902"/>
            </a:avLst>
          </a:prstGeom>
          <a:solidFill>
            <a:srgbClr val="0F1F3D"/>
          </a:solidFill>
          <a:ln/>
          <a:effectLst>
            <a:outerShdw blurRad="88900" dist="38100" dir="5400000" algn="bl" rotWithShape="0">
              <a:srgbClr val="5B6472">
                <a:alpha val="20000"/>
              </a:srgbClr>
            </a:outerShdw>
          </a:effectLst>
        </p:spPr>
        <p:txBody>
          <a:bodyPr/>
          <a:lstStyle/>
          <a:p>
            <a:endParaRPr lang="en-US"/>
          </a:p>
        </p:txBody>
      </p:sp>
      <p:sp>
        <p:nvSpPr>
          <p:cNvPr id="18" name="Shape 12"/>
          <p:cNvSpPr/>
          <p:nvPr/>
        </p:nvSpPr>
        <p:spPr>
          <a:xfrm>
            <a:off x="6419088" y="1874520"/>
            <a:ext cx="502920" cy="502920"/>
          </a:xfrm>
          <a:prstGeom prst="ellipse">
            <a:avLst/>
          </a:prstGeom>
          <a:solidFill>
            <a:srgbClr val="FFFFFF"/>
          </a:solidFill>
          <a:ln/>
        </p:spPr>
        <p:txBody>
          <a:bodyPr/>
          <a:lstStyle/>
          <a:p>
            <a:endParaRPr lang="en-US"/>
          </a:p>
        </p:txBody>
      </p:sp>
      <p:pic>
        <p:nvPicPr>
          <p:cNvPr id="19" name="Image 4" descr="/home/claude/assets/truck_n.png"/>
          <p:cNvPicPr>
            <a:picLocks noChangeAspect="1"/>
          </p:cNvPicPr>
          <p:nvPr/>
        </p:nvPicPr>
        <p:blipFill>
          <a:blip r:embed="rId6"/>
          <a:stretch>
            <a:fillRect/>
          </a:stretch>
        </p:blipFill>
        <p:spPr>
          <a:xfrm>
            <a:off x="6542532" y="1997964"/>
            <a:ext cx="256032" cy="256032"/>
          </a:xfrm>
          <a:prstGeom prst="rect">
            <a:avLst/>
          </a:prstGeom>
        </p:spPr>
      </p:pic>
      <p:sp>
        <p:nvSpPr>
          <p:cNvPr id="20" name="Text 13"/>
          <p:cNvSpPr/>
          <p:nvPr/>
        </p:nvSpPr>
        <p:spPr>
          <a:xfrm>
            <a:off x="6400800" y="2514600"/>
            <a:ext cx="2185416" cy="411480"/>
          </a:xfrm>
          <a:prstGeom prst="rect">
            <a:avLst/>
          </a:prstGeom>
          <a:noFill/>
          <a:ln/>
        </p:spPr>
        <p:txBody>
          <a:bodyPr wrap="square" lIns="0" tIns="0" rIns="0" bIns="0" rtlCol="0" anchor="ctr"/>
          <a:lstStyle/>
          <a:p>
            <a:pPr marL="0" indent="0">
              <a:lnSpc>
                <a:spcPct val="105000"/>
              </a:lnSpc>
              <a:buNone/>
            </a:pPr>
            <a:r>
              <a:rPr lang="en-US" sz="1200" b="1" dirty="0">
                <a:solidFill>
                  <a:srgbClr val="FFFFFF"/>
                </a:solidFill>
                <a:latin typeface="Calibri" pitchFamily="34" charset="0"/>
                <a:ea typeface="Calibri" pitchFamily="34" charset="-122"/>
                <a:cs typeface="Calibri" pitchFamily="34" charset="-120"/>
              </a:rPr>
              <a:t>3. Distributor Matching</a:t>
            </a:r>
            <a:endParaRPr lang="en-US" sz="1200" dirty="0"/>
          </a:p>
        </p:txBody>
      </p:sp>
      <p:sp>
        <p:nvSpPr>
          <p:cNvPr id="21" name="Text 14"/>
          <p:cNvSpPr/>
          <p:nvPr/>
        </p:nvSpPr>
        <p:spPr>
          <a:xfrm>
            <a:off x="6400800" y="2926080"/>
            <a:ext cx="2185416" cy="594360"/>
          </a:xfrm>
          <a:prstGeom prst="rect">
            <a:avLst/>
          </a:prstGeom>
          <a:noFill/>
          <a:ln/>
        </p:spPr>
        <p:txBody>
          <a:bodyPr wrap="square" lIns="0" tIns="0" rIns="0" bIns="0" rtlCol="0" anchor="ctr"/>
          <a:lstStyle/>
          <a:p>
            <a:pPr marL="0" indent="0">
              <a:lnSpc>
                <a:spcPct val="115000"/>
              </a:lnSpc>
              <a:buNone/>
            </a:pPr>
            <a:r>
              <a:rPr lang="en-US" sz="930" dirty="0">
                <a:solidFill>
                  <a:srgbClr val="C7D3E8"/>
                </a:solidFill>
                <a:latin typeface="Calibri" pitchFamily="34" charset="0"/>
                <a:ea typeface="Calibri" pitchFamily="34" charset="-122"/>
                <a:cs typeface="Calibri" pitchFamily="34" charset="-120"/>
              </a:rPr>
              <a:t>Match to a distributor with spare operational capacity in the area.</a:t>
            </a:r>
            <a:endParaRPr lang="en-US" sz="930" dirty="0"/>
          </a:p>
        </p:txBody>
      </p:sp>
      <p:pic>
        <p:nvPicPr>
          <p:cNvPr id="22" name="Image 5" descr="/home/claude/assets/arrow_n.png"/>
          <p:cNvPicPr>
            <a:picLocks noChangeAspect="1"/>
          </p:cNvPicPr>
          <p:nvPr/>
        </p:nvPicPr>
        <p:blipFill>
          <a:blip r:embed="rId4"/>
          <a:stretch>
            <a:fillRect/>
          </a:stretch>
        </p:blipFill>
        <p:spPr>
          <a:xfrm>
            <a:off x="8782812" y="2514600"/>
            <a:ext cx="219456" cy="219456"/>
          </a:xfrm>
          <a:prstGeom prst="rect">
            <a:avLst/>
          </a:prstGeom>
        </p:spPr>
      </p:pic>
      <p:sp>
        <p:nvSpPr>
          <p:cNvPr id="23" name="Shape 15"/>
          <p:cNvSpPr/>
          <p:nvPr/>
        </p:nvSpPr>
        <p:spPr>
          <a:xfrm>
            <a:off x="9034272" y="1691640"/>
            <a:ext cx="2514600" cy="1874520"/>
          </a:xfrm>
          <a:prstGeom prst="roundRect">
            <a:avLst>
              <a:gd name="adj" fmla="val 3902"/>
            </a:avLst>
          </a:prstGeom>
          <a:solidFill>
            <a:srgbClr val="10A37F"/>
          </a:solidFill>
          <a:ln/>
          <a:effectLst>
            <a:outerShdw blurRad="88900" dist="38100" dir="5400000" algn="bl" rotWithShape="0">
              <a:srgbClr val="5B6472">
                <a:alpha val="20000"/>
              </a:srgbClr>
            </a:outerShdw>
          </a:effectLst>
        </p:spPr>
        <p:txBody>
          <a:bodyPr/>
          <a:lstStyle/>
          <a:p>
            <a:endParaRPr lang="en-US"/>
          </a:p>
        </p:txBody>
      </p:sp>
      <p:sp>
        <p:nvSpPr>
          <p:cNvPr id="24" name="Shape 16"/>
          <p:cNvSpPr/>
          <p:nvPr/>
        </p:nvSpPr>
        <p:spPr>
          <a:xfrm>
            <a:off x="9217152" y="1874520"/>
            <a:ext cx="502920" cy="502920"/>
          </a:xfrm>
          <a:prstGeom prst="ellipse">
            <a:avLst/>
          </a:prstGeom>
          <a:solidFill>
            <a:srgbClr val="FFFFFF"/>
          </a:solidFill>
          <a:ln/>
        </p:spPr>
        <p:txBody>
          <a:bodyPr/>
          <a:lstStyle/>
          <a:p>
            <a:endParaRPr lang="en-US"/>
          </a:p>
        </p:txBody>
      </p:sp>
      <p:pic>
        <p:nvPicPr>
          <p:cNvPr id="25" name="Image 6" descr="/home/claude/assets/check_n.png"/>
          <p:cNvPicPr>
            <a:picLocks noChangeAspect="1"/>
          </p:cNvPicPr>
          <p:nvPr/>
        </p:nvPicPr>
        <p:blipFill>
          <a:blip r:embed="rId7"/>
          <a:stretch>
            <a:fillRect/>
          </a:stretch>
        </p:blipFill>
        <p:spPr>
          <a:xfrm>
            <a:off x="9340596" y="1997964"/>
            <a:ext cx="256032" cy="256032"/>
          </a:xfrm>
          <a:prstGeom prst="rect">
            <a:avLst/>
          </a:prstGeom>
        </p:spPr>
      </p:pic>
      <p:sp>
        <p:nvSpPr>
          <p:cNvPr id="26" name="Text 17"/>
          <p:cNvSpPr/>
          <p:nvPr/>
        </p:nvSpPr>
        <p:spPr>
          <a:xfrm>
            <a:off x="9198864" y="2514600"/>
            <a:ext cx="2185416" cy="411480"/>
          </a:xfrm>
          <a:prstGeom prst="rect">
            <a:avLst/>
          </a:prstGeom>
          <a:noFill/>
          <a:ln/>
        </p:spPr>
        <p:txBody>
          <a:bodyPr wrap="square" lIns="0" tIns="0" rIns="0" bIns="0" rtlCol="0" anchor="ctr"/>
          <a:lstStyle/>
          <a:p>
            <a:pPr marL="0" indent="0">
              <a:lnSpc>
                <a:spcPct val="105000"/>
              </a:lnSpc>
              <a:buNone/>
            </a:pPr>
            <a:r>
              <a:rPr lang="en-US" sz="1200" b="1" dirty="0">
                <a:solidFill>
                  <a:srgbClr val="FFFFFF"/>
                </a:solidFill>
                <a:latin typeface="Calibri" pitchFamily="34" charset="0"/>
                <a:ea typeface="Calibri" pitchFamily="34" charset="-122"/>
                <a:cs typeface="Calibri" pitchFamily="34" charset="-120"/>
              </a:rPr>
              <a:t>4. Onboarding &amp; Review</a:t>
            </a:r>
            <a:endParaRPr lang="en-US" sz="1200" dirty="0"/>
          </a:p>
        </p:txBody>
      </p:sp>
      <p:sp>
        <p:nvSpPr>
          <p:cNvPr id="27" name="Text 18"/>
          <p:cNvSpPr/>
          <p:nvPr/>
        </p:nvSpPr>
        <p:spPr>
          <a:xfrm>
            <a:off x="9198864" y="2926080"/>
            <a:ext cx="2185416" cy="594360"/>
          </a:xfrm>
          <a:prstGeom prst="rect">
            <a:avLst/>
          </a:prstGeom>
          <a:noFill/>
          <a:ln/>
        </p:spPr>
        <p:txBody>
          <a:bodyPr wrap="square" lIns="0" tIns="0" rIns="0" bIns="0" rtlCol="0" anchor="ctr"/>
          <a:lstStyle/>
          <a:p>
            <a:pPr marL="0" indent="0">
              <a:lnSpc>
                <a:spcPct val="115000"/>
              </a:lnSpc>
              <a:buNone/>
            </a:pPr>
            <a:r>
              <a:rPr lang="en-US" sz="930" dirty="0">
                <a:solidFill>
                  <a:srgbClr val="0B3A2C"/>
                </a:solidFill>
                <a:latin typeface="Calibri" pitchFamily="34" charset="0"/>
                <a:ea typeface="Calibri" pitchFamily="34" charset="-122"/>
                <a:cs typeface="Calibri" pitchFamily="34" charset="-120"/>
              </a:rPr>
              <a:t>Re-run survey after a review period; compare against baseline.</a:t>
            </a:r>
            <a:endParaRPr lang="en-US" sz="93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3840480"/>
          <a:ext cx="10908792" cy="1828800"/>
        </p:xfrm>
        <a:graphic>
          <a:graphicData uri="http://schemas.openxmlformats.org/drawingml/2006/table">
            <a:tbl>
              <a:tblPr/>
              <a:tblGrid>
                <a:gridCol w="3291840">
                  <a:extLst>
                    <a:ext uri="{9D8B030D-6E8A-4147-A177-3AD203B41FA5}">
                      <a16:colId xmlns:a16="http://schemas.microsoft.com/office/drawing/2014/main" val="20000"/>
                    </a:ext>
                  </a:extLst>
                </a:gridCol>
                <a:gridCol w="7616952">
                  <a:extLst>
                    <a:ext uri="{9D8B030D-6E8A-4147-A177-3AD203B41FA5}">
                      <a16:colId xmlns:a16="http://schemas.microsoft.com/office/drawing/2014/main" val="20001"/>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0F1F3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Dashboard Support</a:t>
                      </a:r>
                      <a:endParaRPr lang="en-US" sz="115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0F1F3D"/>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1. Locality &amp; Store Screening</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Executive Dashboard — area / store-type slicers, retail-potential card</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2. Retailer Evaluation</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Retailer Analysis &amp; Market Coverage — brand portfolio table</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3. Distributor Matching</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Distributor Overview / Operational Analysis — retailers served, vehicles, area</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4. Onboarding &amp; Review</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tc>
                  <a:txBody>
                    <a:bodyPr/>
                    <a:lstStyle/>
                    <a:p>
                      <a:pPr marL="0" indent="0">
                        <a:buNone/>
                      </a:pPr>
                      <a:r>
                        <a:rPr lang="en-US" sz="1100" dirty="0">
                          <a:solidFill>
                            <a:srgbClr val="2B2E33"/>
                          </a:solidFill>
                          <a:latin typeface="Calibri" pitchFamily="34" charset="0"/>
                          <a:ea typeface="Calibri" pitchFamily="34" charset="-122"/>
                          <a:cs typeface="Calibri" pitchFamily="34" charset="-120"/>
                        </a:rPr>
                        <a:t>Re-run survey; compare updated dashboard figures against baseline</a:t>
                      </a:r>
                      <a:endParaRPr lang="en-US" sz="1100" dirty="0">
                        <a:latin typeface="Calibri" charset="0"/>
                        <a:ea typeface="Calibri" charset="0"/>
                        <a:cs typeface="Calibri" charset="0"/>
                      </a:endParaRPr>
                    </a:p>
                  </a:txBody>
                  <a:tcPr marL="101600" marR="101600" marT="38100" marB="38100" anchor="ctr">
                    <a:lnL w="9525" cap="flat" cmpd="sng" algn="ctr">
                      <a:solidFill>
                        <a:srgbClr val="D8DCE2"/>
                      </a:solidFill>
                      <a:prstDash val="solid"/>
                      <a:round/>
                      <a:headEnd type="none" w="med" len="med"/>
                      <a:tailEnd type="none" w="med" len="med"/>
                    </a:lnL>
                    <a:lnR w="9525" cap="flat" cmpd="sng" algn="ctr">
                      <a:solidFill>
                        <a:srgbClr val="D8DCE2"/>
                      </a:solidFill>
                      <a:prstDash val="solid"/>
                      <a:round/>
                      <a:headEnd type="none" w="med" len="med"/>
                      <a:tailEnd type="none" w="med" len="med"/>
                    </a:lnR>
                    <a:lnT w="9525" cap="flat" cmpd="sng" algn="ctr">
                      <a:solidFill>
                        <a:srgbClr val="D8DCE2"/>
                      </a:solidFill>
                      <a:prstDash val="solid"/>
                      <a:round/>
                      <a:headEnd type="none" w="med" len="med"/>
                      <a:tailEnd type="none" w="med" len="med"/>
                    </a:lnT>
                    <a:lnB w="9525" cap="flat" cmpd="sng" algn="ctr">
                      <a:solidFill>
                        <a:srgbClr val="D8DCE2"/>
                      </a:solidFill>
                      <a:prstDash val="solid"/>
                      <a:round/>
                      <a:headEnd type="none" w="med" len="med"/>
                      <a:tailEnd type="none" w="med" len="med"/>
                    </a:lnB>
                    <a:solidFill>
                      <a:srgbClr val="F2F3F5"/>
                    </a:solidFill>
                  </a:tcPr>
                </a:tc>
                <a:extLst>
                  <a:ext uri="{0D108BD9-81ED-4DB2-BD59-A6C34878D82A}">
                    <a16:rowId xmlns:a16="http://schemas.microsoft.com/office/drawing/2014/main" val="10004"/>
                  </a:ext>
                </a:extLst>
              </a:tr>
            </a:tbl>
          </a:graphicData>
        </a:graphic>
      </p:graphicFrame>
      <p:sp>
        <p:nvSpPr>
          <p:cNvPr id="29" name="Text 19"/>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30" name="Text 20"/>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BUSINESS RECOMMENDATIONS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Recommendations &amp; Expansion Strategy</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06 – RECOMMENDATIONS</a:t>
            </a:r>
            <a:endParaRPr lang="en-US" sz="1050" dirty="0"/>
          </a:p>
        </p:txBody>
      </p:sp>
      <p:sp>
        <p:nvSpPr>
          <p:cNvPr id="5" name="Shape 3"/>
          <p:cNvSpPr/>
          <p:nvPr/>
        </p:nvSpPr>
        <p:spPr>
          <a:xfrm>
            <a:off x="640080" y="1554480"/>
            <a:ext cx="5257800" cy="4480560"/>
          </a:xfrm>
          <a:prstGeom prst="roundRect">
            <a:avLst>
              <a:gd name="adj" fmla="val 1633"/>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6" name="Text 4"/>
          <p:cNvSpPr/>
          <p:nvPr/>
        </p:nvSpPr>
        <p:spPr>
          <a:xfrm>
            <a:off x="914400" y="1737360"/>
            <a:ext cx="4572000" cy="274320"/>
          </a:xfrm>
          <a:prstGeom prst="rect">
            <a:avLst/>
          </a:prstGeom>
          <a:noFill/>
          <a:ln/>
        </p:spPr>
        <p:txBody>
          <a:bodyPr wrap="square" lIns="0" tIns="0" rIns="0" bIns="0" rtlCol="0" anchor="ctr"/>
          <a:lstStyle/>
          <a:p>
            <a:pPr marL="0" indent="0">
              <a:buNone/>
            </a:pPr>
            <a:r>
              <a:rPr lang="en-US" sz="1050" b="1" kern="0" spc="80" dirty="0">
                <a:solidFill>
                  <a:srgbClr val="0B7A5F"/>
                </a:solidFill>
                <a:latin typeface="Calibri" pitchFamily="34" charset="0"/>
                <a:ea typeface="Calibri" pitchFamily="34" charset="-122"/>
                <a:cs typeface="Calibri" pitchFamily="34" charset="-120"/>
              </a:rPr>
              <a:t>ONBOARDING RECOMMENDATIONS</a:t>
            </a:r>
            <a:endParaRPr lang="en-US" sz="1050" dirty="0"/>
          </a:p>
        </p:txBody>
      </p:sp>
      <p:pic>
        <p:nvPicPr>
          <p:cNvPr id="7" name="Image 0" descr="/home/claude/assets/check.png"/>
          <p:cNvPicPr>
            <a:picLocks noChangeAspect="1"/>
          </p:cNvPicPr>
          <p:nvPr/>
        </p:nvPicPr>
        <p:blipFill>
          <a:blip r:embed="rId3"/>
          <a:stretch>
            <a:fillRect/>
          </a:stretch>
        </p:blipFill>
        <p:spPr>
          <a:xfrm>
            <a:off x="914400" y="2103120"/>
            <a:ext cx="219456" cy="219456"/>
          </a:xfrm>
          <a:prstGeom prst="rect">
            <a:avLst/>
          </a:prstGeom>
        </p:spPr>
      </p:pic>
      <p:sp>
        <p:nvSpPr>
          <p:cNvPr id="8" name="Text 5"/>
          <p:cNvSpPr/>
          <p:nvPr/>
        </p:nvSpPr>
        <p:spPr>
          <a:xfrm>
            <a:off x="1243584" y="2048256"/>
            <a:ext cx="4572000" cy="594360"/>
          </a:xfrm>
          <a:prstGeom prst="rect">
            <a:avLst/>
          </a:prstGeom>
          <a:noFill/>
          <a:ln/>
        </p:spPr>
        <p:txBody>
          <a:bodyPr wrap="square" lIns="0" tIns="0" rIns="0" bIns="0" rtlCol="0" anchor="ctr"/>
          <a:lstStyle/>
          <a:p>
            <a:pPr marL="0" indent="0">
              <a:lnSpc>
                <a:spcPct val="115000"/>
              </a:lnSpc>
              <a:buNone/>
            </a:pPr>
            <a:r>
              <a:rPr lang="en-US" sz="1080" dirty="0">
                <a:solidFill>
                  <a:srgbClr val="2B2E33"/>
                </a:solidFill>
                <a:latin typeface="Calibri" pitchFamily="34" charset="0"/>
                <a:ea typeface="Calibri" pitchFamily="34" charset="-122"/>
                <a:cs typeface="Calibri" pitchFamily="34" charset="-120"/>
              </a:rPr>
              <a:t>Expand the retailer network in areas with higher customer &amp; retailer activity.</a:t>
            </a:r>
            <a:endParaRPr lang="en-US" sz="1080" dirty="0"/>
          </a:p>
        </p:txBody>
      </p:sp>
      <p:pic>
        <p:nvPicPr>
          <p:cNvPr id="9" name="Image 1" descr="/home/claude/assets/check.png"/>
          <p:cNvPicPr>
            <a:picLocks noChangeAspect="1"/>
          </p:cNvPicPr>
          <p:nvPr/>
        </p:nvPicPr>
        <p:blipFill>
          <a:blip r:embed="rId3"/>
          <a:stretch>
            <a:fillRect/>
          </a:stretch>
        </p:blipFill>
        <p:spPr>
          <a:xfrm>
            <a:off x="914400" y="2816352"/>
            <a:ext cx="219456" cy="219456"/>
          </a:xfrm>
          <a:prstGeom prst="rect">
            <a:avLst/>
          </a:prstGeom>
        </p:spPr>
      </p:pic>
      <p:sp>
        <p:nvSpPr>
          <p:cNvPr id="10" name="Text 6"/>
          <p:cNvSpPr/>
          <p:nvPr/>
        </p:nvSpPr>
        <p:spPr>
          <a:xfrm>
            <a:off x="1243584" y="2761488"/>
            <a:ext cx="4572000" cy="594360"/>
          </a:xfrm>
          <a:prstGeom prst="rect">
            <a:avLst/>
          </a:prstGeom>
          <a:noFill/>
          <a:ln/>
        </p:spPr>
        <p:txBody>
          <a:bodyPr wrap="square" lIns="0" tIns="0" rIns="0" bIns="0" rtlCol="0" anchor="ctr"/>
          <a:lstStyle/>
          <a:p>
            <a:pPr marL="0" indent="0">
              <a:lnSpc>
                <a:spcPct val="115000"/>
              </a:lnSpc>
              <a:buNone/>
            </a:pPr>
            <a:r>
              <a:rPr lang="en-US" sz="1080" dirty="0">
                <a:solidFill>
                  <a:srgbClr val="2B2E33"/>
                </a:solidFill>
                <a:latin typeface="Calibri" pitchFamily="34" charset="0"/>
                <a:ea typeface="Calibri" pitchFamily="34" charset="-122"/>
                <a:cs typeface="Calibri" pitchFamily="34" charset="-120"/>
              </a:rPr>
              <a:t>Prioritize onboarding of retailers with strong brand availability &amp; product variety.</a:t>
            </a:r>
            <a:endParaRPr lang="en-US" sz="1080" dirty="0"/>
          </a:p>
        </p:txBody>
      </p:sp>
      <p:pic>
        <p:nvPicPr>
          <p:cNvPr id="11" name="Image 2" descr="/home/claude/assets/check.png"/>
          <p:cNvPicPr>
            <a:picLocks noChangeAspect="1"/>
          </p:cNvPicPr>
          <p:nvPr/>
        </p:nvPicPr>
        <p:blipFill>
          <a:blip r:embed="rId3"/>
          <a:stretch>
            <a:fillRect/>
          </a:stretch>
        </p:blipFill>
        <p:spPr>
          <a:xfrm>
            <a:off x="914400" y="3529584"/>
            <a:ext cx="219456" cy="219456"/>
          </a:xfrm>
          <a:prstGeom prst="rect">
            <a:avLst/>
          </a:prstGeom>
        </p:spPr>
      </p:pic>
      <p:sp>
        <p:nvSpPr>
          <p:cNvPr id="12" name="Text 7"/>
          <p:cNvSpPr/>
          <p:nvPr/>
        </p:nvSpPr>
        <p:spPr>
          <a:xfrm>
            <a:off x="1243584" y="3474720"/>
            <a:ext cx="4572000" cy="594360"/>
          </a:xfrm>
          <a:prstGeom prst="rect">
            <a:avLst/>
          </a:prstGeom>
          <a:noFill/>
          <a:ln/>
        </p:spPr>
        <p:txBody>
          <a:bodyPr wrap="square" lIns="0" tIns="0" rIns="0" bIns="0" rtlCol="0" anchor="ctr"/>
          <a:lstStyle/>
          <a:p>
            <a:pPr marL="0" indent="0">
              <a:lnSpc>
                <a:spcPct val="115000"/>
              </a:lnSpc>
              <a:buNone/>
            </a:pPr>
            <a:r>
              <a:rPr lang="en-US" sz="1080" dirty="0">
                <a:solidFill>
                  <a:srgbClr val="2B2E33"/>
                </a:solidFill>
                <a:latin typeface="Calibri" pitchFamily="34" charset="0"/>
                <a:ea typeface="Calibri" pitchFamily="34" charset="-122"/>
                <a:cs typeface="Calibri" pitchFamily="34" charset="-120"/>
              </a:rPr>
              <a:t>Improve availability of under-represented product categories rather than deepening well-stocked ones.</a:t>
            </a:r>
            <a:endParaRPr lang="en-US" sz="1080" dirty="0"/>
          </a:p>
        </p:txBody>
      </p:sp>
      <p:pic>
        <p:nvPicPr>
          <p:cNvPr id="13" name="Image 3" descr="/home/claude/assets/check.png"/>
          <p:cNvPicPr>
            <a:picLocks noChangeAspect="1"/>
          </p:cNvPicPr>
          <p:nvPr/>
        </p:nvPicPr>
        <p:blipFill>
          <a:blip r:embed="rId3"/>
          <a:stretch>
            <a:fillRect/>
          </a:stretch>
        </p:blipFill>
        <p:spPr>
          <a:xfrm>
            <a:off x="914400" y="4242816"/>
            <a:ext cx="219456" cy="219456"/>
          </a:xfrm>
          <a:prstGeom prst="rect">
            <a:avLst/>
          </a:prstGeom>
        </p:spPr>
      </p:pic>
      <p:sp>
        <p:nvSpPr>
          <p:cNvPr id="14" name="Text 8"/>
          <p:cNvSpPr/>
          <p:nvPr/>
        </p:nvSpPr>
        <p:spPr>
          <a:xfrm>
            <a:off x="1243584" y="4187952"/>
            <a:ext cx="4572000" cy="594360"/>
          </a:xfrm>
          <a:prstGeom prst="rect">
            <a:avLst/>
          </a:prstGeom>
          <a:noFill/>
          <a:ln/>
        </p:spPr>
        <p:txBody>
          <a:bodyPr wrap="square" lIns="0" tIns="0" rIns="0" bIns="0" rtlCol="0" anchor="ctr"/>
          <a:lstStyle/>
          <a:p>
            <a:pPr marL="0" indent="0">
              <a:lnSpc>
                <a:spcPct val="115000"/>
              </a:lnSpc>
              <a:buNone/>
            </a:pPr>
            <a:r>
              <a:rPr lang="en-US" sz="1080" dirty="0">
                <a:solidFill>
                  <a:srgbClr val="2B2E33"/>
                </a:solidFill>
                <a:latin typeface="Calibri" pitchFamily="34" charset="0"/>
                <a:ea typeface="Calibri" pitchFamily="34" charset="-122"/>
                <a:cs typeface="Calibri" pitchFamily="34" charset="-120"/>
              </a:rPr>
              <a:t>Use distributor-reported onboarding challenges to prepare for common friction points in advance.</a:t>
            </a:r>
            <a:endParaRPr lang="en-US" sz="1080" dirty="0"/>
          </a:p>
        </p:txBody>
      </p:sp>
      <p:pic>
        <p:nvPicPr>
          <p:cNvPr id="15" name="Image 4" descr="/home/claude/assets/check.png"/>
          <p:cNvPicPr>
            <a:picLocks noChangeAspect="1"/>
          </p:cNvPicPr>
          <p:nvPr/>
        </p:nvPicPr>
        <p:blipFill>
          <a:blip r:embed="rId3"/>
          <a:stretch>
            <a:fillRect/>
          </a:stretch>
        </p:blipFill>
        <p:spPr>
          <a:xfrm>
            <a:off x="914400" y="4956048"/>
            <a:ext cx="219456" cy="219456"/>
          </a:xfrm>
          <a:prstGeom prst="rect">
            <a:avLst/>
          </a:prstGeom>
        </p:spPr>
      </p:pic>
      <p:sp>
        <p:nvSpPr>
          <p:cNvPr id="16" name="Text 9"/>
          <p:cNvSpPr/>
          <p:nvPr/>
        </p:nvSpPr>
        <p:spPr>
          <a:xfrm>
            <a:off x="1243584" y="4901184"/>
            <a:ext cx="4572000" cy="594360"/>
          </a:xfrm>
          <a:prstGeom prst="rect">
            <a:avLst/>
          </a:prstGeom>
          <a:noFill/>
          <a:ln/>
        </p:spPr>
        <p:txBody>
          <a:bodyPr wrap="square" lIns="0" tIns="0" rIns="0" bIns="0" rtlCol="0" anchor="ctr"/>
          <a:lstStyle/>
          <a:p>
            <a:pPr marL="0" indent="0">
              <a:lnSpc>
                <a:spcPct val="115000"/>
              </a:lnSpc>
              <a:buNone/>
            </a:pPr>
            <a:r>
              <a:rPr lang="en-US" sz="1080" dirty="0">
                <a:solidFill>
                  <a:srgbClr val="2B2E33"/>
                </a:solidFill>
                <a:latin typeface="Calibri" pitchFamily="34" charset="0"/>
                <a:ea typeface="Calibri" pitchFamily="34" charset="-122"/>
                <a:cs typeface="Calibri" pitchFamily="34" charset="-120"/>
              </a:rPr>
              <a:t>Revisit these recommendations periodically as new survey rounds are run.</a:t>
            </a:r>
            <a:endParaRPr lang="en-US" sz="1080" dirty="0"/>
          </a:p>
        </p:txBody>
      </p:sp>
      <p:sp>
        <p:nvSpPr>
          <p:cNvPr id="17" name="Shape 10"/>
          <p:cNvSpPr/>
          <p:nvPr/>
        </p:nvSpPr>
        <p:spPr>
          <a:xfrm>
            <a:off x="6035040" y="1554480"/>
            <a:ext cx="5513832" cy="4480560"/>
          </a:xfrm>
          <a:prstGeom prst="roundRect">
            <a:avLst>
              <a:gd name="adj" fmla="val 1633"/>
            </a:avLst>
          </a:prstGeom>
          <a:solidFill>
            <a:srgbClr val="0F1F3D"/>
          </a:solidFill>
          <a:ln/>
          <a:effectLst>
            <a:outerShdw blurRad="88900" dist="38100" dir="5400000" algn="bl" rotWithShape="0">
              <a:srgbClr val="5B6472">
                <a:alpha val="20000"/>
              </a:srgbClr>
            </a:outerShdw>
          </a:effectLst>
        </p:spPr>
        <p:txBody>
          <a:bodyPr/>
          <a:lstStyle/>
          <a:p>
            <a:endParaRPr lang="en-US"/>
          </a:p>
        </p:txBody>
      </p:sp>
      <p:sp>
        <p:nvSpPr>
          <p:cNvPr id="18" name="Text 11"/>
          <p:cNvSpPr/>
          <p:nvPr/>
        </p:nvSpPr>
        <p:spPr>
          <a:xfrm>
            <a:off x="6309360" y="1737360"/>
            <a:ext cx="4937760" cy="274320"/>
          </a:xfrm>
          <a:prstGeom prst="rect">
            <a:avLst/>
          </a:prstGeom>
          <a:noFill/>
          <a:ln/>
        </p:spPr>
        <p:txBody>
          <a:bodyPr wrap="square" lIns="0" tIns="0" rIns="0" bIns="0" rtlCol="0" anchor="ctr"/>
          <a:lstStyle/>
          <a:p>
            <a:pPr marL="0" indent="0">
              <a:buNone/>
            </a:pPr>
            <a:r>
              <a:rPr lang="en-US" sz="1050" b="1" kern="0" spc="80" dirty="0">
                <a:solidFill>
                  <a:srgbClr val="10A37F"/>
                </a:solidFill>
                <a:latin typeface="Calibri" pitchFamily="34" charset="0"/>
                <a:ea typeface="Calibri" pitchFamily="34" charset="-122"/>
                <a:cs typeface="Calibri" pitchFamily="34" charset="-120"/>
              </a:rPr>
              <a:t>MULTI-BRAND EXPANSION STRATEGY</a:t>
            </a:r>
            <a:endParaRPr lang="en-US" sz="1050" dirty="0"/>
          </a:p>
        </p:txBody>
      </p:sp>
      <p:sp>
        <p:nvSpPr>
          <p:cNvPr id="19" name="Shape 12"/>
          <p:cNvSpPr/>
          <p:nvPr/>
        </p:nvSpPr>
        <p:spPr>
          <a:xfrm>
            <a:off x="6309360" y="2157984"/>
            <a:ext cx="91440" cy="91440"/>
          </a:xfrm>
          <a:prstGeom prst="ellipse">
            <a:avLst/>
          </a:prstGeom>
          <a:solidFill>
            <a:srgbClr val="10A37F"/>
          </a:solidFill>
          <a:ln/>
        </p:spPr>
        <p:txBody>
          <a:bodyPr/>
          <a:lstStyle/>
          <a:p>
            <a:endParaRPr lang="en-US"/>
          </a:p>
        </p:txBody>
      </p:sp>
      <p:sp>
        <p:nvSpPr>
          <p:cNvPr id="20" name="Text 13"/>
          <p:cNvSpPr/>
          <p:nvPr/>
        </p:nvSpPr>
        <p:spPr>
          <a:xfrm>
            <a:off x="6528816" y="2048256"/>
            <a:ext cx="4846320" cy="685800"/>
          </a:xfrm>
          <a:prstGeom prst="rect">
            <a:avLst/>
          </a:prstGeom>
          <a:noFill/>
          <a:ln/>
        </p:spPr>
        <p:txBody>
          <a:bodyPr wrap="square" lIns="0" tIns="0" rIns="0" bIns="0" rtlCol="0" anchor="ctr"/>
          <a:lstStyle/>
          <a:p>
            <a:pPr marL="0" indent="0">
              <a:lnSpc>
                <a:spcPct val="115000"/>
              </a:lnSpc>
              <a:buNone/>
            </a:pPr>
            <a:r>
              <a:rPr lang="en-US" sz="1080" dirty="0">
                <a:solidFill>
                  <a:srgbClr val="DCE4F2"/>
                </a:solidFill>
                <a:latin typeface="Calibri" pitchFamily="34" charset="0"/>
                <a:ea typeface="Calibri" pitchFamily="34" charset="-122"/>
                <a:cs typeface="Calibri" pitchFamily="34" charset="-120"/>
              </a:rPr>
              <a:t>Prioritize categories with high demand &amp; expansion potential but low retailer-level availability — unmet demand, not saturation.</a:t>
            </a:r>
            <a:endParaRPr lang="en-US" sz="1080" dirty="0"/>
          </a:p>
        </p:txBody>
      </p:sp>
      <p:sp>
        <p:nvSpPr>
          <p:cNvPr id="21" name="Shape 14"/>
          <p:cNvSpPr/>
          <p:nvPr/>
        </p:nvSpPr>
        <p:spPr>
          <a:xfrm>
            <a:off x="6309360" y="2935224"/>
            <a:ext cx="91440" cy="91440"/>
          </a:xfrm>
          <a:prstGeom prst="ellipse">
            <a:avLst/>
          </a:prstGeom>
          <a:solidFill>
            <a:srgbClr val="10A37F"/>
          </a:solidFill>
          <a:ln/>
        </p:spPr>
        <p:txBody>
          <a:bodyPr/>
          <a:lstStyle/>
          <a:p>
            <a:endParaRPr lang="en-US"/>
          </a:p>
        </p:txBody>
      </p:sp>
      <p:sp>
        <p:nvSpPr>
          <p:cNvPr id="22" name="Text 15"/>
          <p:cNvSpPr/>
          <p:nvPr/>
        </p:nvSpPr>
        <p:spPr>
          <a:xfrm>
            <a:off x="6528816" y="2825496"/>
            <a:ext cx="4846320" cy="685800"/>
          </a:xfrm>
          <a:prstGeom prst="rect">
            <a:avLst/>
          </a:prstGeom>
          <a:noFill/>
          <a:ln/>
        </p:spPr>
        <p:txBody>
          <a:bodyPr wrap="square" lIns="0" tIns="0" rIns="0" bIns="0" rtlCol="0" anchor="ctr"/>
          <a:lstStyle/>
          <a:p>
            <a:pPr marL="0" indent="0">
              <a:lnSpc>
                <a:spcPct val="115000"/>
              </a:lnSpc>
              <a:buNone/>
            </a:pPr>
            <a:r>
              <a:rPr lang="en-US" sz="1080" dirty="0">
                <a:solidFill>
                  <a:srgbClr val="DCE4F2"/>
                </a:solidFill>
                <a:latin typeface="Calibri" pitchFamily="34" charset="0"/>
                <a:ea typeface="Calibri" pitchFamily="34" charset="-122"/>
                <a:cs typeface="Calibri" pitchFamily="34" charset="-120"/>
              </a:rPr>
              <a:t>Treat fastest-growing (but not yet highest-demand) categories as early-stage, test-scale opportunities.</a:t>
            </a:r>
            <a:endParaRPr lang="en-US" sz="1080" dirty="0"/>
          </a:p>
        </p:txBody>
      </p:sp>
      <p:sp>
        <p:nvSpPr>
          <p:cNvPr id="23" name="Shape 16"/>
          <p:cNvSpPr/>
          <p:nvPr/>
        </p:nvSpPr>
        <p:spPr>
          <a:xfrm>
            <a:off x="6309360" y="3712464"/>
            <a:ext cx="91440" cy="91440"/>
          </a:xfrm>
          <a:prstGeom prst="ellipse">
            <a:avLst/>
          </a:prstGeom>
          <a:solidFill>
            <a:srgbClr val="10A37F"/>
          </a:solidFill>
          <a:ln/>
        </p:spPr>
        <p:txBody>
          <a:bodyPr/>
          <a:lstStyle/>
          <a:p>
            <a:endParaRPr lang="en-US"/>
          </a:p>
        </p:txBody>
      </p:sp>
      <p:sp>
        <p:nvSpPr>
          <p:cNvPr id="24" name="Text 17"/>
          <p:cNvSpPr/>
          <p:nvPr/>
        </p:nvSpPr>
        <p:spPr>
          <a:xfrm>
            <a:off x="6528816" y="3602736"/>
            <a:ext cx="4846320" cy="685800"/>
          </a:xfrm>
          <a:prstGeom prst="rect">
            <a:avLst/>
          </a:prstGeom>
          <a:noFill/>
          <a:ln/>
        </p:spPr>
        <p:txBody>
          <a:bodyPr wrap="square" lIns="0" tIns="0" rIns="0" bIns="0" rtlCol="0" anchor="ctr"/>
          <a:lstStyle/>
          <a:p>
            <a:pPr marL="0" indent="0">
              <a:lnSpc>
                <a:spcPct val="115000"/>
              </a:lnSpc>
              <a:buNone/>
            </a:pPr>
            <a:r>
              <a:rPr lang="en-US" sz="1080" dirty="0">
                <a:solidFill>
                  <a:srgbClr val="DCE4F2"/>
                </a:solidFill>
                <a:latin typeface="Calibri" pitchFamily="34" charset="0"/>
                <a:ea typeface="Calibri" pitchFamily="34" charset="-122"/>
                <a:cs typeface="Calibri" pitchFamily="34" charset="-120"/>
              </a:rPr>
              <a:t>For strongest-presence brands, focus expansion where they are currently under-represented.</a:t>
            </a:r>
            <a:endParaRPr lang="en-US" sz="1080" dirty="0"/>
          </a:p>
        </p:txBody>
      </p:sp>
      <p:sp>
        <p:nvSpPr>
          <p:cNvPr id="25" name="Shape 18"/>
          <p:cNvSpPr/>
          <p:nvPr/>
        </p:nvSpPr>
        <p:spPr>
          <a:xfrm>
            <a:off x="6309360" y="4489704"/>
            <a:ext cx="91440" cy="91440"/>
          </a:xfrm>
          <a:prstGeom prst="ellipse">
            <a:avLst/>
          </a:prstGeom>
          <a:solidFill>
            <a:srgbClr val="10A37F"/>
          </a:solidFill>
          <a:ln/>
        </p:spPr>
        <p:txBody>
          <a:bodyPr/>
          <a:lstStyle/>
          <a:p>
            <a:endParaRPr lang="en-US"/>
          </a:p>
        </p:txBody>
      </p:sp>
      <p:sp>
        <p:nvSpPr>
          <p:cNvPr id="26" name="Text 19"/>
          <p:cNvSpPr/>
          <p:nvPr/>
        </p:nvSpPr>
        <p:spPr>
          <a:xfrm>
            <a:off x="6528816" y="4379976"/>
            <a:ext cx="4846320" cy="685800"/>
          </a:xfrm>
          <a:prstGeom prst="rect">
            <a:avLst/>
          </a:prstGeom>
          <a:noFill/>
          <a:ln/>
        </p:spPr>
        <p:txBody>
          <a:bodyPr wrap="square" lIns="0" tIns="0" rIns="0" bIns="0" rtlCol="0" anchor="ctr"/>
          <a:lstStyle/>
          <a:p>
            <a:pPr marL="0" indent="0">
              <a:lnSpc>
                <a:spcPct val="115000"/>
              </a:lnSpc>
              <a:buNone/>
            </a:pPr>
            <a:r>
              <a:rPr lang="en-US" sz="1080" dirty="0">
                <a:solidFill>
                  <a:srgbClr val="DCE4F2"/>
                </a:solidFill>
                <a:latin typeface="Calibri" pitchFamily="34" charset="0"/>
                <a:ea typeface="Calibri" pitchFamily="34" charset="-122"/>
                <a:cs typeface="Calibri" pitchFamily="34" charset="-120"/>
              </a:rPr>
              <a:t>Sequence expansion through retailers with a wider existing brand portfolio first.</a:t>
            </a:r>
            <a:endParaRPr lang="en-US" sz="1080" dirty="0"/>
          </a:p>
        </p:txBody>
      </p:sp>
      <p:sp>
        <p:nvSpPr>
          <p:cNvPr id="27" name="Text 20"/>
          <p:cNvSpPr/>
          <p:nvPr/>
        </p:nvSpPr>
        <p:spPr>
          <a:xfrm>
            <a:off x="6309360" y="5303520"/>
            <a:ext cx="4937760" cy="640080"/>
          </a:xfrm>
          <a:prstGeom prst="rect">
            <a:avLst/>
          </a:prstGeom>
          <a:noFill/>
          <a:ln/>
        </p:spPr>
        <p:txBody>
          <a:bodyPr wrap="square" lIns="0" tIns="0" rIns="0" bIns="0" rtlCol="0" anchor="ctr"/>
          <a:lstStyle/>
          <a:p>
            <a:pPr marL="0" indent="0">
              <a:lnSpc>
                <a:spcPct val="120000"/>
              </a:lnSpc>
              <a:buNone/>
            </a:pPr>
            <a:r>
              <a:rPr lang="en-US" sz="950" i="1" dirty="0">
                <a:solidFill>
                  <a:srgbClr val="9FB2D4"/>
                </a:solidFill>
                <a:latin typeface="Calibri" pitchFamily="34" charset="0"/>
                <a:ea typeface="Calibri" pitchFamily="34" charset="-122"/>
                <a:cs typeface="Calibri" pitchFamily="34" charset="-120"/>
              </a:rPr>
              <a:t>Built on demand, growth &amp; availability signals — not profitability projections, since distributor financial data was not available (see Limitations).</a:t>
            </a:r>
            <a:endParaRPr lang="en-US" sz="950" dirty="0"/>
          </a:p>
        </p:txBody>
      </p:sp>
      <p:sp>
        <p:nvSpPr>
          <p:cNvPr id="28" name="Text 21"/>
          <p:cNvSpPr/>
          <p:nvPr/>
        </p:nvSpPr>
        <p:spPr>
          <a:xfrm>
            <a:off x="457200" y="6510528"/>
            <a:ext cx="7772400" cy="256032"/>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a:t>
            </a:r>
            <a:endParaRPr lang="en-US" sz="800" dirty="0"/>
          </a:p>
        </p:txBody>
      </p:sp>
      <p:sp>
        <p:nvSpPr>
          <p:cNvPr id="29" name="Text 22"/>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LIMITATIONS</a:t>
            </a:r>
            <a:endParaRPr lang="en-US" sz="1200" dirty="0"/>
          </a:p>
        </p:txBody>
      </p:sp>
      <p:sp>
        <p:nvSpPr>
          <p:cNvPr id="3" name="Text 1"/>
          <p:cNvSpPr/>
          <p:nvPr/>
        </p:nvSpPr>
        <p:spPr>
          <a:xfrm>
            <a:off x="640080" y="672223"/>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Constraints on These Findings</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07 – REFLECTION</a:t>
            </a:r>
            <a:endParaRPr lang="en-US" sz="1050" dirty="0"/>
          </a:p>
        </p:txBody>
      </p:sp>
      <p:sp>
        <p:nvSpPr>
          <p:cNvPr id="5" name="Shape 3"/>
          <p:cNvSpPr/>
          <p:nvPr/>
        </p:nvSpPr>
        <p:spPr>
          <a:xfrm>
            <a:off x="640080" y="1691640"/>
            <a:ext cx="2048256" cy="3977640"/>
          </a:xfrm>
          <a:prstGeom prst="roundRect">
            <a:avLst>
              <a:gd name="adj" fmla="val 357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6" name="Shape 4"/>
          <p:cNvSpPr/>
          <p:nvPr/>
        </p:nvSpPr>
        <p:spPr>
          <a:xfrm>
            <a:off x="1435608" y="1920240"/>
            <a:ext cx="457200" cy="457200"/>
          </a:xfrm>
          <a:prstGeom prst="ellipse">
            <a:avLst/>
          </a:prstGeom>
          <a:solidFill>
            <a:srgbClr val="0F1F3D"/>
          </a:solidFill>
          <a:ln/>
        </p:spPr>
        <p:txBody>
          <a:bodyPr/>
          <a:lstStyle/>
          <a:p>
            <a:endParaRPr lang="en-US"/>
          </a:p>
        </p:txBody>
      </p:sp>
      <p:pic>
        <p:nvPicPr>
          <p:cNvPr id="7" name="Image 0" descr="/home/claude/assets/warning.png"/>
          <p:cNvPicPr>
            <a:picLocks noChangeAspect="1"/>
          </p:cNvPicPr>
          <p:nvPr/>
        </p:nvPicPr>
        <p:blipFill>
          <a:blip r:embed="rId3"/>
          <a:stretch>
            <a:fillRect/>
          </a:stretch>
        </p:blipFill>
        <p:spPr>
          <a:xfrm>
            <a:off x="1545336" y="2029968"/>
            <a:ext cx="237744" cy="237744"/>
          </a:xfrm>
          <a:prstGeom prst="rect">
            <a:avLst/>
          </a:prstGeom>
        </p:spPr>
      </p:pic>
      <p:sp>
        <p:nvSpPr>
          <p:cNvPr id="8" name="Text 5"/>
          <p:cNvSpPr/>
          <p:nvPr/>
        </p:nvSpPr>
        <p:spPr>
          <a:xfrm>
            <a:off x="749808" y="2560320"/>
            <a:ext cx="1828800" cy="594360"/>
          </a:xfrm>
          <a:prstGeom prst="rect">
            <a:avLst/>
          </a:prstGeom>
          <a:noFill/>
          <a:ln/>
        </p:spPr>
        <p:txBody>
          <a:bodyPr wrap="square" lIns="0" tIns="0" rIns="0" bIns="0" rtlCol="0" anchor="ctr"/>
          <a:lstStyle/>
          <a:p>
            <a:pPr marL="0" indent="0" algn="ctr">
              <a:lnSpc>
                <a:spcPct val="110000"/>
              </a:lnSpc>
              <a:buNone/>
            </a:pPr>
            <a:r>
              <a:rPr lang="en-US" sz="1050" b="1" dirty="0">
                <a:solidFill>
                  <a:srgbClr val="0F1F3D"/>
                </a:solidFill>
                <a:latin typeface="Calibri" pitchFamily="34" charset="0"/>
                <a:ea typeface="Calibri" pitchFamily="34" charset="-122"/>
                <a:cs typeface="Calibri" pitchFamily="34" charset="-120"/>
              </a:rPr>
              <a:t>Financial Data Gap</a:t>
            </a:r>
            <a:endParaRPr lang="en-US" sz="1050" dirty="0"/>
          </a:p>
        </p:txBody>
      </p:sp>
      <p:sp>
        <p:nvSpPr>
          <p:cNvPr id="9" name="Text 6"/>
          <p:cNvSpPr/>
          <p:nvPr/>
        </p:nvSpPr>
        <p:spPr>
          <a:xfrm>
            <a:off x="768096" y="3200400"/>
            <a:ext cx="1792224" cy="2331720"/>
          </a:xfrm>
          <a:prstGeom prst="rect">
            <a:avLst/>
          </a:prstGeom>
          <a:noFill/>
          <a:ln/>
        </p:spPr>
        <p:txBody>
          <a:bodyPr wrap="square" lIns="0" tIns="0" rIns="0" bIns="0" rtlCol="0" anchor="ctr"/>
          <a:lstStyle/>
          <a:p>
            <a:pPr marL="0" indent="0" algn="ctr">
              <a:lnSpc>
                <a:spcPct val="120000"/>
              </a:lnSpc>
              <a:buNone/>
            </a:pPr>
            <a:r>
              <a:rPr lang="en-US" sz="900" dirty="0">
                <a:solidFill>
                  <a:srgbClr val="2B2E33"/>
                </a:solidFill>
                <a:latin typeface="Calibri" pitchFamily="34" charset="0"/>
                <a:ea typeface="Calibri" pitchFamily="34" charset="-122"/>
                <a:cs typeface="Calibri" pitchFamily="34" charset="-120"/>
              </a:rPr>
              <a:t>Distributors treated revenue, margins, investment and ROI as confidential. No figures have been estimated or inferred anywhere in this report.</a:t>
            </a:r>
            <a:endParaRPr lang="en-US" sz="900" dirty="0"/>
          </a:p>
        </p:txBody>
      </p:sp>
      <p:sp>
        <p:nvSpPr>
          <p:cNvPr id="10" name="Shape 7"/>
          <p:cNvSpPr/>
          <p:nvPr/>
        </p:nvSpPr>
        <p:spPr>
          <a:xfrm>
            <a:off x="2852928" y="1691640"/>
            <a:ext cx="2048256" cy="3977640"/>
          </a:xfrm>
          <a:prstGeom prst="roundRect">
            <a:avLst>
              <a:gd name="adj" fmla="val 357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1" name="Shape 8"/>
          <p:cNvSpPr/>
          <p:nvPr/>
        </p:nvSpPr>
        <p:spPr>
          <a:xfrm>
            <a:off x="3648456" y="1920240"/>
            <a:ext cx="457200" cy="457200"/>
          </a:xfrm>
          <a:prstGeom prst="ellipse">
            <a:avLst/>
          </a:prstGeom>
          <a:solidFill>
            <a:srgbClr val="0F1F3D"/>
          </a:solidFill>
          <a:ln/>
        </p:spPr>
        <p:txBody>
          <a:bodyPr/>
          <a:lstStyle/>
          <a:p>
            <a:endParaRPr lang="en-US">
              <a:solidFill>
                <a:schemeClr val="bg1"/>
              </a:solidFill>
            </a:endParaRPr>
          </a:p>
        </p:txBody>
      </p:sp>
      <p:pic>
        <p:nvPicPr>
          <p:cNvPr id="12" name="Image 1" descr="/home/claude/assets/location.png"/>
          <p:cNvPicPr>
            <a:picLocks noChangeAspect="1"/>
          </p:cNvPicPr>
          <p:nvPr/>
        </p:nvPicPr>
        <p:blipFill>
          <a:blip r:embed="rId4"/>
          <a:stretch>
            <a:fillRect/>
          </a:stretch>
        </p:blipFill>
        <p:spPr>
          <a:xfrm>
            <a:off x="3758184" y="2029968"/>
            <a:ext cx="237744" cy="237744"/>
          </a:xfrm>
          <a:prstGeom prst="rect">
            <a:avLst/>
          </a:prstGeom>
        </p:spPr>
      </p:pic>
      <p:sp>
        <p:nvSpPr>
          <p:cNvPr id="13" name="Text 9"/>
          <p:cNvSpPr/>
          <p:nvPr/>
        </p:nvSpPr>
        <p:spPr>
          <a:xfrm>
            <a:off x="2962656" y="2560320"/>
            <a:ext cx="1828800" cy="594360"/>
          </a:xfrm>
          <a:prstGeom prst="rect">
            <a:avLst/>
          </a:prstGeom>
          <a:noFill/>
          <a:ln/>
        </p:spPr>
        <p:txBody>
          <a:bodyPr wrap="square" lIns="0" tIns="0" rIns="0" bIns="0" rtlCol="0" anchor="ctr"/>
          <a:lstStyle/>
          <a:p>
            <a:pPr marL="0" indent="0" algn="ctr">
              <a:lnSpc>
                <a:spcPct val="110000"/>
              </a:lnSpc>
              <a:buNone/>
            </a:pPr>
            <a:r>
              <a:rPr lang="en-US" sz="1050" b="1" dirty="0">
                <a:solidFill>
                  <a:srgbClr val="0F1F3D"/>
                </a:solidFill>
                <a:latin typeface="Calibri" pitchFamily="34" charset="0"/>
                <a:ea typeface="Calibri" pitchFamily="34" charset="-122"/>
                <a:cs typeface="Calibri" pitchFamily="34" charset="-120"/>
              </a:rPr>
              <a:t>Sample Coverage</a:t>
            </a:r>
            <a:endParaRPr lang="en-US" sz="1050" dirty="0"/>
          </a:p>
        </p:txBody>
      </p:sp>
      <p:sp>
        <p:nvSpPr>
          <p:cNvPr id="14" name="Text 10"/>
          <p:cNvSpPr/>
          <p:nvPr/>
        </p:nvSpPr>
        <p:spPr>
          <a:xfrm>
            <a:off x="2980944" y="3200400"/>
            <a:ext cx="1792224" cy="2331720"/>
          </a:xfrm>
          <a:prstGeom prst="rect">
            <a:avLst/>
          </a:prstGeom>
          <a:noFill/>
          <a:ln/>
        </p:spPr>
        <p:txBody>
          <a:bodyPr wrap="square" lIns="0" tIns="0" rIns="0" bIns="0" rtlCol="0" anchor="ctr"/>
          <a:lstStyle/>
          <a:p>
            <a:pPr marL="0" indent="0" algn="ctr">
              <a:lnSpc>
                <a:spcPct val="120000"/>
              </a:lnSpc>
              <a:buNone/>
            </a:pPr>
            <a:r>
              <a:rPr lang="en-US" sz="900" dirty="0">
                <a:solidFill>
                  <a:srgbClr val="2B2E33"/>
                </a:solidFill>
                <a:latin typeface="Calibri" pitchFamily="34" charset="0"/>
                <a:ea typeface="Calibri" pitchFamily="34" charset="-122"/>
                <a:cs typeface="Calibri" pitchFamily="34" charset="-120"/>
              </a:rPr>
              <a:t>Confined to 4 localities and a purposive (non-random) sample — indicative of these micro-markets, not statistically representative of the wider city.</a:t>
            </a:r>
            <a:endParaRPr lang="en-US" sz="900" dirty="0"/>
          </a:p>
        </p:txBody>
      </p:sp>
      <p:sp>
        <p:nvSpPr>
          <p:cNvPr id="15" name="Shape 11"/>
          <p:cNvSpPr/>
          <p:nvPr/>
        </p:nvSpPr>
        <p:spPr>
          <a:xfrm>
            <a:off x="5065776" y="1691640"/>
            <a:ext cx="2048256" cy="3977640"/>
          </a:xfrm>
          <a:prstGeom prst="roundRect">
            <a:avLst>
              <a:gd name="adj" fmla="val 3571"/>
            </a:avLst>
          </a:prstGeom>
          <a:solidFill>
            <a:srgbClr val="F2F3F5"/>
          </a:solidFill>
          <a:ln/>
          <a:effectLst>
            <a:outerShdw blurRad="88900" dist="38100" dir="5400000" algn="bl" rotWithShape="0">
              <a:srgbClr val="5B6472">
                <a:alpha val="20000"/>
              </a:srgbClr>
            </a:outerShdw>
          </a:effectLst>
        </p:spPr>
        <p:txBody>
          <a:bodyPr/>
          <a:lstStyle/>
          <a:p>
            <a:endParaRPr lang="en-US" dirty="0">
              <a:highlight>
                <a:srgbClr val="00FFFF"/>
              </a:highlight>
            </a:endParaRPr>
          </a:p>
        </p:txBody>
      </p:sp>
      <p:sp>
        <p:nvSpPr>
          <p:cNvPr id="16" name="Shape 12"/>
          <p:cNvSpPr/>
          <p:nvPr/>
        </p:nvSpPr>
        <p:spPr>
          <a:xfrm>
            <a:off x="5861304" y="1920240"/>
            <a:ext cx="457200" cy="457200"/>
          </a:xfrm>
          <a:prstGeom prst="ellipse">
            <a:avLst/>
          </a:prstGeom>
          <a:solidFill>
            <a:srgbClr val="0F1F3D"/>
          </a:solidFill>
          <a:ln/>
        </p:spPr>
        <p:txBody>
          <a:bodyPr/>
          <a:lstStyle/>
          <a:p>
            <a:endParaRPr lang="en-US"/>
          </a:p>
        </p:txBody>
      </p:sp>
      <p:pic>
        <p:nvPicPr>
          <p:cNvPr id="17" name="Image 2" descr="/home/claude/assets/survey.png"/>
          <p:cNvPicPr>
            <a:picLocks noChangeAspect="1"/>
          </p:cNvPicPr>
          <p:nvPr/>
        </p:nvPicPr>
        <p:blipFill>
          <a:blip r:embed="rId5"/>
          <a:stretch>
            <a:fillRect/>
          </a:stretch>
        </p:blipFill>
        <p:spPr>
          <a:xfrm>
            <a:off x="5971032" y="2029968"/>
            <a:ext cx="237744" cy="237744"/>
          </a:xfrm>
          <a:prstGeom prst="rect">
            <a:avLst/>
          </a:prstGeom>
        </p:spPr>
      </p:pic>
      <p:sp>
        <p:nvSpPr>
          <p:cNvPr id="18" name="Text 13"/>
          <p:cNvSpPr/>
          <p:nvPr/>
        </p:nvSpPr>
        <p:spPr>
          <a:xfrm>
            <a:off x="5175504" y="2560320"/>
            <a:ext cx="1828800" cy="594360"/>
          </a:xfrm>
          <a:prstGeom prst="rect">
            <a:avLst/>
          </a:prstGeom>
          <a:noFill/>
          <a:ln/>
        </p:spPr>
        <p:txBody>
          <a:bodyPr wrap="square" lIns="0" tIns="0" rIns="0" bIns="0" rtlCol="0" anchor="ctr"/>
          <a:lstStyle/>
          <a:p>
            <a:pPr marL="0" indent="0" algn="ctr">
              <a:lnSpc>
                <a:spcPct val="110000"/>
              </a:lnSpc>
              <a:buNone/>
            </a:pPr>
            <a:r>
              <a:rPr lang="en-US" sz="1050" b="1" dirty="0">
                <a:solidFill>
                  <a:srgbClr val="0F1F3D"/>
                </a:solidFill>
                <a:latin typeface="Calibri" pitchFamily="34" charset="0"/>
                <a:ea typeface="Calibri" pitchFamily="34" charset="-122"/>
                <a:cs typeface="Calibri" pitchFamily="34" charset="-120"/>
              </a:rPr>
              <a:t>Self-Reported Data</a:t>
            </a:r>
            <a:endParaRPr lang="en-US" sz="1050" dirty="0"/>
          </a:p>
        </p:txBody>
      </p:sp>
      <p:sp>
        <p:nvSpPr>
          <p:cNvPr id="19" name="Text 14"/>
          <p:cNvSpPr/>
          <p:nvPr/>
        </p:nvSpPr>
        <p:spPr>
          <a:xfrm>
            <a:off x="5193792" y="3200400"/>
            <a:ext cx="1792224" cy="2331720"/>
          </a:xfrm>
          <a:prstGeom prst="rect">
            <a:avLst/>
          </a:prstGeom>
          <a:noFill/>
          <a:ln/>
        </p:spPr>
        <p:txBody>
          <a:bodyPr wrap="square" lIns="0" tIns="0" rIns="0" bIns="0" rtlCol="0" anchor="ctr"/>
          <a:lstStyle/>
          <a:p>
            <a:pPr marL="0" indent="0" algn="ctr">
              <a:lnSpc>
                <a:spcPct val="120000"/>
              </a:lnSpc>
              <a:buNone/>
            </a:pPr>
            <a:r>
              <a:rPr lang="en-US" sz="900" dirty="0">
                <a:solidFill>
                  <a:srgbClr val="2B2E33"/>
                </a:solidFill>
                <a:latin typeface="Calibri" pitchFamily="34" charset="0"/>
                <a:ea typeface="Calibri" pitchFamily="34" charset="-122"/>
                <a:cs typeface="Calibri" pitchFamily="34" charset="-120"/>
              </a:rPr>
              <a:t>Several distributor-side fields were self-reported rather than independently verified.</a:t>
            </a:r>
            <a:endParaRPr lang="en-US" sz="900" dirty="0"/>
          </a:p>
        </p:txBody>
      </p:sp>
      <p:sp>
        <p:nvSpPr>
          <p:cNvPr id="20" name="Shape 15"/>
          <p:cNvSpPr/>
          <p:nvPr/>
        </p:nvSpPr>
        <p:spPr>
          <a:xfrm>
            <a:off x="7278624" y="1691640"/>
            <a:ext cx="2048256" cy="3977640"/>
          </a:xfrm>
          <a:prstGeom prst="roundRect">
            <a:avLst>
              <a:gd name="adj" fmla="val 357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1" name="Shape 16"/>
          <p:cNvSpPr/>
          <p:nvPr/>
        </p:nvSpPr>
        <p:spPr>
          <a:xfrm>
            <a:off x="8074152" y="1920240"/>
            <a:ext cx="457200" cy="457200"/>
          </a:xfrm>
          <a:prstGeom prst="ellipse">
            <a:avLst/>
          </a:prstGeom>
          <a:solidFill>
            <a:srgbClr val="0F1F3D"/>
          </a:solidFill>
          <a:ln/>
        </p:spPr>
        <p:txBody>
          <a:bodyPr/>
          <a:lstStyle/>
          <a:p>
            <a:endParaRPr lang="en-US"/>
          </a:p>
        </p:txBody>
      </p:sp>
      <p:pic>
        <p:nvPicPr>
          <p:cNvPr id="22" name="Image 3" descr="/home/claude/assets/calendar.png"/>
          <p:cNvPicPr>
            <a:picLocks noChangeAspect="1"/>
          </p:cNvPicPr>
          <p:nvPr/>
        </p:nvPicPr>
        <p:blipFill>
          <a:blip r:embed="rId6"/>
          <a:stretch>
            <a:fillRect/>
          </a:stretch>
        </p:blipFill>
        <p:spPr>
          <a:xfrm>
            <a:off x="8183880" y="2029968"/>
            <a:ext cx="237744" cy="237744"/>
          </a:xfrm>
          <a:prstGeom prst="rect">
            <a:avLst/>
          </a:prstGeom>
        </p:spPr>
      </p:pic>
      <p:sp>
        <p:nvSpPr>
          <p:cNvPr id="23" name="Text 17"/>
          <p:cNvSpPr/>
          <p:nvPr/>
        </p:nvSpPr>
        <p:spPr>
          <a:xfrm>
            <a:off x="7388352" y="2560320"/>
            <a:ext cx="1828800" cy="594360"/>
          </a:xfrm>
          <a:prstGeom prst="rect">
            <a:avLst/>
          </a:prstGeom>
          <a:noFill/>
          <a:ln/>
        </p:spPr>
        <p:txBody>
          <a:bodyPr wrap="square" lIns="0" tIns="0" rIns="0" bIns="0" rtlCol="0" anchor="ctr"/>
          <a:lstStyle/>
          <a:p>
            <a:pPr marL="0" indent="0" algn="ctr">
              <a:lnSpc>
                <a:spcPct val="110000"/>
              </a:lnSpc>
              <a:buNone/>
            </a:pPr>
            <a:r>
              <a:rPr lang="en-US" sz="1050" b="1" dirty="0">
                <a:solidFill>
                  <a:srgbClr val="0F1F3D"/>
                </a:solidFill>
                <a:latin typeface="Calibri" pitchFamily="34" charset="0"/>
                <a:ea typeface="Calibri" pitchFamily="34" charset="-122"/>
                <a:cs typeface="Calibri" pitchFamily="34" charset="-120"/>
              </a:rPr>
              <a:t>Time Constraints</a:t>
            </a:r>
            <a:endParaRPr lang="en-US" sz="1050" dirty="0"/>
          </a:p>
        </p:txBody>
      </p:sp>
      <p:sp>
        <p:nvSpPr>
          <p:cNvPr id="24" name="Text 18"/>
          <p:cNvSpPr/>
          <p:nvPr/>
        </p:nvSpPr>
        <p:spPr>
          <a:xfrm>
            <a:off x="7406640" y="3200400"/>
            <a:ext cx="1792224" cy="2331720"/>
          </a:xfrm>
          <a:prstGeom prst="rect">
            <a:avLst/>
          </a:prstGeom>
          <a:noFill/>
          <a:ln/>
        </p:spPr>
        <p:txBody>
          <a:bodyPr wrap="square" lIns="0" tIns="0" rIns="0" bIns="0" rtlCol="0" anchor="ctr"/>
          <a:lstStyle/>
          <a:p>
            <a:pPr marL="0" indent="0" algn="ctr">
              <a:lnSpc>
                <a:spcPct val="120000"/>
              </a:lnSpc>
              <a:buNone/>
            </a:pPr>
            <a:r>
              <a:rPr lang="en-US" sz="900" dirty="0">
                <a:solidFill>
                  <a:srgbClr val="2B2E33"/>
                </a:solidFill>
                <a:latin typeface="Calibri" pitchFamily="34" charset="0"/>
                <a:ea typeface="Calibri" pitchFamily="34" charset="-122"/>
                <a:cs typeface="Calibri" pitchFamily="34" charset="-120"/>
              </a:rPr>
              <a:t>8-week duration limited data collection to a single round — a snapshot, not a trend.</a:t>
            </a:r>
            <a:endParaRPr lang="en-US" sz="900" dirty="0"/>
          </a:p>
        </p:txBody>
      </p:sp>
      <p:sp>
        <p:nvSpPr>
          <p:cNvPr id="25" name="Shape 19"/>
          <p:cNvSpPr/>
          <p:nvPr/>
        </p:nvSpPr>
        <p:spPr>
          <a:xfrm>
            <a:off x="9491472" y="1691640"/>
            <a:ext cx="2048256" cy="3977640"/>
          </a:xfrm>
          <a:prstGeom prst="roundRect">
            <a:avLst>
              <a:gd name="adj" fmla="val 357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6" name="Shape 20"/>
          <p:cNvSpPr/>
          <p:nvPr/>
        </p:nvSpPr>
        <p:spPr>
          <a:xfrm>
            <a:off x="10287000" y="1920240"/>
            <a:ext cx="457200" cy="457200"/>
          </a:xfrm>
          <a:prstGeom prst="ellipse">
            <a:avLst/>
          </a:prstGeom>
          <a:solidFill>
            <a:srgbClr val="0F1F3D"/>
          </a:solidFill>
          <a:ln/>
        </p:spPr>
        <p:txBody>
          <a:bodyPr/>
          <a:lstStyle/>
          <a:p>
            <a:endParaRPr lang="en-US"/>
          </a:p>
        </p:txBody>
      </p:sp>
      <p:pic>
        <p:nvPicPr>
          <p:cNvPr id="27" name="Image 4" descr="/home/claude/assets/clipboard.png"/>
          <p:cNvPicPr>
            <a:picLocks noChangeAspect="1"/>
          </p:cNvPicPr>
          <p:nvPr/>
        </p:nvPicPr>
        <p:blipFill>
          <a:blip r:embed="rId7"/>
          <a:stretch>
            <a:fillRect/>
          </a:stretch>
        </p:blipFill>
        <p:spPr>
          <a:xfrm>
            <a:off x="10396728" y="2029968"/>
            <a:ext cx="237744" cy="237744"/>
          </a:xfrm>
          <a:prstGeom prst="rect">
            <a:avLst/>
          </a:prstGeom>
        </p:spPr>
      </p:pic>
      <p:sp>
        <p:nvSpPr>
          <p:cNvPr id="28" name="Text 21"/>
          <p:cNvSpPr/>
          <p:nvPr/>
        </p:nvSpPr>
        <p:spPr>
          <a:xfrm>
            <a:off x="9601200" y="2560320"/>
            <a:ext cx="1828800" cy="594360"/>
          </a:xfrm>
          <a:prstGeom prst="rect">
            <a:avLst/>
          </a:prstGeom>
          <a:noFill/>
          <a:ln/>
        </p:spPr>
        <p:txBody>
          <a:bodyPr wrap="square" lIns="0" tIns="0" rIns="0" bIns="0" rtlCol="0" anchor="ctr"/>
          <a:lstStyle/>
          <a:p>
            <a:pPr marL="0" indent="0" algn="ctr">
              <a:lnSpc>
                <a:spcPct val="110000"/>
              </a:lnSpc>
              <a:buNone/>
            </a:pPr>
            <a:r>
              <a:rPr lang="en-US" sz="1050" b="1" dirty="0">
                <a:solidFill>
                  <a:srgbClr val="0F1F3D"/>
                </a:solidFill>
                <a:latin typeface="Calibri" pitchFamily="34" charset="0"/>
                <a:ea typeface="Calibri" pitchFamily="34" charset="-122"/>
                <a:cs typeface="Calibri" pitchFamily="34" charset="-120"/>
              </a:rPr>
              <a:t>Qualitative Categorization</a:t>
            </a:r>
            <a:endParaRPr lang="en-US" sz="1050" dirty="0"/>
          </a:p>
        </p:txBody>
      </p:sp>
      <p:sp>
        <p:nvSpPr>
          <p:cNvPr id="29" name="Text 22"/>
          <p:cNvSpPr/>
          <p:nvPr/>
        </p:nvSpPr>
        <p:spPr>
          <a:xfrm>
            <a:off x="9619488" y="3200400"/>
            <a:ext cx="1792224" cy="2331720"/>
          </a:xfrm>
          <a:prstGeom prst="rect">
            <a:avLst/>
          </a:prstGeom>
          <a:noFill/>
          <a:ln/>
        </p:spPr>
        <p:txBody>
          <a:bodyPr wrap="square" lIns="0" tIns="0" rIns="0" bIns="0" rtlCol="0" anchor="ctr"/>
          <a:lstStyle/>
          <a:p>
            <a:pPr marL="0" indent="0" algn="ctr">
              <a:lnSpc>
                <a:spcPct val="120000"/>
              </a:lnSpc>
              <a:buNone/>
            </a:pPr>
            <a:r>
              <a:rPr lang="en-US" sz="900" dirty="0">
                <a:solidFill>
                  <a:srgbClr val="2B2E33"/>
                </a:solidFill>
                <a:latin typeface="Calibri" pitchFamily="34" charset="0"/>
                <a:ea typeface="Calibri" pitchFamily="34" charset="-122"/>
                <a:cs typeface="Calibri" pitchFamily="34" charset="-120"/>
              </a:rPr>
              <a:t>"Retail potential" &amp; "customer footfall" used structured but judgment-based ratings, not objectively measured metrics.</a:t>
            </a:r>
            <a:endParaRPr lang="en-US" sz="900" dirty="0"/>
          </a:p>
        </p:txBody>
      </p:sp>
      <p:sp>
        <p:nvSpPr>
          <p:cNvPr id="30" name="Text 23"/>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31" name="Text 24"/>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92608"/>
          </a:xfrm>
          <a:prstGeom prst="rect">
            <a:avLst/>
          </a:prstGeom>
          <a:noFill/>
          <a:ln/>
        </p:spPr>
        <p:txBody>
          <a:bodyPr wrap="square" lIns="0" tIns="0" rIns="0" bIns="0" rtlCol="0" anchor="ctr"/>
          <a:lstStyle/>
          <a:p>
            <a:pPr marL="0" indent="0">
              <a:buNone/>
            </a:pPr>
            <a:r>
              <a:rPr lang="en-US" sz="1200" b="1" kern="0" spc="200" dirty="0">
                <a:solidFill>
                  <a:srgbClr val="0B7A5F"/>
                </a:solidFill>
                <a:latin typeface="Calibri" pitchFamily="34" charset="0"/>
                <a:ea typeface="Calibri" pitchFamily="34" charset="-122"/>
                <a:cs typeface="Calibri" pitchFamily="34" charset="-120"/>
              </a:rPr>
              <a:t>LEARNING OUTCOMES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marL="0" indent="0">
              <a:buNone/>
            </a:pPr>
            <a:r>
              <a:rPr lang="en-US" sz="2900" b="1" dirty="0">
                <a:solidFill>
                  <a:srgbClr val="0F1F3D"/>
                </a:solidFill>
                <a:latin typeface="Cambria" pitchFamily="34" charset="0"/>
                <a:ea typeface="Cambria" pitchFamily="34" charset="-122"/>
                <a:cs typeface="Cambria" pitchFamily="34" charset="-120"/>
              </a:rPr>
              <a:t>What This Internship Taught Me</a:t>
            </a:r>
            <a:endParaRPr lang="en-US" sz="2900" dirty="0"/>
          </a:p>
        </p:txBody>
      </p:sp>
      <p:sp>
        <p:nvSpPr>
          <p:cNvPr id="4" name="Text 2"/>
          <p:cNvSpPr/>
          <p:nvPr/>
        </p:nvSpPr>
        <p:spPr>
          <a:xfrm>
            <a:off x="8259775" y="420624"/>
            <a:ext cx="3291840" cy="274320"/>
          </a:xfrm>
          <a:prstGeom prst="rect">
            <a:avLst/>
          </a:prstGeom>
          <a:noFill/>
          <a:ln/>
        </p:spPr>
        <p:txBody>
          <a:bodyPr wrap="square" lIns="0" tIns="0" rIns="0" bIns="0" rtlCol="0" anchor="ctr"/>
          <a:lstStyle/>
          <a:p>
            <a:pPr marL="0" indent="0" algn="r">
              <a:buNone/>
            </a:pPr>
            <a:r>
              <a:rPr lang="en-US" sz="1050" kern="0" spc="150" dirty="0">
                <a:solidFill>
                  <a:srgbClr val="6B7280"/>
                </a:solidFill>
                <a:latin typeface="Calibri" pitchFamily="34" charset="0"/>
                <a:ea typeface="Calibri" pitchFamily="34" charset="-122"/>
                <a:cs typeface="Calibri" pitchFamily="34" charset="-120"/>
              </a:rPr>
              <a:t>SECTION 07 – REFLECTION</a:t>
            </a:r>
            <a:endParaRPr lang="en-US" sz="1050" dirty="0"/>
          </a:p>
        </p:txBody>
      </p:sp>
      <p:sp>
        <p:nvSpPr>
          <p:cNvPr id="5" name="Shape 3"/>
          <p:cNvSpPr/>
          <p:nvPr/>
        </p:nvSpPr>
        <p:spPr>
          <a:xfrm>
            <a:off x="640080" y="1691640"/>
            <a:ext cx="3502152"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6" name="Shape 4"/>
          <p:cNvSpPr/>
          <p:nvPr/>
        </p:nvSpPr>
        <p:spPr>
          <a:xfrm>
            <a:off x="841248" y="1892808"/>
            <a:ext cx="502920" cy="502920"/>
          </a:xfrm>
          <a:prstGeom prst="ellipse">
            <a:avLst/>
          </a:prstGeom>
          <a:solidFill>
            <a:srgbClr val="0F1F3D"/>
          </a:solidFill>
          <a:ln/>
        </p:spPr>
        <p:txBody>
          <a:bodyPr/>
          <a:lstStyle/>
          <a:p>
            <a:endParaRPr lang="en-US"/>
          </a:p>
        </p:txBody>
      </p:sp>
      <p:pic>
        <p:nvPicPr>
          <p:cNvPr id="7" name="Image 0" descr="/home/claude/assets/survey.png"/>
          <p:cNvPicPr>
            <a:picLocks noChangeAspect="1"/>
          </p:cNvPicPr>
          <p:nvPr/>
        </p:nvPicPr>
        <p:blipFill>
          <a:blip r:embed="rId3"/>
          <a:stretch>
            <a:fillRect/>
          </a:stretch>
        </p:blipFill>
        <p:spPr>
          <a:xfrm>
            <a:off x="961949" y="2013509"/>
            <a:ext cx="261518" cy="261518"/>
          </a:xfrm>
          <a:prstGeom prst="rect">
            <a:avLst/>
          </a:prstGeom>
        </p:spPr>
      </p:pic>
      <p:sp>
        <p:nvSpPr>
          <p:cNvPr id="8" name="Text 5"/>
          <p:cNvSpPr/>
          <p:nvPr/>
        </p:nvSpPr>
        <p:spPr>
          <a:xfrm>
            <a:off x="841248" y="2514600"/>
            <a:ext cx="3099816" cy="320040"/>
          </a:xfrm>
          <a:prstGeom prst="rect">
            <a:avLst/>
          </a:prstGeom>
          <a:noFill/>
          <a:ln/>
        </p:spPr>
        <p:txBody>
          <a:bodyPr wrap="square" lIns="0" tIns="0" rIns="0" bIns="0" rtlCol="0" anchor="ctr"/>
          <a:lstStyle/>
          <a:p>
            <a:pPr marL="0" indent="0">
              <a:buNone/>
            </a:pPr>
            <a:r>
              <a:rPr lang="en-US" sz="1250" b="1" dirty="0">
                <a:solidFill>
                  <a:srgbClr val="0F1F3D"/>
                </a:solidFill>
                <a:latin typeface="Calibri" pitchFamily="34" charset="0"/>
                <a:ea typeface="Calibri" pitchFamily="34" charset="-122"/>
                <a:cs typeface="Calibri" pitchFamily="34" charset="-120"/>
              </a:rPr>
              <a:t>Survey Design</a:t>
            </a:r>
            <a:endParaRPr lang="en-US" sz="1250" dirty="0"/>
          </a:p>
        </p:txBody>
      </p:sp>
      <p:sp>
        <p:nvSpPr>
          <p:cNvPr id="9" name="Text 6"/>
          <p:cNvSpPr/>
          <p:nvPr/>
        </p:nvSpPr>
        <p:spPr>
          <a:xfrm>
            <a:off x="841248" y="2825496"/>
            <a:ext cx="3099816" cy="777240"/>
          </a:xfrm>
          <a:prstGeom prst="rect">
            <a:avLst/>
          </a:prstGeom>
          <a:noFill/>
          <a:ln/>
        </p:spPr>
        <p:txBody>
          <a:bodyPr wrap="square" lIns="0" tIns="0" rIns="0" bIns="0" rtlCol="0" anchor="ctr"/>
          <a:lstStyle/>
          <a:p>
            <a:pPr marL="0" indent="0">
              <a:lnSpc>
                <a:spcPct val="115000"/>
              </a:lnSpc>
              <a:buNone/>
            </a:pPr>
            <a:r>
              <a:rPr lang="en-US" sz="1000" dirty="0">
                <a:solidFill>
                  <a:srgbClr val="2B2E33"/>
                </a:solidFill>
                <a:latin typeface="Calibri" pitchFamily="34" charset="0"/>
                <a:ea typeface="Calibri" pitchFamily="34" charset="-122"/>
                <a:cs typeface="Calibri" pitchFamily="34" charset="-120"/>
              </a:rPr>
              <a:t>Designing a structured instrument — and the value of piloting before full rollout.</a:t>
            </a:r>
            <a:endParaRPr lang="en-US" sz="1000" dirty="0"/>
          </a:p>
        </p:txBody>
      </p:sp>
      <p:sp>
        <p:nvSpPr>
          <p:cNvPr id="10" name="Shape 7"/>
          <p:cNvSpPr/>
          <p:nvPr/>
        </p:nvSpPr>
        <p:spPr>
          <a:xfrm>
            <a:off x="4343400" y="1691640"/>
            <a:ext cx="3502152"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1" name="Shape 8"/>
          <p:cNvSpPr/>
          <p:nvPr/>
        </p:nvSpPr>
        <p:spPr>
          <a:xfrm>
            <a:off x="4544568" y="1892808"/>
            <a:ext cx="502920" cy="502920"/>
          </a:xfrm>
          <a:prstGeom prst="ellipse">
            <a:avLst/>
          </a:prstGeom>
          <a:solidFill>
            <a:srgbClr val="0F1F3D"/>
          </a:solidFill>
          <a:ln/>
        </p:spPr>
        <p:txBody>
          <a:bodyPr/>
          <a:lstStyle/>
          <a:p>
            <a:endParaRPr lang="en-US"/>
          </a:p>
        </p:txBody>
      </p:sp>
      <p:pic>
        <p:nvPicPr>
          <p:cNvPr id="12" name="Image 1" descr="/home/claude/assets/store.png"/>
          <p:cNvPicPr>
            <a:picLocks noChangeAspect="1"/>
          </p:cNvPicPr>
          <p:nvPr/>
        </p:nvPicPr>
        <p:blipFill>
          <a:blip r:embed="rId4"/>
          <a:stretch>
            <a:fillRect/>
          </a:stretch>
        </p:blipFill>
        <p:spPr>
          <a:xfrm>
            <a:off x="4665269" y="2013509"/>
            <a:ext cx="261518" cy="261518"/>
          </a:xfrm>
          <a:prstGeom prst="rect">
            <a:avLst/>
          </a:prstGeom>
        </p:spPr>
      </p:pic>
      <p:sp>
        <p:nvSpPr>
          <p:cNvPr id="13" name="Text 9"/>
          <p:cNvSpPr/>
          <p:nvPr/>
        </p:nvSpPr>
        <p:spPr>
          <a:xfrm>
            <a:off x="4544568" y="2514600"/>
            <a:ext cx="3099816" cy="320040"/>
          </a:xfrm>
          <a:prstGeom prst="rect">
            <a:avLst/>
          </a:prstGeom>
          <a:noFill/>
          <a:ln/>
        </p:spPr>
        <p:txBody>
          <a:bodyPr wrap="square" lIns="0" tIns="0" rIns="0" bIns="0" rtlCol="0" anchor="ctr"/>
          <a:lstStyle/>
          <a:p>
            <a:pPr marL="0" indent="0">
              <a:buNone/>
            </a:pPr>
            <a:r>
              <a:rPr lang="en-US" sz="1250" b="1" dirty="0">
                <a:solidFill>
                  <a:srgbClr val="0F1F3D"/>
                </a:solidFill>
                <a:latin typeface="Calibri" pitchFamily="34" charset="0"/>
                <a:ea typeface="Calibri" pitchFamily="34" charset="-122"/>
                <a:cs typeface="Calibri" pitchFamily="34" charset="-120"/>
              </a:rPr>
              <a:t>Ground-Level Market Exposure</a:t>
            </a:r>
            <a:endParaRPr lang="en-US" sz="1250" dirty="0"/>
          </a:p>
        </p:txBody>
      </p:sp>
      <p:sp>
        <p:nvSpPr>
          <p:cNvPr id="14" name="Text 10"/>
          <p:cNvSpPr/>
          <p:nvPr/>
        </p:nvSpPr>
        <p:spPr>
          <a:xfrm>
            <a:off x="4544568" y="2825496"/>
            <a:ext cx="3099816" cy="777240"/>
          </a:xfrm>
          <a:prstGeom prst="rect">
            <a:avLst/>
          </a:prstGeom>
          <a:noFill/>
          <a:ln/>
        </p:spPr>
        <p:txBody>
          <a:bodyPr wrap="square" lIns="0" tIns="0" rIns="0" bIns="0" rtlCol="0" anchor="ctr"/>
          <a:lstStyle/>
          <a:p>
            <a:pPr marL="0" indent="0">
              <a:lnSpc>
                <a:spcPct val="115000"/>
              </a:lnSpc>
              <a:buNone/>
            </a:pPr>
            <a:r>
              <a:rPr lang="en-US" sz="1000" dirty="0">
                <a:solidFill>
                  <a:srgbClr val="2B2E33"/>
                </a:solidFill>
                <a:latin typeface="Calibri" pitchFamily="34" charset="0"/>
                <a:ea typeface="Calibri" pitchFamily="34" charset="-122"/>
                <a:cs typeface="Calibri" pitchFamily="34" charset="-120"/>
              </a:rPr>
              <a:t>Direct exposure to how local FMCG distribution &amp; retail networks are structured.</a:t>
            </a:r>
            <a:endParaRPr lang="en-US" sz="1000" dirty="0"/>
          </a:p>
        </p:txBody>
      </p:sp>
      <p:sp>
        <p:nvSpPr>
          <p:cNvPr id="15" name="Shape 11"/>
          <p:cNvSpPr/>
          <p:nvPr/>
        </p:nvSpPr>
        <p:spPr>
          <a:xfrm>
            <a:off x="8046720" y="1691640"/>
            <a:ext cx="3502152"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16" name="Shape 12"/>
          <p:cNvSpPr/>
          <p:nvPr/>
        </p:nvSpPr>
        <p:spPr>
          <a:xfrm>
            <a:off x="8247888" y="1892808"/>
            <a:ext cx="502920" cy="502920"/>
          </a:xfrm>
          <a:prstGeom prst="ellipse">
            <a:avLst/>
          </a:prstGeom>
          <a:solidFill>
            <a:srgbClr val="0F1F3D"/>
          </a:solidFill>
          <a:ln/>
        </p:spPr>
        <p:txBody>
          <a:bodyPr/>
          <a:lstStyle/>
          <a:p>
            <a:endParaRPr lang="en-US"/>
          </a:p>
        </p:txBody>
      </p:sp>
      <p:pic>
        <p:nvPicPr>
          <p:cNvPr id="17" name="Image 2" descr="/home/claude/assets/data.png"/>
          <p:cNvPicPr>
            <a:picLocks noChangeAspect="1"/>
          </p:cNvPicPr>
          <p:nvPr/>
        </p:nvPicPr>
        <p:blipFill>
          <a:blip r:embed="rId5"/>
          <a:stretch>
            <a:fillRect/>
          </a:stretch>
        </p:blipFill>
        <p:spPr>
          <a:xfrm>
            <a:off x="8368589" y="2013509"/>
            <a:ext cx="261518" cy="261518"/>
          </a:xfrm>
          <a:prstGeom prst="rect">
            <a:avLst/>
          </a:prstGeom>
        </p:spPr>
      </p:pic>
      <p:sp>
        <p:nvSpPr>
          <p:cNvPr id="18" name="Text 13"/>
          <p:cNvSpPr/>
          <p:nvPr/>
        </p:nvSpPr>
        <p:spPr>
          <a:xfrm>
            <a:off x="8247888" y="2514600"/>
            <a:ext cx="3099816" cy="320040"/>
          </a:xfrm>
          <a:prstGeom prst="rect">
            <a:avLst/>
          </a:prstGeom>
          <a:noFill/>
          <a:ln/>
        </p:spPr>
        <p:txBody>
          <a:bodyPr wrap="square" lIns="0" tIns="0" rIns="0" bIns="0" rtlCol="0" anchor="ctr"/>
          <a:lstStyle/>
          <a:p>
            <a:pPr marL="0" indent="0">
              <a:buNone/>
            </a:pPr>
            <a:r>
              <a:rPr lang="en-US" sz="1250" b="1" dirty="0">
                <a:solidFill>
                  <a:srgbClr val="0F1F3D"/>
                </a:solidFill>
                <a:latin typeface="Calibri" pitchFamily="34" charset="0"/>
                <a:ea typeface="Calibri" pitchFamily="34" charset="-122"/>
                <a:cs typeface="Calibri" pitchFamily="34" charset="-120"/>
              </a:rPr>
              <a:t>Data Cleaning &amp; Structuring</a:t>
            </a:r>
            <a:endParaRPr lang="en-US" sz="1250" dirty="0"/>
          </a:p>
        </p:txBody>
      </p:sp>
      <p:sp>
        <p:nvSpPr>
          <p:cNvPr id="19" name="Text 14"/>
          <p:cNvSpPr/>
          <p:nvPr/>
        </p:nvSpPr>
        <p:spPr>
          <a:xfrm>
            <a:off x="8247888" y="2825496"/>
            <a:ext cx="3099816" cy="777240"/>
          </a:xfrm>
          <a:prstGeom prst="rect">
            <a:avLst/>
          </a:prstGeom>
          <a:noFill/>
          <a:ln/>
        </p:spPr>
        <p:txBody>
          <a:bodyPr wrap="square" lIns="0" tIns="0" rIns="0" bIns="0" rtlCol="0" anchor="ctr"/>
          <a:lstStyle/>
          <a:p>
            <a:pPr marL="0" indent="0">
              <a:lnSpc>
                <a:spcPct val="115000"/>
              </a:lnSpc>
              <a:buNone/>
            </a:pPr>
            <a:r>
              <a:rPr lang="en-US" sz="1000" dirty="0">
                <a:solidFill>
                  <a:srgbClr val="2B2E33"/>
                </a:solidFill>
                <a:latin typeface="Calibri" pitchFamily="34" charset="0"/>
                <a:ea typeface="Calibri" pitchFamily="34" charset="-122"/>
                <a:cs typeface="Calibri" pitchFamily="34" charset="-120"/>
              </a:rPr>
              <a:t>Hands-on cleaning of field data, standardizing categorical responses for aggregation.</a:t>
            </a:r>
            <a:endParaRPr lang="en-US" sz="1000" dirty="0"/>
          </a:p>
        </p:txBody>
      </p:sp>
      <p:sp>
        <p:nvSpPr>
          <p:cNvPr id="20" name="Shape 15"/>
          <p:cNvSpPr/>
          <p:nvPr/>
        </p:nvSpPr>
        <p:spPr>
          <a:xfrm>
            <a:off x="640080" y="3931920"/>
            <a:ext cx="3502152"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1" name="Shape 16"/>
          <p:cNvSpPr/>
          <p:nvPr/>
        </p:nvSpPr>
        <p:spPr>
          <a:xfrm>
            <a:off x="841248" y="4133088"/>
            <a:ext cx="502920" cy="502920"/>
          </a:xfrm>
          <a:prstGeom prst="ellipse">
            <a:avLst/>
          </a:prstGeom>
          <a:solidFill>
            <a:srgbClr val="0F1F3D"/>
          </a:solidFill>
          <a:ln/>
        </p:spPr>
        <p:txBody>
          <a:bodyPr/>
          <a:lstStyle/>
          <a:p>
            <a:endParaRPr lang="en-US"/>
          </a:p>
        </p:txBody>
      </p:sp>
      <p:pic>
        <p:nvPicPr>
          <p:cNvPr id="22" name="Image 3" descr="/home/claude/assets/dashboard.png"/>
          <p:cNvPicPr>
            <a:picLocks noChangeAspect="1"/>
          </p:cNvPicPr>
          <p:nvPr/>
        </p:nvPicPr>
        <p:blipFill>
          <a:blip r:embed="rId6"/>
          <a:stretch>
            <a:fillRect/>
          </a:stretch>
        </p:blipFill>
        <p:spPr>
          <a:xfrm>
            <a:off x="961949" y="4253789"/>
            <a:ext cx="261518" cy="261518"/>
          </a:xfrm>
          <a:prstGeom prst="rect">
            <a:avLst/>
          </a:prstGeom>
        </p:spPr>
      </p:pic>
      <p:sp>
        <p:nvSpPr>
          <p:cNvPr id="23" name="Text 17"/>
          <p:cNvSpPr/>
          <p:nvPr/>
        </p:nvSpPr>
        <p:spPr>
          <a:xfrm>
            <a:off x="841248" y="4754880"/>
            <a:ext cx="3099816" cy="320040"/>
          </a:xfrm>
          <a:prstGeom prst="rect">
            <a:avLst/>
          </a:prstGeom>
          <a:noFill/>
          <a:ln/>
        </p:spPr>
        <p:txBody>
          <a:bodyPr wrap="square" lIns="0" tIns="0" rIns="0" bIns="0" rtlCol="0" anchor="ctr"/>
          <a:lstStyle/>
          <a:p>
            <a:pPr marL="0" indent="0">
              <a:buNone/>
            </a:pPr>
            <a:r>
              <a:rPr lang="en-US" sz="1250" b="1" dirty="0">
                <a:solidFill>
                  <a:srgbClr val="0F1F3D"/>
                </a:solidFill>
                <a:latin typeface="Calibri" pitchFamily="34" charset="0"/>
                <a:ea typeface="Calibri" pitchFamily="34" charset="-122"/>
                <a:cs typeface="Calibri" pitchFamily="34" charset="-120"/>
              </a:rPr>
              <a:t>Power BI Dashboarding</a:t>
            </a:r>
            <a:endParaRPr lang="en-US" sz="1250" dirty="0"/>
          </a:p>
        </p:txBody>
      </p:sp>
      <p:sp>
        <p:nvSpPr>
          <p:cNvPr id="24" name="Text 18"/>
          <p:cNvSpPr/>
          <p:nvPr/>
        </p:nvSpPr>
        <p:spPr>
          <a:xfrm>
            <a:off x="841248" y="5065776"/>
            <a:ext cx="3099816" cy="777240"/>
          </a:xfrm>
          <a:prstGeom prst="rect">
            <a:avLst/>
          </a:prstGeom>
          <a:noFill/>
          <a:ln/>
        </p:spPr>
        <p:txBody>
          <a:bodyPr wrap="square" lIns="0" tIns="0" rIns="0" bIns="0" rtlCol="0" anchor="ctr"/>
          <a:lstStyle/>
          <a:p>
            <a:pPr marL="0" indent="0">
              <a:lnSpc>
                <a:spcPct val="115000"/>
              </a:lnSpc>
              <a:buNone/>
            </a:pPr>
            <a:r>
              <a:rPr lang="en-US" sz="1000" dirty="0">
                <a:solidFill>
                  <a:srgbClr val="2B2E33"/>
                </a:solidFill>
                <a:latin typeface="Calibri" pitchFamily="34" charset="0"/>
                <a:ea typeface="Calibri" pitchFamily="34" charset="-122"/>
                <a:cs typeface="Calibri" pitchFamily="34" charset="-120"/>
              </a:rPr>
              <a:t>Multi-page reports, card/bar/column/donut visuals, and cross-filtering slicers.</a:t>
            </a:r>
            <a:endParaRPr lang="en-US" sz="1000" dirty="0"/>
          </a:p>
        </p:txBody>
      </p:sp>
      <p:sp>
        <p:nvSpPr>
          <p:cNvPr id="25" name="Shape 19"/>
          <p:cNvSpPr/>
          <p:nvPr/>
        </p:nvSpPr>
        <p:spPr>
          <a:xfrm>
            <a:off x="4343400" y="3931920"/>
            <a:ext cx="3502152"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26" name="Shape 20"/>
          <p:cNvSpPr/>
          <p:nvPr/>
        </p:nvSpPr>
        <p:spPr>
          <a:xfrm>
            <a:off x="4544568" y="4133088"/>
            <a:ext cx="502920" cy="502920"/>
          </a:xfrm>
          <a:prstGeom prst="ellipse">
            <a:avLst/>
          </a:prstGeom>
          <a:solidFill>
            <a:srgbClr val="0F1F3D"/>
          </a:solidFill>
          <a:ln/>
        </p:spPr>
        <p:txBody>
          <a:bodyPr/>
          <a:lstStyle/>
          <a:p>
            <a:endParaRPr lang="en-US"/>
          </a:p>
        </p:txBody>
      </p:sp>
      <p:pic>
        <p:nvPicPr>
          <p:cNvPr id="27" name="Image 4" descr="/home/claude/assets/warning.png"/>
          <p:cNvPicPr>
            <a:picLocks noChangeAspect="1"/>
          </p:cNvPicPr>
          <p:nvPr/>
        </p:nvPicPr>
        <p:blipFill>
          <a:blip r:embed="rId7"/>
          <a:stretch>
            <a:fillRect/>
          </a:stretch>
        </p:blipFill>
        <p:spPr>
          <a:xfrm>
            <a:off x="4665269" y="4253789"/>
            <a:ext cx="261518" cy="261518"/>
          </a:xfrm>
          <a:prstGeom prst="rect">
            <a:avLst/>
          </a:prstGeom>
        </p:spPr>
      </p:pic>
      <p:sp>
        <p:nvSpPr>
          <p:cNvPr id="28" name="Text 21"/>
          <p:cNvSpPr/>
          <p:nvPr/>
        </p:nvSpPr>
        <p:spPr>
          <a:xfrm>
            <a:off x="4544568" y="4754880"/>
            <a:ext cx="3099816" cy="320040"/>
          </a:xfrm>
          <a:prstGeom prst="rect">
            <a:avLst/>
          </a:prstGeom>
          <a:noFill/>
          <a:ln/>
        </p:spPr>
        <p:txBody>
          <a:bodyPr wrap="square" lIns="0" tIns="0" rIns="0" bIns="0" rtlCol="0" anchor="ctr"/>
          <a:lstStyle/>
          <a:p>
            <a:pPr marL="0" indent="0">
              <a:buNone/>
            </a:pPr>
            <a:r>
              <a:rPr lang="en-US" sz="1250" b="1" dirty="0">
                <a:solidFill>
                  <a:srgbClr val="0F1F3D"/>
                </a:solidFill>
                <a:latin typeface="Calibri" pitchFamily="34" charset="0"/>
                <a:ea typeface="Calibri" pitchFamily="34" charset="-122"/>
                <a:cs typeface="Calibri" pitchFamily="34" charset="-120"/>
              </a:rPr>
              <a:t>Working Within Real Constraints</a:t>
            </a:r>
            <a:endParaRPr lang="en-US" sz="1250" dirty="0"/>
          </a:p>
        </p:txBody>
      </p:sp>
      <p:sp>
        <p:nvSpPr>
          <p:cNvPr id="29" name="Text 22"/>
          <p:cNvSpPr/>
          <p:nvPr/>
        </p:nvSpPr>
        <p:spPr>
          <a:xfrm>
            <a:off x="4544568" y="5065776"/>
            <a:ext cx="3099816" cy="777240"/>
          </a:xfrm>
          <a:prstGeom prst="rect">
            <a:avLst/>
          </a:prstGeom>
          <a:noFill/>
          <a:ln/>
        </p:spPr>
        <p:txBody>
          <a:bodyPr wrap="square" lIns="0" tIns="0" rIns="0" bIns="0" rtlCol="0" anchor="ctr"/>
          <a:lstStyle/>
          <a:p>
            <a:pPr marL="0" indent="0">
              <a:lnSpc>
                <a:spcPct val="115000"/>
              </a:lnSpc>
              <a:buNone/>
            </a:pPr>
            <a:r>
              <a:rPr lang="en-US" sz="1000" dirty="0">
                <a:solidFill>
                  <a:srgbClr val="2B2E33"/>
                </a:solidFill>
                <a:latin typeface="Calibri" pitchFamily="34" charset="0"/>
                <a:ea typeface="Calibri" pitchFamily="34" charset="-122"/>
                <a:cs typeface="Calibri" pitchFamily="34" charset="-120"/>
              </a:rPr>
              <a:t>Handling data limitations honestly — flagging gaps instead of assuming around them.</a:t>
            </a:r>
            <a:endParaRPr lang="en-US" sz="1000" dirty="0"/>
          </a:p>
        </p:txBody>
      </p:sp>
      <p:sp>
        <p:nvSpPr>
          <p:cNvPr id="30" name="Shape 23"/>
          <p:cNvSpPr/>
          <p:nvPr/>
        </p:nvSpPr>
        <p:spPr>
          <a:xfrm>
            <a:off x="8046720" y="3931920"/>
            <a:ext cx="3502152" cy="1965960"/>
          </a:xfrm>
          <a:prstGeom prst="roundRect">
            <a:avLst>
              <a:gd name="adj" fmla="val 3721"/>
            </a:avLst>
          </a:prstGeom>
          <a:solidFill>
            <a:srgbClr val="F2F3F5"/>
          </a:solidFill>
          <a:ln/>
          <a:effectLst>
            <a:outerShdw blurRad="88900" dist="38100" dir="5400000" algn="bl" rotWithShape="0">
              <a:srgbClr val="5B6472">
                <a:alpha val="20000"/>
              </a:srgbClr>
            </a:outerShdw>
          </a:effectLst>
        </p:spPr>
        <p:txBody>
          <a:bodyPr/>
          <a:lstStyle/>
          <a:p>
            <a:endParaRPr lang="en-US"/>
          </a:p>
        </p:txBody>
      </p:sp>
      <p:sp>
        <p:nvSpPr>
          <p:cNvPr id="31" name="Shape 24"/>
          <p:cNvSpPr/>
          <p:nvPr/>
        </p:nvSpPr>
        <p:spPr>
          <a:xfrm>
            <a:off x="8247888" y="4133088"/>
            <a:ext cx="502920" cy="502920"/>
          </a:xfrm>
          <a:prstGeom prst="ellipse">
            <a:avLst/>
          </a:prstGeom>
          <a:solidFill>
            <a:srgbClr val="0F1F3D"/>
          </a:solidFill>
          <a:ln/>
        </p:spPr>
        <p:txBody>
          <a:bodyPr/>
          <a:lstStyle/>
          <a:p>
            <a:endParaRPr lang="en-US"/>
          </a:p>
        </p:txBody>
      </p:sp>
      <p:pic>
        <p:nvPicPr>
          <p:cNvPr id="32" name="Image 5" descr="/home/claude/assets/strategy.png"/>
          <p:cNvPicPr>
            <a:picLocks noChangeAspect="1"/>
          </p:cNvPicPr>
          <p:nvPr/>
        </p:nvPicPr>
        <p:blipFill>
          <a:blip r:embed="rId8"/>
          <a:stretch>
            <a:fillRect/>
          </a:stretch>
        </p:blipFill>
        <p:spPr>
          <a:xfrm>
            <a:off x="8368589" y="4253789"/>
            <a:ext cx="261518" cy="261518"/>
          </a:xfrm>
          <a:prstGeom prst="rect">
            <a:avLst/>
          </a:prstGeom>
        </p:spPr>
      </p:pic>
      <p:sp>
        <p:nvSpPr>
          <p:cNvPr id="33" name="Text 25"/>
          <p:cNvSpPr/>
          <p:nvPr/>
        </p:nvSpPr>
        <p:spPr>
          <a:xfrm>
            <a:off x="8247888" y="4754880"/>
            <a:ext cx="3099816" cy="320040"/>
          </a:xfrm>
          <a:prstGeom prst="rect">
            <a:avLst/>
          </a:prstGeom>
          <a:noFill/>
          <a:ln/>
        </p:spPr>
        <p:txBody>
          <a:bodyPr wrap="square" lIns="0" tIns="0" rIns="0" bIns="0" rtlCol="0" anchor="ctr"/>
          <a:lstStyle/>
          <a:p>
            <a:pPr marL="0" indent="0">
              <a:buNone/>
            </a:pPr>
            <a:r>
              <a:rPr lang="en-US" sz="1250" b="1" dirty="0">
                <a:solidFill>
                  <a:srgbClr val="0F1F3D"/>
                </a:solidFill>
                <a:latin typeface="Calibri" pitchFamily="34" charset="0"/>
                <a:ea typeface="Calibri" pitchFamily="34" charset="-122"/>
                <a:cs typeface="Calibri" pitchFamily="34" charset="-120"/>
              </a:rPr>
              <a:t>Business Translation</a:t>
            </a:r>
            <a:endParaRPr lang="en-US" sz="1250" dirty="0"/>
          </a:p>
        </p:txBody>
      </p:sp>
      <p:sp>
        <p:nvSpPr>
          <p:cNvPr id="34" name="Text 26"/>
          <p:cNvSpPr/>
          <p:nvPr/>
        </p:nvSpPr>
        <p:spPr>
          <a:xfrm>
            <a:off x="8247888" y="5065776"/>
            <a:ext cx="3099816" cy="777240"/>
          </a:xfrm>
          <a:prstGeom prst="rect">
            <a:avLst/>
          </a:prstGeom>
          <a:noFill/>
          <a:ln/>
        </p:spPr>
        <p:txBody>
          <a:bodyPr wrap="square" lIns="0" tIns="0" rIns="0" bIns="0" rtlCol="0" anchor="ctr"/>
          <a:lstStyle/>
          <a:p>
            <a:pPr marL="0" indent="0">
              <a:lnSpc>
                <a:spcPct val="115000"/>
              </a:lnSpc>
              <a:buNone/>
            </a:pPr>
            <a:r>
              <a:rPr lang="en-US" sz="1000" dirty="0">
                <a:solidFill>
                  <a:srgbClr val="2B2E33"/>
                </a:solidFill>
                <a:latin typeface="Calibri" pitchFamily="34" charset="0"/>
                <a:ea typeface="Calibri" pitchFamily="34" charset="-122"/>
                <a:cs typeface="Calibri" pitchFamily="34" charset="-120"/>
              </a:rPr>
              <a:t>Turning raw survey findings into an actionable framework &amp; strategy for stakeholders.</a:t>
            </a:r>
            <a:endParaRPr lang="en-US" sz="1000" dirty="0"/>
          </a:p>
        </p:txBody>
      </p:sp>
      <p:sp>
        <p:nvSpPr>
          <p:cNvPr id="35" name="Text 27"/>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36" name="Text 28"/>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8412480" y="-1645920"/>
            <a:ext cx="5120640" cy="5120640"/>
          </a:xfrm>
          <a:prstGeom prst="ellipse">
            <a:avLst/>
          </a:prstGeom>
          <a:ln w="12700">
            <a:solidFill>
              <a:srgbClr val="1F3A66"/>
            </a:solidFill>
            <a:prstDash val="solid"/>
          </a:ln>
        </p:spPr>
        <p:txBody>
          <a:bodyPr/>
          <a:lstStyle/>
          <a:p>
            <a:endParaRPr lang="en-US"/>
          </a:p>
        </p:txBody>
      </p:sp>
      <p:sp>
        <p:nvSpPr>
          <p:cNvPr id="3" name="Shape 1"/>
          <p:cNvSpPr/>
          <p:nvPr/>
        </p:nvSpPr>
        <p:spPr>
          <a:xfrm>
            <a:off x="8321040" y="-1554480"/>
            <a:ext cx="5943600" cy="5943600"/>
          </a:xfrm>
          <a:prstGeom prst="ellipse">
            <a:avLst/>
          </a:prstGeom>
          <a:ln w="12700">
            <a:solidFill>
              <a:srgbClr val="1F3A66"/>
            </a:solidFill>
            <a:prstDash val="solid"/>
          </a:ln>
        </p:spPr>
        <p:txBody>
          <a:bodyPr/>
          <a:lstStyle/>
          <a:p>
            <a:endParaRPr lang="en-US"/>
          </a:p>
        </p:txBody>
      </p:sp>
      <p:sp>
        <p:nvSpPr>
          <p:cNvPr id="4" name="Shape 2"/>
          <p:cNvSpPr/>
          <p:nvPr/>
        </p:nvSpPr>
        <p:spPr>
          <a:xfrm>
            <a:off x="8229600" y="-1463040"/>
            <a:ext cx="6766560" cy="6766560"/>
          </a:xfrm>
          <a:prstGeom prst="ellipse">
            <a:avLst/>
          </a:prstGeom>
          <a:ln w="12700">
            <a:solidFill>
              <a:srgbClr val="1F3A66"/>
            </a:solidFill>
            <a:prstDash val="solid"/>
          </a:ln>
        </p:spPr>
        <p:txBody>
          <a:bodyPr/>
          <a:lstStyle/>
          <a:p>
            <a:endParaRPr lang="en-US"/>
          </a:p>
        </p:txBody>
      </p:sp>
      <p:sp>
        <p:nvSpPr>
          <p:cNvPr id="5" name="Shape 3"/>
          <p:cNvSpPr/>
          <p:nvPr/>
        </p:nvSpPr>
        <p:spPr>
          <a:xfrm>
            <a:off x="8138160" y="-1371600"/>
            <a:ext cx="7589520" cy="7589520"/>
          </a:xfrm>
          <a:prstGeom prst="ellipse">
            <a:avLst/>
          </a:prstGeom>
          <a:ln w="12700">
            <a:solidFill>
              <a:srgbClr val="1F3A66"/>
            </a:solidFill>
            <a:prstDash val="solid"/>
          </a:ln>
        </p:spPr>
        <p:txBody>
          <a:bodyPr/>
          <a:lstStyle/>
          <a:p>
            <a:endParaRPr lang="en-US"/>
          </a:p>
        </p:txBody>
      </p:sp>
      <p:sp>
        <p:nvSpPr>
          <p:cNvPr id="6" name="Text 4"/>
          <p:cNvSpPr/>
          <p:nvPr/>
        </p:nvSpPr>
        <p:spPr>
          <a:xfrm>
            <a:off x="822960" y="2743200"/>
            <a:ext cx="9144000" cy="320040"/>
          </a:xfrm>
          <a:prstGeom prst="rect">
            <a:avLst/>
          </a:prstGeom>
          <a:noFill/>
          <a:ln/>
        </p:spPr>
        <p:txBody>
          <a:bodyPr wrap="square" lIns="0" tIns="0" rIns="0" bIns="0" rtlCol="0" anchor="ctr"/>
          <a:lstStyle/>
          <a:p>
            <a:pPr marL="0" indent="0">
              <a:buNone/>
            </a:pPr>
            <a:r>
              <a:rPr lang="en-US" sz="1250" b="1" kern="0" spc="220" dirty="0">
                <a:solidFill>
                  <a:srgbClr val="10A37F"/>
                </a:solidFill>
                <a:latin typeface="Calibri" pitchFamily="34" charset="0"/>
                <a:ea typeface="Calibri" pitchFamily="34" charset="-122"/>
                <a:cs typeface="Calibri" pitchFamily="34" charset="-120"/>
              </a:rPr>
              <a:t>CONCLUSION</a:t>
            </a:r>
            <a:endParaRPr lang="en-US" sz="1250" dirty="0"/>
          </a:p>
        </p:txBody>
      </p:sp>
      <p:sp>
        <p:nvSpPr>
          <p:cNvPr id="7" name="Text 5"/>
          <p:cNvSpPr/>
          <p:nvPr/>
        </p:nvSpPr>
        <p:spPr>
          <a:xfrm>
            <a:off x="822960" y="3108960"/>
            <a:ext cx="10058400" cy="11887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 Structured, Evidence-Based Starting Point</a:t>
            </a:r>
            <a:endParaRPr lang="en-US" sz="3600" dirty="0"/>
          </a:p>
        </p:txBody>
      </p:sp>
      <p:sp>
        <p:nvSpPr>
          <p:cNvPr id="8" name="Text 6"/>
          <p:cNvSpPr/>
          <p:nvPr/>
        </p:nvSpPr>
        <p:spPr>
          <a:xfrm>
            <a:off x="822960" y="4160520"/>
            <a:ext cx="8961120" cy="548640"/>
          </a:xfrm>
          <a:prstGeom prst="rect">
            <a:avLst/>
          </a:prstGeom>
          <a:noFill/>
          <a:ln/>
        </p:spPr>
        <p:txBody>
          <a:bodyPr wrap="square" lIns="0" tIns="0" rIns="0" bIns="0" rtlCol="0" anchor="ctr"/>
          <a:lstStyle/>
          <a:p>
            <a:pPr marL="0" indent="0">
              <a:buNone/>
            </a:pPr>
            <a:r>
              <a:rPr lang="en-US" sz="1400" i="1" dirty="0">
                <a:solidFill>
                  <a:srgbClr val="C7D3E8"/>
                </a:solidFill>
                <a:latin typeface="Calibri" pitchFamily="34" charset="0"/>
                <a:ea typeface="Calibri" pitchFamily="34" charset="-122"/>
                <a:cs typeface="Calibri" pitchFamily="34" charset="-120"/>
              </a:rPr>
              <a:t>Eight weeks of field survey, dashboard development, and framework design for NextG Apex India.</a:t>
            </a:r>
            <a:endParaRPr lang="en-US" sz="1400" dirty="0"/>
          </a:p>
        </p:txBody>
      </p:sp>
      <p:sp>
        <p:nvSpPr>
          <p:cNvPr id="9" name="Text 7"/>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10" name="Text 8"/>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8FA3C9"/>
                </a:solidFill>
                <a:latin typeface="Calibri" pitchFamily="34" charset="0"/>
                <a:ea typeface="Calibri" pitchFamily="34" charset="-122"/>
                <a:cs typeface="Calibri" pitchFamily="34" charset="-120"/>
              </a:rPr>
              <a:t>21</a:t>
            </a:r>
            <a:endParaRPr lang="en-US" sz="800" dirty="0"/>
          </a:p>
        </p:txBody>
      </p:sp>
      <p:sp>
        <p:nvSpPr>
          <p:cNvPr id="11" name="Text 9"/>
          <p:cNvSpPr/>
          <p:nvPr/>
        </p:nvSpPr>
        <p:spPr>
          <a:xfrm>
            <a:off x="822960" y="4709160"/>
            <a:ext cx="10058400" cy="731520"/>
          </a:xfrm>
          <a:prstGeom prst="rect">
            <a:avLst/>
          </a:prstGeom>
          <a:noFill/>
          <a:ln/>
        </p:spPr>
        <p:txBody>
          <a:bodyPr wrap="square" lIns="0" tIns="0" rIns="0" bIns="0" rtlCol="0" anchor="ctr"/>
          <a:lstStyle/>
          <a:p>
            <a:pPr marL="0" indent="0">
              <a:lnSpc>
                <a:spcPct val="125000"/>
              </a:lnSpc>
              <a:buNone/>
            </a:pPr>
            <a:r>
              <a:rPr lang="en-US" sz="1300" dirty="0">
                <a:solidFill>
                  <a:srgbClr val="DCE4F2"/>
                </a:solidFill>
                <a:latin typeface="Calibri" pitchFamily="34" charset="0"/>
                <a:ea typeface="Calibri" pitchFamily="34" charset="-122"/>
                <a:cs typeface="Calibri" pitchFamily="34" charset="-120"/>
              </a:rPr>
              <a:t>Over eight weeks, a structured distributor and retailer survey was designed, piloted and rolled out across four North Delhi localities, and built into two Power BI dashboards covering retailer onboarding and distributor operations.</a:t>
            </a:r>
            <a:endParaRPr lang="en-US" sz="1300" dirty="0"/>
          </a:p>
        </p:txBody>
      </p:sp>
      <p:sp>
        <p:nvSpPr>
          <p:cNvPr id="12" name="Text 10"/>
          <p:cNvSpPr/>
          <p:nvPr/>
        </p:nvSpPr>
        <p:spPr>
          <a:xfrm>
            <a:off x="822960" y="5440680"/>
            <a:ext cx="10058400" cy="777240"/>
          </a:xfrm>
          <a:prstGeom prst="rect">
            <a:avLst/>
          </a:prstGeom>
          <a:noFill/>
          <a:ln/>
        </p:spPr>
        <p:txBody>
          <a:bodyPr wrap="square" lIns="0" tIns="0" rIns="0" bIns="0" rtlCol="0" anchor="ctr"/>
          <a:lstStyle/>
          <a:p>
            <a:pPr marL="0" indent="0">
              <a:lnSpc>
                <a:spcPct val="125000"/>
              </a:lnSpc>
              <a:buNone/>
            </a:pPr>
            <a:r>
              <a:rPr lang="en-US" sz="1200" i="1" dirty="0">
                <a:solidFill>
                  <a:srgbClr val="9FB2D4"/>
                </a:solidFill>
                <a:latin typeface="Calibri" pitchFamily="34" charset="0"/>
                <a:ea typeface="Calibri" pitchFamily="34" charset="-122"/>
                <a:cs typeface="Calibri" pitchFamily="34" charset="-120"/>
              </a:rPr>
              <a:t>Subject to the flagged financial-data limitation, this work gives the organization a filterable, evidence-based view that did not previously exist in structured form — and a repeatable starting point for onboarding and expansion in this market.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7863840" y="-1463040"/>
            <a:ext cx="5669280" cy="5669280"/>
          </a:xfrm>
          <a:prstGeom prst="ellipse">
            <a:avLst/>
          </a:prstGeom>
          <a:ln w="12700">
            <a:solidFill>
              <a:srgbClr val="1F3A66"/>
            </a:solidFill>
            <a:prstDash val="solid"/>
          </a:ln>
        </p:spPr>
        <p:txBody>
          <a:bodyPr/>
          <a:lstStyle/>
          <a:p>
            <a:endParaRPr lang="en-US"/>
          </a:p>
        </p:txBody>
      </p:sp>
      <p:sp>
        <p:nvSpPr>
          <p:cNvPr id="3" name="Shape 1"/>
          <p:cNvSpPr/>
          <p:nvPr/>
        </p:nvSpPr>
        <p:spPr>
          <a:xfrm>
            <a:off x="7818120" y="-1417320"/>
            <a:ext cx="6492240" cy="6492240"/>
          </a:xfrm>
          <a:prstGeom prst="ellipse">
            <a:avLst/>
          </a:prstGeom>
          <a:ln w="12700">
            <a:solidFill>
              <a:srgbClr val="1F3A66"/>
            </a:solidFill>
            <a:prstDash val="solid"/>
          </a:ln>
        </p:spPr>
        <p:txBody>
          <a:bodyPr/>
          <a:lstStyle/>
          <a:p>
            <a:endParaRPr lang="en-US"/>
          </a:p>
        </p:txBody>
      </p:sp>
      <p:sp>
        <p:nvSpPr>
          <p:cNvPr id="4" name="Shape 2"/>
          <p:cNvSpPr/>
          <p:nvPr/>
        </p:nvSpPr>
        <p:spPr>
          <a:xfrm>
            <a:off x="7772400" y="-1371600"/>
            <a:ext cx="7315200" cy="7315200"/>
          </a:xfrm>
          <a:prstGeom prst="ellipse">
            <a:avLst/>
          </a:prstGeom>
          <a:ln w="12700">
            <a:solidFill>
              <a:srgbClr val="1F3A66"/>
            </a:solidFill>
            <a:prstDash val="solid"/>
          </a:ln>
        </p:spPr>
        <p:txBody>
          <a:bodyPr/>
          <a:lstStyle/>
          <a:p>
            <a:endParaRPr lang="en-US"/>
          </a:p>
        </p:txBody>
      </p:sp>
      <p:sp>
        <p:nvSpPr>
          <p:cNvPr id="5" name="Shape 3"/>
          <p:cNvSpPr/>
          <p:nvPr/>
        </p:nvSpPr>
        <p:spPr>
          <a:xfrm>
            <a:off x="7726680" y="-1325880"/>
            <a:ext cx="8138160" cy="8138160"/>
          </a:xfrm>
          <a:prstGeom prst="ellipse">
            <a:avLst/>
          </a:prstGeom>
          <a:ln w="12700">
            <a:solidFill>
              <a:srgbClr val="1F3A66"/>
            </a:solidFill>
            <a:prstDash val="solid"/>
          </a:ln>
        </p:spPr>
        <p:txBody>
          <a:bodyPr/>
          <a:lstStyle/>
          <a:p>
            <a:endParaRPr lang="en-US"/>
          </a:p>
        </p:txBody>
      </p:sp>
      <p:sp>
        <p:nvSpPr>
          <p:cNvPr id="6" name="Shape 4"/>
          <p:cNvSpPr/>
          <p:nvPr/>
        </p:nvSpPr>
        <p:spPr>
          <a:xfrm>
            <a:off x="7680960" y="-1280160"/>
            <a:ext cx="8961120" cy="8961120"/>
          </a:xfrm>
          <a:prstGeom prst="ellipse">
            <a:avLst/>
          </a:prstGeom>
          <a:ln w="12700">
            <a:solidFill>
              <a:srgbClr val="1F3A66"/>
            </a:solidFill>
            <a:prstDash val="solid"/>
          </a:ln>
        </p:spPr>
        <p:txBody>
          <a:bodyPr/>
          <a:lstStyle/>
          <a:p>
            <a:endParaRPr lang="en-US"/>
          </a:p>
        </p:txBody>
      </p:sp>
      <p:sp>
        <p:nvSpPr>
          <p:cNvPr id="7" name="Shape 5"/>
          <p:cNvSpPr/>
          <p:nvPr/>
        </p:nvSpPr>
        <p:spPr>
          <a:xfrm>
            <a:off x="5592928" y="1371600"/>
            <a:ext cx="1005840" cy="1005840"/>
          </a:xfrm>
          <a:prstGeom prst="ellipse">
            <a:avLst/>
          </a:prstGeom>
          <a:solidFill>
            <a:srgbClr val="10A37F"/>
          </a:solidFill>
          <a:ln/>
        </p:spPr>
        <p:txBody>
          <a:bodyPr/>
          <a:lstStyle/>
          <a:p>
            <a:endParaRPr lang="en-US"/>
          </a:p>
        </p:txBody>
      </p:sp>
      <p:pic>
        <p:nvPicPr>
          <p:cNvPr id="8" name="Image 0" descr="/home/claude/assets/thanks.png"/>
          <p:cNvPicPr>
            <a:picLocks noChangeAspect="1"/>
          </p:cNvPicPr>
          <p:nvPr/>
        </p:nvPicPr>
        <p:blipFill>
          <a:blip r:embed="rId3"/>
          <a:stretch>
            <a:fillRect/>
          </a:stretch>
        </p:blipFill>
        <p:spPr>
          <a:xfrm>
            <a:off x="5834329" y="1613002"/>
            <a:ext cx="523037" cy="523037"/>
          </a:xfrm>
          <a:prstGeom prst="rect">
            <a:avLst/>
          </a:prstGeom>
        </p:spPr>
      </p:pic>
      <p:sp>
        <p:nvSpPr>
          <p:cNvPr id="9" name="Text 6"/>
          <p:cNvSpPr/>
          <p:nvPr/>
        </p:nvSpPr>
        <p:spPr>
          <a:xfrm>
            <a:off x="0" y="2606040"/>
            <a:ext cx="12191695" cy="822960"/>
          </a:xfrm>
          <a:prstGeom prst="rect">
            <a:avLst/>
          </a:prstGeom>
          <a:noFill/>
          <a:ln/>
        </p:spPr>
        <p:txBody>
          <a:bodyPr wrap="square" lIns="0" tIns="0" rIns="0" bIns="0"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10" name="Text 7"/>
          <p:cNvSpPr/>
          <p:nvPr/>
        </p:nvSpPr>
        <p:spPr>
          <a:xfrm>
            <a:off x="0" y="3383280"/>
            <a:ext cx="12191695" cy="457200"/>
          </a:xfrm>
          <a:prstGeom prst="rect">
            <a:avLst/>
          </a:prstGeom>
          <a:noFill/>
          <a:ln/>
        </p:spPr>
        <p:txBody>
          <a:bodyPr wrap="square" lIns="0" tIns="0" rIns="0" bIns="0" rtlCol="0" anchor="ctr"/>
          <a:lstStyle/>
          <a:p>
            <a:pPr marL="0" indent="0" algn="ctr">
              <a:buNone/>
            </a:pPr>
            <a:r>
              <a:rPr lang="en-US" sz="1600" i="1" dirty="0">
                <a:solidFill>
                  <a:srgbClr val="10A37F"/>
                </a:solidFill>
                <a:latin typeface="Calibri" pitchFamily="34" charset="0"/>
                <a:ea typeface="Calibri" pitchFamily="34" charset="-122"/>
                <a:cs typeface="Calibri" pitchFamily="34" charset="-120"/>
              </a:rPr>
              <a:t>Questions &amp; Discussion</a:t>
            </a:r>
            <a:endParaRPr lang="en-US" sz="1600" dirty="0"/>
          </a:p>
        </p:txBody>
      </p:sp>
      <p:sp>
        <p:nvSpPr>
          <p:cNvPr id="11" name="Shape 8"/>
          <p:cNvSpPr/>
          <p:nvPr/>
        </p:nvSpPr>
        <p:spPr>
          <a:xfrm>
            <a:off x="4175608" y="4023360"/>
            <a:ext cx="3840480" cy="0"/>
          </a:xfrm>
          <a:prstGeom prst="line">
            <a:avLst/>
          </a:prstGeom>
          <a:noFill/>
          <a:ln w="19050">
            <a:solidFill>
              <a:srgbClr val="2C4B7C"/>
            </a:solidFill>
            <a:prstDash val="solid"/>
          </a:ln>
        </p:spPr>
        <p:txBody>
          <a:bodyPr/>
          <a:lstStyle/>
          <a:p>
            <a:endParaRPr lang="en-US"/>
          </a:p>
        </p:txBody>
      </p:sp>
      <p:sp>
        <p:nvSpPr>
          <p:cNvPr id="12" name="Text 9"/>
          <p:cNvSpPr/>
          <p:nvPr/>
        </p:nvSpPr>
        <p:spPr>
          <a:xfrm>
            <a:off x="0" y="4343400"/>
            <a:ext cx="12191695" cy="256032"/>
          </a:xfrm>
          <a:prstGeom prst="rect">
            <a:avLst/>
          </a:prstGeom>
          <a:noFill/>
          <a:ln/>
        </p:spPr>
        <p:txBody>
          <a:bodyPr wrap="square" lIns="0" tIns="0" rIns="0" bIns="0" rtlCol="0" anchor="ctr"/>
          <a:lstStyle/>
          <a:p>
            <a:pPr marL="0" indent="0" algn="ctr">
              <a:buNone/>
            </a:pPr>
            <a:r>
              <a:rPr lang="en-US" sz="950" b="1" kern="0" spc="100" dirty="0">
                <a:solidFill>
                  <a:srgbClr val="7E93BE"/>
                </a:solidFill>
                <a:latin typeface="Calibri" pitchFamily="34" charset="0"/>
                <a:ea typeface="Calibri" pitchFamily="34" charset="-122"/>
                <a:cs typeface="Calibri" pitchFamily="34" charset="-120"/>
              </a:rPr>
              <a:t>SUBMITTED BY</a:t>
            </a:r>
            <a:endParaRPr lang="en-US" sz="950" dirty="0"/>
          </a:p>
        </p:txBody>
      </p:sp>
      <p:sp>
        <p:nvSpPr>
          <p:cNvPr id="13" name="Text 10"/>
          <p:cNvSpPr/>
          <p:nvPr/>
        </p:nvSpPr>
        <p:spPr>
          <a:xfrm>
            <a:off x="0" y="4599432"/>
            <a:ext cx="12191695" cy="292608"/>
          </a:xfrm>
          <a:prstGeom prst="rect">
            <a:avLst/>
          </a:prstGeom>
          <a:noFill/>
          <a:ln/>
        </p:spPr>
        <p:txBody>
          <a:bodyPr wrap="square" lIns="0" tIns="0" rIns="0" bIns="0"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Neeru</a:t>
            </a:r>
            <a:endParaRPr lang="en-US" sz="1250" dirty="0"/>
          </a:p>
        </p:txBody>
      </p:sp>
      <p:sp>
        <p:nvSpPr>
          <p:cNvPr id="14" name="Text 11"/>
          <p:cNvSpPr/>
          <p:nvPr/>
        </p:nvSpPr>
        <p:spPr>
          <a:xfrm>
            <a:off x="0" y="5001768"/>
            <a:ext cx="12191695" cy="256032"/>
          </a:xfrm>
          <a:prstGeom prst="rect">
            <a:avLst/>
          </a:prstGeom>
          <a:noFill/>
          <a:ln/>
        </p:spPr>
        <p:txBody>
          <a:bodyPr wrap="square" lIns="0" tIns="0" rIns="0" bIns="0" rtlCol="0" anchor="ctr"/>
          <a:lstStyle/>
          <a:p>
            <a:pPr marL="0" indent="0" algn="ctr">
              <a:buNone/>
            </a:pPr>
            <a:r>
              <a:rPr lang="en-US" sz="950" b="1" kern="0" spc="100" dirty="0">
                <a:solidFill>
                  <a:srgbClr val="7E93BE"/>
                </a:solidFill>
                <a:latin typeface="Calibri" pitchFamily="34" charset="0"/>
                <a:ea typeface="Calibri" pitchFamily="34" charset="-122"/>
                <a:cs typeface="Calibri" pitchFamily="34" charset="-120"/>
              </a:rPr>
              <a:t>PROJECT TRACK</a:t>
            </a:r>
            <a:endParaRPr lang="en-US" sz="950" dirty="0"/>
          </a:p>
        </p:txBody>
      </p:sp>
      <p:sp>
        <p:nvSpPr>
          <p:cNvPr id="15" name="Text 12"/>
          <p:cNvSpPr/>
          <p:nvPr/>
        </p:nvSpPr>
        <p:spPr>
          <a:xfrm>
            <a:off x="0" y="5257800"/>
            <a:ext cx="12191695" cy="292608"/>
          </a:xfrm>
          <a:prstGeom prst="rect">
            <a:avLst/>
          </a:prstGeom>
          <a:noFill/>
          <a:ln/>
        </p:spPr>
        <p:txBody>
          <a:bodyPr wrap="square" lIns="0" tIns="0" rIns="0" bIns="0"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Distributor Survey, Retailer Onboarding &amp; Multi-Brand Analysis</a:t>
            </a:r>
            <a:endParaRPr lang="en-US" sz="1250" dirty="0"/>
          </a:p>
        </p:txBody>
      </p:sp>
      <p:sp>
        <p:nvSpPr>
          <p:cNvPr id="16" name="Text 13"/>
          <p:cNvSpPr/>
          <p:nvPr/>
        </p:nvSpPr>
        <p:spPr>
          <a:xfrm>
            <a:off x="0" y="5660136"/>
            <a:ext cx="12191695" cy="256032"/>
          </a:xfrm>
          <a:prstGeom prst="rect">
            <a:avLst/>
          </a:prstGeom>
          <a:noFill/>
          <a:ln/>
        </p:spPr>
        <p:txBody>
          <a:bodyPr wrap="square" lIns="0" tIns="0" rIns="0" bIns="0" rtlCol="0" anchor="ctr"/>
          <a:lstStyle/>
          <a:p>
            <a:pPr marL="0" indent="0" algn="ctr">
              <a:buNone/>
            </a:pPr>
            <a:r>
              <a:rPr lang="en-US" sz="950" b="1" kern="0" spc="100" dirty="0">
                <a:solidFill>
                  <a:srgbClr val="7E93BE"/>
                </a:solidFill>
                <a:latin typeface="Calibri" pitchFamily="34" charset="0"/>
                <a:ea typeface="Calibri" pitchFamily="34" charset="-122"/>
                <a:cs typeface="Calibri" pitchFamily="34" charset="-120"/>
              </a:rPr>
              <a:t>CONTACT</a:t>
            </a:r>
            <a:endParaRPr lang="en-US" sz="950" dirty="0"/>
          </a:p>
        </p:txBody>
      </p:sp>
      <p:sp>
        <p:nvSpPr>
          <p:cNvPr id="17" name="Text 14"/>
          <p:cNvSpPr/>
          <p:nvPr/>
        </p:nvSpPr>
        <p:spPr>
          <a:xfrm>
            <a:off x="0" y="5916168"/>
            <a:ext cx="12191695" cy="292608"/>
          </a:xfrm>
          <a:prstGeom prst="rect">
            <a:avLst/>
          </a:prstGeom>
          <a:noFill/>
          <a:ln/>
        </p:spPr>
        <p:txBody>
          <a:bodyPr wrap="square" lIns="0" tIns="0" rIns="0" bIns="0"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neeru.or.du.27@gmail.com</a:t>
            </a:r>
            <a:endParaRPr lang="en-US" sz="1250" dirty="0"/>
          </a:p>
        </p:txBody>
      </p:sp>
      <p:sp>
        <p:nvSpPr>
          <p:cNvPr id="18" name="Text 15"/>
          <p:cNvSpPr/>
          <p:nvPr/>
        </p:nvSpPr>
        <p:spPr>
          <a:xfrm>
            <a:off x="457200" y="6510528"/>
            <a:ext cx="7772400" cy="256032"/>
          </a:xfrm>
          <a:prstGeom prst="rect">
            <a:avLst/>
          </a:prstGeom>
          <a:noFill/>
          <a:ln/>
        </p:spPr>
        <p:txBody>
          <a:bodyPr wrap="square" lIns="0" tIns="0" rIns="0" bIns="0" rtlCol="0" anchor="ctr"/>
          <a:lstStyle/>
          <a:p>
            <a:pPr marL="0" indent="0">
              <a:buNone/>
            </a:pPr>
            <a:endParaRPr lang="en-US" sz="800" dirty="0"/>
          </a:p>
        </p:txBody>
      </p:sp>
      <p:sp>
        <p:nvSpPr>
          <p:cNvPr id="19" name="Text 16"/>
          <p:cNvSpPr/>
          <p:nvPr/>
        </p:nvSpPr>
        <p:spPr>
          <a:xfrm>
            <a:off x="11277295" y="6510528"/>
            <a:ext cx="548640" cy="256032"/>
          </a:xfrm>
          <a:prstGeom prst="rect">
            <a:avLst/>
          </a:prstGeom>
          <a:noFill/>
          <a:ln/>
        </p:spPr>
        <p:txBody>
          <a:bodyPr wrap="square" lIns="0" tIns="0" rIns="0" bIns="0" rtlCol="0" anchor="ctr"/>
          <a:lstStyle/>
          <a:p>
            <a:pPr marL="0" indent="0" algn="r">
              <a:buNone/>
            </a:pPr>
            <a:r>
              <a:rPr lang="en-US" sz="800" dirty="0">
                <a:solidFill>
                  <a:srgbClr val="8FA3C9"/>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4047</Words>
  <Application>Microsoft Office PowerPoint</Application>
  <PresentationFormat>Widescreen</PresentationFormat>
  <Paragraphs>422</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Neeru .</cp:lastModifiedBy>
  <cp:revision>4</cp:revision>
  <dcterms:created xsi:type="dcterms:W3CDTF">2026-08-02T02:48:24Z</dcterms:created>
  <dcterms:modified xsi:type="dcterms:W3CDTF">2026-08-02T03:16:57Z</dcterms:modified>
</cp:coreProperties>
</file>